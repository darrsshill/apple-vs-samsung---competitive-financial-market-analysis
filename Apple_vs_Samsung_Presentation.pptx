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4297680"/>
            <a:ext cx="9144000" cy="841248"/>
          </a:xfrm>
          <a:prstGeom prst="rect">
            <a:avLst/>
          </a:prstGeom>
          <a:solidFill>
            <a:srgbClr val="243558"/>
          </a:solidFill>
          <a:ln/>
        </p:spPr>
      </p:sp>
      <p:sp>
        <p:nvSpPr>
          <p:cNvPr id="3" name="Shape 1"/>
          <p:cNvSpPr/>
          <p:nvPr/>
        </p:nvSpPr>
        <p:spPr>
          <a:xfrm>
            <a:off x="0" y="0"/>
            <a:ext cx="320040" cy="4297680"/>
          </a:xfrm>
          <a:prstGeom prst="rect">
            <a:avLst/>
          </a:prstGeom>
          <a:solidFill>
            <a:srgbClr val="1F77B4"/>
          </a:solidFill>
          <a:ln/>
        </p:spPr>
      </p:sp>
      <p:sp>
        <p:nvSpPr>
          <p:cNvPr id="4" name="Shape 2"/>
          <p:cNvSpPr/>
          <p:nvPr/>
        </p:nvSpPr>
        <p:spPr>
          <a:xfrm>
            <a:off x="320040" y="0"/>
            <a:ext cx="91440" cy="4297680"/>
          </a:xfrm>
          <a:prstGeom prst="rect">
            <a:avLst/>
          </a:prstGeom>
          <a:solidFill>
            <a:srgbClr val="FF7F0E"/>
          </a:solidFill>
          <a:ln/>
        </p:spPr>
      </p:sp>
      <p:sp>
        <p:nvSpPr>
          <p:cNvPr id="5" name="Text 3"/>
          <p:cNvSpPr/>
          <p:nvPr/>
        </p:nvSpPr>
        <p:spPr>
          <a:xfrm>
            <a:off x="685800" y="50292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Apple vs Samsung</a:t>
            </a:r>
            <a:endParaRPr lang="en-US" sz="4800" dirty="0"/>
          </a:p>
        </p:txBody>
      </p:sp>
      <p:sp>
        <p:nvSpPr>
          <p:cNvPr id="6" name="Text 4"/>
          <p:cNvSpPr/>
          <p:nvPr/>
        </p:nvSpPr>
        <p:spPr>
          <a:xfrm>
            <a:off x="685800" y="1417320"/>
            <a:ext cx="8229600" cy="640080"/>
          </a:xfrm>
          <a:prstGeom prst="rect">
            <a:avLst/>
          </a:prstGeom>
          <a:noFill/>
          <a:ln/>
        </p:spPr>
        <p:txBody>
          <a:bodyPr wrap="square" lIns="0" tIns="0" rIns="0" bIns="0" rtlCol="0" anchor="ctr"/>
          <a:lstStyle/>
          <a:p>
            <a:pPr indent="0" marL="0">
              <a:buNone/>
            </a:pPr>
            <a:r>
              <a:rPr lang="en-US" sz="2400" i="1" dirty="0">
                <a:solidFill>
                  <a:srgbClr val="CADCFC"/>
                </a:solidFill>
                <a:latin typeface="Calibri" pitchFamily="34" charset="0"/>
                <a:ea typeface="Calibri" pitchFamily="34" charset="-122"/>
                <a:cs typeface="Calibri" pitchFamily="34" charset="-120"/>
              </a:rPr>
              <a:t>Competitive Financial &amp; Market Analysis</a:t>
            </a:r>
            <a:endParaRPr lang="en-US" sz="2400" dirty="0"/>
          </a:p>
        </p:txBody>
      </p:sp>
      <p:sp>
        <p:nvSpPr>
          <p:cNvPr id="7" name="Shape 5"/>
          <p:cNvSpPr/>
          <p:nvPr/>
        </p:nvSpPr>
        <p:spPr>
          <a:xfrm>
            <a:off x="685800" y="2194560"/>
            <a:ext cx="6858000" cy="0"/>
          </a:xfrm>
          <a:prstGeom prst="line">
            <a:avLst/>
          </a:prstGeom>
          <a:noFill/>
          <a:ln w="25400">
            <a:solidFill>
              <a:srgbClr val="1F77B4"/>
            </a:solidFill>
            <a:prstDash val="solid"/>
          </a:ln>
        </p:spPr>
      </p:sp>
      <p:sp>
        <p:nvSpPr>
          <p:cNvPr id="8" name="Text 6"/>
          <p:cNvSpPr/>
          <p:nvPr/>
        </p:nvSpPr>
        <p:spPr>
          <a:xfrm>
            <a:off x="685800" y="2377440"/>
            <a:ext cx="8229600" cy="457200"/>
          </a:xfrm>
          <a:prstGeom prst="rect">
            <a:avLst/>
          </a:prstGeom>
          <a:noFill/>
          <a:ln/>
        </p:spPr>
        <p:txBody>
          <a:bodyPr wrap="square" lIns="0" tIns="0" rIns="0" bIns="0" rtlCol="0" anchor="ctr"/>
          <a:lstStyle/>
          <a:p>
            <a:pPr indent="0" marL="0">
              <a:buNone/>
            </a:pPr>
            <a:r>
              <a:rPr lang="en-US" sz="1400" b="1" dirty="0">
                <a:solidFill>
                  <a:srgbClr val="F0B429"/>
                </a:solidFill>
                <a:latin typeface="Calibri" pitchFamily="34" charset="0"/>
                <a:ea typeface="Calibri" pitchFamily="34" charset="-122"/>
                <a:cs typeface="Calibri" pitchFamily="34" charset="-120"/>
              </a:rPr>
              <a:t>Data Sources: </a:t>
            </a:r>
            <a:pPr indent="0" marL="0">
              <a:buNone/>
            </a:pPr>
            <a:r>
              <a:rPr lang="en-US" sz="1400" dirty="0">
                <a:solidFill>
                  <a:srgbClr val="CADCFC"/>
                </a:solidFill>
                <a:latin typeface="Calibri" pitchFamily="34" charset="0"/>
                <a:ea typeface="Calibri" pitchFamily="34" charset="-122"/>
                <a:cs typeface="Calibri" pitchFamily="34" charset="-120"/>
              </a:rPr>
              <a:t>Yahoo Finance (yfinance)  |  FRED (Federal Reserve)</a:t>
            </a:r>
            <a:endParaRPr lang="en-US" sz="1400" dirty="0"/>
          </a:p>
        </p:txBody>
      </p:sp>
      <p:sp>
        <p:nvSpPr>
          <p:cNvPr id="9" name="Text 7"/>
          <p:cNvSpPr/>
          <p:nvPr/>
        </p:nvSpPr>
        <p:spPr>
          <a:xfrm>
            <a:off x="685800" y="2788920"/>
            <a:ext cx="8229600" cy="411480"/>
          </a:xfrm>
          <a:prstGeom prst="rect">
            <a:avLst/>
          </a:prstGeom>
          <a:noFill/>
          <a:ln/>
        </p:spPr>
        <p:txBody>
          <a:bodyPr wrap="square" lIns="0" tIns="0" rIns="0" bIns="0" rtlCol="0" anchor="ctr"/>
          <a:lstStyle/>
          <a:p>
            <a:pPr indent="0" marL="0">
              <a:buNone/>
            </a:pPr>
            <a:r>
              <a:rPr lang="en-US" sz="1400" b="1" dirty="0">
                <a:solidFill>
                  <a:srgbClr val="F0B429"/>
                </a:solidFill>
                <a:latin typeface="Calibri" pitchFamily="34" charset="0"/>
                <a:ea typeface="Calibri" pitchFamily="34" charset="-122"/>
                <a:cs typeface="Calibri" pitchFamily="34" charset="-120"/>
              </a:rPr>
              <a:t>Coverage: </a:t>
            </a:r>
            <a:pPr indent="0" marL="0">
              <a:buNone/>
            </a:pPr>
            <a:r>
              <a:rPr lang="en-US" sz="1400" dirty="0">
                <a:solidFill>
                  <a:srgbClr val="CADCFC"/>
                </a:solidFill>
                <a:latin typeface="Calibri" pitchFamily="34" charset="0"/>
                <a:ea typeface="Calibri" pitchFamily="34" charset="-122"/>
                <a:cs typeface="Calibri" pitchFamily="34" charset="-120"/>
              </a:rPr>
              <a:t>January 2015 – April 2026</a:t>
            </a:r>
            <a:endParaRPr lang="en-US" sz="1400" dirty="0"/>
          </a:p>
        </p:txBody>
      </p:sp>
      <p:sp>
        <p:nvSpPr>
          <p:cNvPr id="10" name="Text 8"/>
          <p:cNvSpPr/>
          <p:nvPr/>
        </p:nvSpPr>
        <p:spPr>
          <a:xfrm>
            <a:off x="685800" y="3200400"/>
            <a:ext cx="8229600" cy="411480"/>
          </a:xfrm>
          <a:prstGeom prst="rect">
            <a:avLst/>
          </a:prstGeom>
          <a:noFill/>
          <a:ln/>
        </p:spPr>
        <p:txBody>
          <a:bodyPr wrap="square" lIns="0" tIns="0" rIns="0" bIns="0" rtlCol="0" anchor="ctr"/>
          <a:lstStyle/>
          <a:p>
            <a:pPr indent="0" marL="0">
              <a:buNone/>
            </a:pPr>
            <a:r>
              <a:rPr lang="en-US" sz="1400" b="1" dirty="0">
                <a:solidFill>
                  <a:srgbClr val="F0B429"/>
                </a:solidFill>
                <a:latin typeface="Calibri" pitchFamily="34" charset="0"/>
                <a:ea typeface="Calibri" pitchFamily="34" charset="-122"/>
                <a:cs typeface="Calibri" pitchFamily="34" charset="-120"/>
              </a:rPr>
              <a:t>Companies: </a:t>
            </a:r>
            <a:pPr indent="0" marL="0">
              <a:buNone/>
            </a:pPr>
            <a:r>
              <a:rPr lang="en-US" sz="1400" dirty="0">
                <a:solidFill>
                  <a:srgbClr val="CADCFC"/>
                </a:solidFill>
                <a:latin typeface="Calibri" pitchFamily="34" charset="0"/>
                <a:ea typeface="Calibri" pitchFamily="34" charset="-122"/>
                <a:cs typeface="Calibri" pitchFamily="34" charset="-120"/>
              </a:rPr>
              <a:t>Apple Inc. (AAPL, NASDAQ)  |  Samsung Electronics (005930.KS, KRX)</a:t>
            </a:r>
            <a:endParaRPr lang="en-US" sz="1400" dirty="0"/>
          </a:p>
        </p:txBody>
      </p:sp>
      <p:sp>
        <p:nvSpPr>
          <p:cNvPr id="11" name="Text 9"/>
          <p:cNvSpPr/>
          <p:nvPr/>
        </p:nvSpPr>
        <p:spPr>
          <a:xfrm>
            <a:off x="365760" y="4389120"/>
            <a:ext cx="5486400" cy="45720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MTH 209  |  Spring 2026  |  Group 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Agenda</a:t>
            </a:r>
            <a:endParaRPr lang="en-US" sz="2200" dirty="0"/>
          </a:p>
        </p:txBody>
      </p:sp>
      <p:sp>
        <p:nvSpPr>
          <p:cNvPr id="6" name="Shape 4"/>
          <p:cNvSpPr/>
          <p:nvPr/>
        </p:nvSpPr>
        <p:spPr>
          <a:xfrm>
            <a:off x="320040" y="96012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20040" y="960120"/>
            <a:ext cx="91440" cy="841248"/>
          </a:xfrm>
          <a:prstGeom prst="rect">
            <a:avLst/>
          </a:prstGeom>
          <a:solidFill>
            <a:srgbClr val="1F77B4"/>
          </a:solidFill>
          <a:ln/>
        </p:spPr>
      </p:sp>
      <p:sp>
        <p:nvSpPr>
          <p:cNvPr id="8" name="Text 6"/>
          <p:cNvSpPr/>
          <p:nvPr/>
        </p:nvSpPr>
        <p:spPr>
          <a:xfrm>
            <a:off x="484632" y="103327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484632" y="123444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Research Background &amp; Questions</a:t>
            </a:r>
            <a:endParaRPr lang="en-US" sz="1100" dirty="0"/>
          </a:p>
        </p:txBody>
      </p:sp>
      <p:sp>
        <p:nvSpPr>
          <p:cNvPr id="10" name="Text 8"/>
          <p:cNvSpPr/>
          <p:nvPr/>
        </p:nvSpPr>
        <p:spPr>
          <a:xfrm>
            <a:off x="484632" y="149047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Why Apple vs Samsung, and what we aim to discover</a:t>
            </a:r>
            <a:endParaRPr lang="en-US" sz="900" dirty="0"/>
          </a:p>
        </p:txBody>
      </p:sp>
      <p:sp>
        <p:nvSpPr>
          <p:cNvPr id="11" name="Shape 9"/>
          <p:cNvSpPr/>
          <p:nvPr/>
        </p:nvSpPr>
        <p:spPr>
          <a:xfrm>
            <a:off x="4800600" y="96012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10"/>
          <p:cNvSpPr/>
          <p:nvPr/>
        </p:nvSpPr>
        <p:spPr>
          <a:xfrm>
            <a:off x="4800600" y="960120"/>
            <a:ext cx="91440" cy="841248"/>
          </a:xfrm>
          <a:prstGeom prst="rect">
            <a:avLst/>
          </a:prstGeom>
          <a:solidFill>
            <a:srgbClr val="FF7F0E"/>
          </a:solidFill>
          <a:ln/>
        </p:spPr>
      </p:sp>
      <p:sp>
        <p:nvSpPr>
          <p:cNvPr id="13" name="Text 11"/>
          <p:cNvSpPr/>
          <p:nvPr/>
        </p:nvSpPr>
        <p:spPr>
          <a:xfrm>
            <a:off x="4965192" y="103327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02</a:t>
            </a:r>
            <a:endParaRPr lang="en-US" sz="1600" dirty="0"/>
          </a:p>
        </p:txBody>
      </p:sp>
      <p:sp>
        <p:nvSpPr>
          <p:cNvPr id="14" name="Text 12"/>
          <p:cNvSpPr/>
          <p:nvPr/>
        </p:nvSpPr>
        <p:spPr>
          <a:xfrm>
            <a:off x="4965192" y="123444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Data Collection</a:t>
            </a:r>
            <a:endParaRPr lang="en-US" sz="1100" dirty="0"/>
          </a:p>
        </p:txBody>
      </p:sp>
      <p:sp>
        <p:nvSpPr>
          <p:cNvPr id="15" name="Text 13"/>
          <p:cNvSpPr/>
          <p:nvPr/>
        </p:nvSpPr>
        <p:spPr>
          <a:xfrm>
            <a:off x="4965192" y="149047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Sources, coverage, and variable definitions</a:t>
            </a:r>
            <a:endParaRPr lang="en-US" sz="900" dirty="0"/>
          </a:p>
        </p:txBody>
      </p:sp>
      <p:sp>
        <p:nvSpPr>
          <p:cNvPr id="16" name="Shape 14"/>
          <p:cNvSpPr/>
          <p:nvPr/>
        </p:nvSpPr>
        <p:spPr>
          <a:xfrm>
            <a:off x="320040" y="192024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7" name="Shape 15"/>
          <p:cNvSpPr/>
          <p:nvPr/>
        </p:nvSpPr>
        <p:spPr>
          <a:xfrm>
            <a:off x="320040" y="1920240"/>
            <a:ext cx="91440" cy="841248"/>
          </a:xfrm>
          <a:prstGeom prst="rect">
            <a:avLst/>
          </a:prstGeom>
          <a:solidFill>
            <a:srgbClr val="1F77B4"/>
          </a:solidFill>
          <a:ln/>
        </p:spPr>
      </p:sp>
      <p:sp>
        <p:nvSpPr>
          <p:cNvPr id="18" name="Text 16"/>
          <p:cNvSpPr/>
          <p:nvPr/>
        </p:nvSpPr>
        <p:spPr>
          <a:xfrm>
            <a:off x="484632" y="199339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03</a:t>
            </a:r>
            <a:endParaRPr lang="en-US" sz="1600" dirty="0"/>
          </a:p>
        </p:txBody>
      </p:sp>
      <p:sp>
        <p:nvSpPr>
          <p:cNvPr id="19" name="Text 17"/>
          <p:cNvSpPr/>
          <p:nvPr/>
        </p:nvSpPr>
        <p:spPr>
          <a:xfrm>
            <a:off x="484632" y="219456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Data Cleaning &amp; Manipulation</a:t>
            </a:r>
            <a:endParaRPr lang="en-US" sz="1100" dirty="0"/>
          </a:p>
        </p:txBody>
      </p:sp>
      <p:sp>
        <p:nvSpPr>
          <p:cNvPr id="20" name="Text 18"/>
          <p:cNvSpPr/>
          <p:nvPr/>
        </p:nvSpPr>
        <p:spPr>
          <a:xfrm>
            <a:off x="484632" y="245059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Processing steps applied to prepare data</a:t>
            </a:r>
            <a:endParaRPr lang="en-US" sz="900" dirty="0"/>
          </a:p>
        </p:txBody>
      </p:sp>
      <p:sp>
        <p:nvSpPr>
          <p:cNvPr id="21" name="Shape 19"/>
          <p:cNvSpPr/>
          <p:nvPr/>
        </p:nvSpPr>
        <p:spPr>
          <a:xfrm>
            <a:off x="4800600" y="192024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2" name="Shape 20"/>
          <p:cNvSpPr/>
          <p:nvPr/>
        </p:nvSpPr>
        <p:spPr>
          <a:xfrm>
            <a:off x="4800600" y="1920240"/>
            <a:ext cx="91440" cy="841248"/>
          </a:xfrm>
          <a:prstGeom prst="rect">
            <a:avLst/>
          </a:prstGeom>
          <a:solidFill>
            <a:srgbClr val="FF7F0E"/>
          </a:solidFill>
          <a:ln/>
        </p:spPr>
      </p:sp>
      <p:sp>
        <p:nvSpPr>
          <p:cNvPr id="23" name="Text 21"/>
          <p:cNvSpPr/>
          <p:nvPr/>
        </p:nvSpPr>
        <p:spPr>
          <a:xfrm>
            <a:off x="4965192" y="199339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04</a:t>
            </a:r>
            <a:endParaRPr lang="en-US" sz="1600" dirty="0"/>
          </a:p>
        </p:txBody>
      </p:sp>
      <p:sp>
        <p:nvSpPr>
          <p:cNvPr id="24" name="Text 22"/>
          <p:cNvSpPr/>
          <p:nvPr/>
        </p:nvSpPr>
        <p:spPr>
          <a:xfrm>
            <a:off x="4965192" y="219456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Analysis 1 — Stock Performance &amp; Correlation</a:t>
            </a:r>
            <a:endParaRPr lang="en-US" sz="1100" dirty="0"/>
          </a:p>
        </p:txBody>
      </p:sp>
      <p:sp>
        <p:nvSpPr>
          <p:cNvPr id="25" name="Text 23"/>
          <p:cNvSpPr/>
          <p:nvPr/>
        </p:nvSpPr>
        <p:spPr>
          <a:xfrm>
            <a:off x="4965192" y="245059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Price trends, correlation, and volatility (2015–2026)</a:t>
            </a:r>
            <a:endParaRPr lang="en-US" sz="900" dirty="0"/>
          </a:p>
        </p:txBody>
      </p:sp>
      <p:sp>
        <p:nvSpPr>
          <p:cNvPr id="26" name="Shape 24"/>
          <p:cNvSpPr/>
          <p:nvPr/>
        </p:nvSpPr>
        <p:spPr>
          <a:xfrm>
            <a:off x="320040" y="288036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7" name="Shape 25"/>
          <p:cNvSpPr/>
          <p:nvPr/>
        </p:nvSpPr>
        <p:spPr>
          <a:xfrm>
            <a:off x="320040" y="2880360"/>
            <a:ext cx="91440" cy="841248"/>
          </a:xfrm>
          <a:prstGeom prst="rect">
            <a:avLst/>
          </a:prstGeom>
          <a:solidFill>
            <a:srgbClr val="1F77B4"/>
          </a:solidFill>
          <a:ln/>
        </p:spPr>
      </p:sp>
      <p:sp>
        <p:nvSpPr>
          <p:cNvPr id="28" name="Text 26"/>
          <p:cNvSpPr/>
          <p:nvPr/>
        </p:nvSpPr>
        <p:spPr>
          <a:xfrm>
            <a:off x="484632" y="295351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05</a:t>
            </a:r>
            <a:endParaRPr lang="en-US" sz="1600" dirty="0"/>
          </a:p>
        </p:txBody>
      </p:sp>
      <p:sp>
        <p:nvSpPr>
          <p:cNvPr id="29" name="Text 27"/>
          <p:cNvSpPr/>
          <p:nvPr/>
        </p:nvSpPr>
        <p:spPr>
          <a:xfrm>
            <a:off x="484632" y="315468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Analysis 2 — Financial Fundamentals</a:t>
            </a:r>
            <a:endParaRPr lang="en-US" sz="1100" dirty="0"/>
          </a:p>
        </p:txBody>
      </p:sp>
      <p:sp>
        <p:nvSpPr>
          <p:cNvPr id="30" name="Text 28"/>
          <p:cNvSpPr/>
          <p:nvPr/>
        </p:nvSpPr>
        <p:spPr>
          <a:xfrm>
            <a:off x="484632" y="341071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Revenue, profitability margins, and cash flow</a:t>
            </a:r>
            <a:endParaRPr lang="en-US" sz="900" dirty="0"/>
          </a:p>
        </p:txBody>
      </p:sp>
      <p:sp>
        <p:nvSpPr>
          <p:cNvPr id="31" name="Shape 29"/>
          <p:cNvSpPr/>
          <p:nvPr/>
        </p:nvSpPr>
        <p:spPr>
          <a:xfrm>
            <a:off x="4800600" y="288036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32" name="Shape 30"/>
          <p:cNvSpPr/>
          <p:nvPr/>
        </p:nvSpPr>
        <p:spPr>
          <a:xfrm>
            <a:off x="4800600" y="2880360"/>
            <a:ext cx="91440" cy="841248"/>
          </a:xfrm>
          <a:prstGeom prst="rect">
            <a:avLst/>
          </a:prstGeom>
          <a:solidFill>
            <a:srgbClr val="FF7F0E"/>
          </a:solidFill>
          <a:ln/>
        </p:spPr>
      </p:sp>
      <p:sp>
        <p:nvSpPr>
          <p:cNvPr id="33" name="Text 31"/>
          <p:cNvSpPr/>
          <p:nvPr/>
        </p:nvSpPr>
        <p:spPr>
          <a:xfrm>
            <a:off x="4965192" y="295351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06</a:t>
            </a:r>
            <a:endParaRPr lang="en-US" sz="1600" dirty="0"/>
          </a:p>
        </p:txBody>
      </p:sp>
      <p:sp>
        <p:nvSpPr>
          <p:cNvPr id="34" name="Text 32"/>
          <p:cNvSpPr/>
          <p:nvPr/>
        </p:nvSpPr>
        <p:spPr>
          <a:xfrm>
            <a:off x="4965192" y="315468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Analysis 3 — Macro Regression</a:t>
            </a:r>
            <a:endParaRPr lang="en-US" sz="1100" dirty="0"/>
          </a:p>
        </p:txBody>
      </p:sp>
      <p:sp>
        <p:nvSpPr>
          <p:cNvPr id="35" name="Text 33"/>
          <p:cNvSpPr/>
          <p:nvPr/>
        </p:nvSpPr>
        <p:spPr>
          <a:xfrm>
            <a:off x="4965192" y="341071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Inflation and interest rates as return predictors</a:t>
            </a:r>
            <a:endParaRPr lang="en-US" sz="900" dirty="0"/>
          </a:p>
        </p:txBody>
      </p:sp>
      <p:sp>
        <p:nvSpPr>
          <p:cNvPr id="36" name="Shape 34"/>
          <p:cNvSpPr/>
          <p:nvPr/>
        </p:nvSpPr>
        <p:spPr>
          <a:xfrm>
            <a:off x="320040" y="384048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37" name="Shape 35"/>
          <p:cNvSpPr/>
          <p:nvPr/>
        </p:nvSpPr>
        <p:spPr>
          <a:xfrm>
            <a:off x="320040" y="3840480"/>
            <a:ext cx="91440" cy="841248"/>
          </a:xfrm>
          <a:prstGeom prst="rect">
            <a:avLst/>
          </a:prstGeom>
          <a:solidFill>
            <a:srgbClr val="1F77B4"/>
          </a:solidFill>
          <a:ln/>
        </p:spPr>
      </p:sp>
      <p:sp>
        <p:nvSpPr>
          <p:cNvPr id="38" name="Text 36"/>
          <p:cNvSpPr/>
          <p:nvPr/>
        </p:nvSpPr>
        <p:spPr>
          <a:xfrm>
            <a:off x="484632" y="391363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07</a:t>
            </a:r>
            <a:endParaRPr lang="en-US" sz="1600" dirty="0"/>
          </a:p>
        </p:txBody>
      </p:sp>
      <p:sp>
        <p:nvSpPr>
          <p:cNvPr id="39" name="Text 37"/>
          <p:cNvSpPr/>
          <p:nvPr/>
        </p:nvSpPr>
        <p:spPr>
          <a:xfrm>
            <a:off x="484632" y="411480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Discussion &amp; Limitations</a:t>
            </a:r>
            <a:endParaRPr lang="en-US" sz="1100" dirty="0"/>
          </a:p>
        </p:txBody>
      </p:sp>
      <p:sp>
        <p:nvSpPr>
          <p:cNvPr id="40" name="Text 38"/>
          <p:cNvSpPr/>
          <p:nvPr/>
        </p:nvSpPr>
        <p:spPr>
          <a:xfrm>
            <a:off x="484632" y="437083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Key findings, limitations, and future work</a:t>
            </a:r>
            <a:endParaRPr lang="en-US" sz="900" dirty="0"/>
          </a:p>
        </p:txBody>
      </p:sp>
      <p:sp>
        <p:nvSpPr>
          <p:cNvPr id="41" name="Shape 39"/>
          <p:cNvSpPr/>
          <p:nvPr/>
        </p:nvSpPr>
        <p:spPr>
          <a:xfrm>
            <a:off x="4800600" y="3840480"/>
            <a:ext cx="4297680" cy="84124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42" name="Shape 40"/>
          <p:cNvSpPr/>
          <p:nvPr/>
        </p:nvSpPr>
        <p:spPr>
          <a:xfrm>
            <a:off x="4800600" y="3840480"/>
            <a:ext cx="91440" cy="841248"/>
          </a:xfrm>
          <a:prstGeom prst="rect">
            <a:avLst/>
          </a:prstGeom>
          <a:solidFill>
            <a:srgbClr val="FF7F0E"/>
          </a:solidFill>
          <a:ln/>
        </p:spPr>
      </p:sp>
      <p:sp>
        <p:nvSpPr>
          <p:cNvPr id="43" name="Text 41"/>
          <p:cNvSpPr/>
          <p:nvPr/>
        </p:nvSpPr>
        <p:spPr>
          <a:xfrm>
            <a:off x="4965192" y="3913632"/>
            <a:ext cx="457200" cy="32004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08</a:t>
            </a:r>
            <a:endParaRPr lang="en-US" sz="1600" dirty="0"/>
          </a:p>
        </p:txBody>
      </p:sp>
      <p:sp>
        <p:nvSpPr>
          <p:cNvPr id="44" name="Text 42"/>
          <p:cNvSpPr/>
          <p:nvPr/>
        </p:nvSpPr>
        <p:spPr>
          <a:xfrm>
            <a:off x="4965192" y="4114800"/>
            <a:ext cx="4069080" cy="274320"/>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Team Roles &amp; References</a:t>
            </a:r>
            <a:endParaRPr lang="en-US" sz="1100" dirty="0"/>
          </a:p>
        </p:txBody>
      </p:sp>
      <p:sp>
        <p:nvSpPr>
          <p:cNvPr id="45" name="Text 43"/>
          <p:cNvSpPr/>
          <p:nvPr/>
        </p:nvSpPr>
        <p:spPr>
          <a:xfrm>
            <a:off x="4965192" y="4370832"/>
            <a:ext cx="406908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Contributions and data sources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Research Background &amp; Questions</a:t>
            </a:r>
            <a:endParaRPr lang="en-US" sz="2200" dirty="0"/>
          </a:p>
        </p:txBody>
      </p:sp>
      <p:sp>
        <p:nvSpPr>
          <p:cNvPr id="6" name="Shape 4"/>
          <p:cNvSpPr/>
          <p:nvPr/>
        </p:nvSpPr>
        <p:spPr>
          <a:xfrm>
            <a:off x="320040" y="868680"/>
            <a:ext cx="8503920"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20040" y="868680"/>
            <a:ext cx="91440" cy="914400"/>
          </a:xfrm>
          <a:prstGeom prst="rect">
            <a:avLst/>
          </a:prstGeom>
          <a:solidFill>
            <a:srgbClr val="F0B429"/>
          </a:solidFill>
          <a:ln/>
        </p:spPr>
      </p:sp>
      <p:sp>
        <p:nvSpPr>
          <p:cNvPr id="8" name="Text 6"/>
          <p:cNvSpPr/>
          <p:nvPr/>
        </p:nvSpPr>
        <p:spPr>
          <a:xfrm>
            <a:off x="530352" y="896112"/>
            <a:ext cx="8229600" cy="27432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Research Background</a:t>
            </a:r>
            <a:endParaRPr lang="en-US" sz="1300" dirty="0"/>
          </a:p>
        </p:txBody>
      </p:sp>
      <p:sp>
        <p:nvSpPr>
          <p:cNvPr id="9" name="Text 7"/>
          <p:cNvSpPr/>
          <p:nvPr/>
        </p:nvSpPr>
        <p:spPr>
          <a:xfrm>
            <a:off x="530352" y="1170432"/>
            <a:ext cx="8229600" cy="54864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Apple and Samsung are the world's two largest smartphone vendors and fierce competitors across hardware, software, and services. Analyzing their financial and market data provides insight into how competitive rivalry, macroeconomic forces, and business model differences shape investor outcomes over a full decade.</a:t>
            </a:r>
            <a:endParaRPr lang="en-US" sz="1050" dirty="0"/>
          </a:p>
        </p:txBody>
      </p:sp>
      <p:sp>
        <p:nvSpPr>
          <p:cNvPr id="10" name="Shape 8"/>
          <p:cNvSpPr/>
          <p:nvPr/>
        </p:nvSpPr>
        <p:spPr>
          <a:xfrm>
            <a:off x="320040" y="2011680"/>
            <a:ext cx="2743200" cy="27432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1" name="Shape 9"/>
          <p:cNvSpPr/>
          <p:nvPr/>
        </p:nvSpPr>
        <p:spPr>
          <a:xfrm>
            <a:off x="320040" y="2011680"/>
            <a:ext cx="2743200" cy="109728"/>
          </a:xfrm>
          <a:prstGeom prst="rect">
            <a:avLst/>
          </a:prstGeom>
          <a:solidFill>
            <a:srgbClr val="1F77B4"/>
          </a:solidFill>
          <a:ln/>
        </p:spPr>
      </p:sp>
      <p:sp>
        <p:nvSpPr>
          <p:cNvPr id="12" name="Text 10"/>
          <p:cNvSpPr/>
          <p:nvPr/>
        </p:nvSpPr>
        <p:spPr>
          <a:xfrm>
            <a:off x="457200" y="2194560"/>
            <a:ext cx="2468880" cy="347472"/>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RQ 1</a:t>
            </a:r>
            <a:endParaRPr lang="en-US" sz="1600" dirty="0"/>
          </a:p>
        </p:txBody>
      </p:sp>
      <p:sp>
        <p:nvSpPr>
          <p:cNvPr id="13" name="Text 11"/>
          <p:cNvSpPr/>
          <p:nvPr/>
        </p:nvSpPr>
        <p:spPr>
          <a:xfrm>
            <a:off x="457200" y="2560320"/>
            <a:ext cx="2468880" cy="41148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Stock Performance &amp; Correlation</a:t>
            </a:r>
            <a:endParaRPr lang="en-US" sz="1200" dirty="0"/>
          </a:p>
        </p:txBody>
      </p:sp>
      <p:sp>
        <p:nvSpPr>
          <p:cNvPr id="14" name="Text 12"/>
          <p:cNvSpPr/>
          <p:nvPr/>
        </p:nvSpPr>
        <p:spPr>
          <a:xfrm>
            <a:off x="457200" y="3017520"/>
            <a:ext cx="2468880" cy="16459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How have Apple and Samsung stock prices performed and correlated over 2015–2026? Do they move together or independently?</a:t>
            </a:r>
            <a:endParaRPr lang="en-US" sz="1000" dirty="0"/>
          </a:p>
        </p:txBody>
      </p:sp>
      <p:sp>
        <p:nvSpPr>
          <p:cNvPr id="15" name="Shape 13"/>
          <p:cNvSpPr/>
          <p:nvPr/>
        </p:nvSpPr>
        <p:spPr>
          <a:xfrm>
            <a:off x="3172968" y="2011680"/>
            <a:ext cx="2743200" cy="27432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6" name="Shape 14"/>
          <p:cNvSpPr/>
          <p:nvPr/>
        </p:nvSpPr>
        <p:spPr>
          <a:xfrm>
            <a:off x="3172968" y="2011680"/>
            <a:ext cx="2743200" cy="109728"/>
          </a:xfrm>
          <a:prstGeom prst="rect">
            <a:avLst/>
          </a:prstGeom>
          <a:solidFill>
            <a:srgbClr val="FF7F0E"/>
          </a:solidFill>
          <a:ln/>
        </p:spPr>
      </p:sp>
      <p:sp>
        <p:nvSpPr>
          <p:cNvPr id="17" name="Text 15"/>
          <p:cNvSpPr/>
          <p:nvPr/>
        </p:nvSpPr>
        <p:spPr>
          <a:xfrm>
            <a:off x="3310128" y="2194560"/>
            <a:ext cx="2468880" cy="347472"/>
          </a:xfrm>
          <a:prstGeom prst="rect">
            <a:avLst/>
          </a:prstGeom>
          <a:noFill/>
          <a:ln/>
        </p:spPr>
        <p:txBody>
          <a:bodyPr wrap="square" lIns="0" tIns="0" rIns="0" bIns="0" rtlCol="0" anchor="ctr"/>
          <a:lstStyle/>
          <a:p>
            <a:pPr indent="0" marL="0">
              <a:buNone/>
            </a:pPr>
            <a:r>
              <a:rPr lang="en-US" sz="1600" b="1" dirty="0">
                <a:solidFill>
                  <a:srgbClr val="FF7F0E"/>
                </a:solidFill>
                <a:latin typeface="Calibri" pitchFamily="34" charset="0"/>
                <a:ea typeface="Calibri" pitchFamily="34" charset="-122"/>
                <a:cs typeface="Calibri" pitchFamily="34" charset="-120"/>
              </a:rPr>
              <a:t>RQ 2</a:t>
            </a:r>
            <a:endParaRPr lang="en-US" sz="1600" dirty="0"/>
          </a:p>
        </p:txBody>
      </p:sp>
      <p:sp>
        <p:nvSpPr>
          <p:cNvPr id="18" name="Text 16"/>
          <p:cNvSpPr/>
          <p:nvPr/>
        </p:nvSpPr>
        <p:spPr>
          <a:xfrm>
            <a:off x="3310128" y="2560320"/>
            <a:ext cx="2468880" cy="41148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Financial Fundamentals</a:t>
            </a:r>
            <a:endParaRPr lang="en-US" sz="1200" dirty="0"/>
          </a:p>
        </p:txBody>
      </p:sp>
      <p:sp>
        <p:nvSpPr>
          <p:cNvPr id="19" name="Text 17"/>
          <p:cNvSpPr/>
          <p:nvPr/>
        </p:nvSpPr>
        <p:spPr>
          <a:xfrm>
            <a:off x="3310128" y="3017520"/>
            <a:ext cx="2468880" cy="16459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How do Apple and Samsung compare on key financial metrics — revenue growth, profitability margins, and free cash flow?</a:t>
            </a:r>
            <a:endParaRPr lang="en-US" sz="1000" dirty="0"/>
          </a:p>
        </p:txBody>
      </p:sp>
      <p:sp>
        <p:nvSpPr>
          <p:cNvPr id="20" name="Shape 18"/>
          <p:cNvSpPr/>
          <p:nvPr/>
        </p:nvSpPr>
        <p:spPr>
          <a:xfrm>
            <a:off x="6025896" y="2011680"/>
            <a:ext cx="2743200" cy="27432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1" name="Shape 19"/>
          <p:cNvSpPr/>
          <p:nvPr/>
        </p:nvSpPr>
        <p:spPr>
          <a:xfrm>
            <a:off x="6025896" y="2011680"/>
            <a:ext cx="2743200" cy="109728"/>
          </a:xfrm>
          <a:prstGeom prst="rect">
            <a:avLst/>
          </a:prstGeom>
          <a:solidFill>
            <a:srgbClr val="6B7280"/>
          </a:solidFill>
          <a:ln/>
        </p:spPr>
      </p:sp>
      <p:sp>
        <p:nvSpPr>
          <p:cNvPr id="22" name="Text 20"/>
          <p:cNvSpPr/>
          <p:nvPr/>
        </p:nvSpPr>
        <p:spPr>
          <a:xfrm>
            <a:off x="6163056" y="2194560"/>
            <a:ext cx="2468880" cy="347472"/>
          </a:xfrm>
          <a:prstGeom prst="rect">
            <a:avLst/>
          </a:prstGeom>
          <a:noFill/>
          <a:ln/>
        </p:spPr>
        <p:txBody>
          <a:bodyPr wrap="square" lIns="0" tIns="0" rIns="0" bIns="0" rtlCol="0" anchor="ctr"/>
          <a:lstStyle/>
          <a:p>
            <a:pPr indent="0" marL="0">
              <a:buNone/>
            </a:pPr>
            <a:r>
              <a:rPr lang="en-US" sz="1600" b="1" dirty="0">
                <a:solidFill>
                  <a:srgbClr val="6B7280"/>
                </a:solidFill>
                <a:latin typeface="Calibri" pitchFamily="34" charset="0"/>
                <a:ea typeface="Calibri" pitchFamily="34" charset="-122"/>
                <a:cs typeface="Calibri" pitchFamily="34" charset="-120"/>
              </a:rPr>
              <a:t>RQ 3</a:t>
            </a:r>
            <a:endParaRPr lang="en-US" sz="1600" dirty="0"/>
          </a:p>
        </p:txBody>
      </p:sp>
      <p:sp>
        <p:nvSpPr>
          <p:cNvPr id="23" name="Text 21"/>
          <p:cNvSpPr/>
          <p:nvPr/>
        </p:nvSpPr>
        <p:spPr>
          <a:xfrm>
            <a:off x="6163056" y="2560320"/>
            <a:ext cx="2468880" cy="41148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Macro Regression</a:t>
            </a:r>
            <a:endParaRPr lang="en-US" sz="1200" dirty="0"/>
          </a:p>
        </p:txBody>
      </p:sp>
      <p:sp>
        <p:nvSpPr>
          <p:cNvPr id="24" name="Text 22"/>
          <p:cNvSpPr/>
          <p:nvPr/>
        </p:nvSpPr>
        <p:spPr>
          <a:xfrm>
            <a:off x="6163056" y="3017520"/>
            <a:ext cx="2468880" cy="16459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Can macroeconomic factors (US CPI inflation and 10-year Treasury yield changes) explain monthly stock return variations?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Significance of the Study</a:t>
            </a:r>
            <a:endParaRPr lang="en-US" sz="2200" dirty="0"/>
          </a:p>
        </p:txBody>
      </p:sp>
      <p:sp>
        <p:nvSpPr>
          <p:cNvPr id="6" name="Shape 4"/>
          <p:cNvSpPr/>
          <p:nvPr/>
        </p:nvSpPr>
        <p:spPr>
          <a:xfrm>
            <a:off x="320040" y="960120"/>
            <a:ext cx="429768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502920" y="1188720"/>
            <a:ext cx="502920" cy="502920"/>
          </a:xfrm>
          <a:prstGeom prst="ellipse">
            <a:avLst/>
          </a:prstGeom>
          <a:solidFill>
            <a:srgbClr val="1F77B4"/>
          </a:solidFill>
          <a:ln/>
        </p:spPr>
      </p:sp>
      <p:sp>
        <p:nvSpPr>
          <p:cNvPr id="8" name="Text 6"/>
          <p:cNvSpPr/>
          <p:nvPr/>
        </p:nvSpPr>
        <p:spPr>
          <a:xfrm>
            <a:off x="502920" y="11887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9" name="Text 7"/>
          <p:cNvSpPr/>
          <p:nvPr/>
        </p:nvSpPr>
        <p:spPr>
          <a:xfrm>
            <a:off x="1143000" y="1161288"/>
            <a:ext cx="3291840" cy="36576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Investor Decision-Making</a:t>
            </a:r>
            <a:endParaRPr lang="en-US" sz="1300" dirty="0"/>
          </a:p>
        </p:txBody>
      </p:sp>
      <p:sp>
        <p:nvSpPr>
          <p:cNvPr id="10" name="Text 8"/>
          <p:cNvSpPr/>
          <p:nvPr/>
        </p:nvSpPr>
        <p:spPr>
          <a:xfrm>
            <a:off x="502920" y="1737360"/>
            <a:ext cx="3977640" cy="86868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Both stocks are held by millions of retail and institutional investors. Understanding their risk and return dynamics is directly actionable for portfolio construction.</a:t>
            </a:r>
            <a:endParaRPr lang="en-US" sz="1000" dirty="0"/>
          </a:p>
        </p:txBody>
      </p:sp>
      <p:sp>
        <p:nvSpPr>
          <p:cNvPr id="11" name="Shape 9"/>
          <p:cNvSpPr/>
          <p:nvPr/>
        </p:nvSpPr>
        <p:spPr>
          <a:xfrm>
            <a:off x="4800600" y="960120"/>
            <a:ext cx="429768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10"/>
          <p:cNvSpPr/>
          <p:nvPr/>
        </p:nvSpPr>
        <p:spPr>
          <a:xfrm>
            <a:off x="4983480" y="1188720"/>
            <a:ext cx="502920" cy="502920"/>
          </a:xfrm>
          <a:prstGeom prst="ellipse">
            <a:avLst/>
          </a:prstGeom>
          <a:solidFill>
            <a:srgbClr val="FF7F0E"/>
          </a:solidFill>
          <a:ln/>
        </p:spPr>
      </p:sp>
      <p:sp>
        <p:nvSpPr>
          <p:cNvPr id="13" name="Text 11"/>
          <p:cNvSpPr/>
          <p:nvPr/>
        </p:nvSpPr>
        <p:spPr>
          <a:xfrm>
            <a:off x="4983480" y="11887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5623560" y="1161288"/>
            <a:ext cx="3291840" cy="36576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Cross-Market Dynamics</a:t>
            </a:r>
            <a:endParaRPr lang="en-US" sz="1300" dirty="0"/>
          </a:p>
        </p:txBody>
      </p:sp>
      <p:sp>
        <p:nvSpPr>
          <p:cNvPr id="15" name="Text 13"/>
          <p:cNvSpPr/>
          <p:nvPr/>
        </p:nvSpPr>
        <p:spPr>
          <a:xfrm>
            <a:off x="4983480" y="1737360"/>
            <a:ext cx="3977640" cy="86868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Apple trades on NASDAQ (USD) and Samsung on KRX (KRW). Comparing them illuminates how U.S. and Korean markets respond differently to the same global events.</a:t>
            </a:r>
            <a:endParaRPr lang="en-US" sz="1000" dirty="0"/>
          </a:p>
        </p:txBody>
      </p:sp>
      <p:sp>
        <p:nvSpPr>
          <p:cNvPr id="16" name="Shape 14"/>
          <p:cNvSpPr/>
          <p:nvPr/>
        </p:nvSpPr>
        <p:spPr>
          <a:xfrm>
            <a:off x="320040" y="2880360"/>
            <a:ext cx="429768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7" name="Shape 15"/>
          <p:cNvSpPr/>
          <p:nvPr/>
        </p:nvSpPr>
        <p:spPr>
          <a:xfrm>
            <a:off x="502920" y="3108960"/>
            <a:ext cx="502920" cy="502920"/>
          </a:xfrm>
          <a:prstGeom prst="ellipse">
            <a:avLst/>
          </a:prstGeom>
          <a:solidFill>
            <a:srgbClr val="1F77B4"/>
          </a:solidFill>
          <a:ln/>
        </p:spPr>
      </p:sp>
      <p:sp>
        <p:nvSpPr>
          <p:cNvPr id="18" name="Text 16"/>
          <p:cNvSpPr/>
          <p:nvPr/>
        </p:nvSpPr>
        <p:spPr>
          <a:xfrm>
            <a:off x="502920" y="3108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9" name="Text 17"/>
          <p:cNvSpPr/>
          <p:nvPr/>
        </p:nvSpPr>
        <p:spPr>
          <a:xfrm>
            <a:off x="1143000" y="3081528"/>
            <a:ext cx="3291840" cy="36576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Business Model Contrast</a:t>
            </a:r>
            <a:endParaRPr lang="en-US" sz="1300" dirty="0"/>
          </a:p>
        </p:txBody>
      </p:sp>
      <p:sp>
        <p:nvSpPr>
          <p:cNvPr id="20" name="Text 18"/>
          <p:cNvSpPr/>
          <p:nvPr/>
        </p:nvSpPr>
        <p:spPr>
          <a:xfrm>
            <a:off x="502920" y="3657600"/>
            <a:ext cx="3977640" cy="86868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Apple's high-margin services model versus Samsung's hardware-heavy semiconductor business makes this an ideal case study in strategic divergence.</a:t>
            </a:r>
            <a:endParaRPr lang="en-US" sz="1000" dirty="0"/>
          </a:p>
        </p:txBody>
      </p:sp>
      <p:sp>
        <p:nvSpPr>
          <p:cNvPr id="21" name="Shape 19"/>
          <p:cNvSpPr/>
          <p:nvPr/>
        </p:nvSpPr>
        <p:spPr>
          <a:xfrm>
            <a:off x="4800600" y="2880360"/>
            <a:ext cx="429768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2" name="Shape 20"/>
          <p:cNvSpPr/>
          <p:nvPr/>
        </p:nvSpPr>
        <p:spPr>
          <a:xfrm>
            <a:off x="4983480" y="3108960"/>
            <a:ext cx="502920" cy="502920"/>
          </a:xfrm>
          <a:prstGeom prst="ellipse">
            <a:avLst/>
          </a:prstGeom>
          <a:solidFill>
            <a:srgbClr val="FF7F0E"/>
          </a:solidFill>
          <a:ln/>
        </p:spPr>
      </p:sp>
      <p:sp>
        <p:nvSpPr>
          <p:cNvPr id="23" name="Text 21"/>
          <p:cNvSpPr/>
          <p:nvPr/>
        </p:nvSpPr>
        <p:spPr>
          <a:xfrm>
            <a:off x="4983480" y="3108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4" name="Text 22"/>
          <p:cNvSpPr/>
          <p:nvPr/>
        </p:nvSpPr>
        <p:spPr>
          <a:xfrm>
            <a:off x="5623560" y="3081528"/>
            <a:ext cx="3291840" cy="36576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Macro Sensitivity</a:t>
            </a:r>
            <a:endParaRPr lang="en-US" sz="1300" dirty="0"/>
          </a:p>
        </p:txBody>
      </p:sp>
      <p:sp>
        <p:nvSpPr>
          <p:cNvPr id="25" name="Text 23"/>
          <p:cNvSpPr/>
          <p:nvPr/>
        </p:nvSpPr>
        <p:spPr>
          <a:xfrm>
            <a:off x="4983480" y="3657600"/>
            <a:ext cx="3977640" cy="86868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The 2022–2023 rate-hike cycle had outsized impact on tech valuations. Studying which firm was more macro-exposed informs future investment strategy.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Data Collection</a:t>
            </a:r>
            <a:endParaRPr lang="en-US" sz="2200" dirty="0"/>
          </a:p>
        </p:txBody>
      </p:sp>
      <p:sp>
        <p:nvSpPr>
          <p:cNvPr id="6" name="Shape 4"/>
          <p:cNvSpPr/>
          <p:nvPr/>
        </p:nvSpPr>
        <p:spPr>
          <a:xfrm>
            <a:off x="320040" y="914400"/>
            <a:ext cx="4160520" cy="38404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20040" y="914400"/>
            <a:ext cx="4160520" cy="109728"/>
          </a:xfrm>
          <a:prstGeom prst="rect">
            <a:avLst/>
          </a:prstGeom>
          <a:solidFill>
            <a:srgbClr val="1F77B4"/>
          </a:solidFill>
          <a:ln/>
        </p:spPr>
      </p:sp>
      <p:sp>
        <p:nvSpPr>
          <p:cNvPr id="8" name="Text 6"/>
          <p:cNvSpPr/>
          <p:nvPr/>
        </p:nvSpPr>
        <p:spPr>
          <a:xfrm>
            <a:off x="502920" y="1051560"/>
            <a:ext cx="3840480" cy="365760"/>
          </a:xfrm>
          <a:prstGeom prst="rect">
            <a:avLst/>
          </a:prstGeom>
          <a:noFill/>
          <a:ln/>
        </p:spPr>
        <p:txBody>
          <a:bodyPr wrap="square" lIns="0" tIns="0" rIns="0" bIns="0" rtlCol="0" anchor="ctr"/>
          <a:lstStyle/>
          <a:p>
            <a:pPr indent="0" marL="0">
              <a:buNone/>
            </a:pPr>
            <a:r>
              <a:rPr lang="en-US" sz="1400" b="1" dirty="0">
                <a:solidFill>
                  <a:srgbClr val="1F77B4"/>
                </a:solidFill>
                <a:latin typeface="Calibri" pitchFamily="34" charset="0"/>
                <a:ea typeface="Calibri" pitchFamily="34" charset="-122"/>
                <a:cs typeface="Calibri" pitchFamily="34" charset="-120"/>
              </a:rPr>
              <a:t>Source 1 — Yahoo Finance</a:t>
            </a:r>
            <a:endParaRPr lang="en-US" sz="1400" dirty="0"/>
          </a:p>
        </p:txBody>
      </p:sp>
      <p:sp>
        <p:nvSpPr>
          <p:cNvPr id="9" name="Text 7"/>
          <p:cNvSpPr/>
          <p:nvPr/>
        </p:nvSpPr>
        <p:spPr>
          <a:xfrm>
            <a:off x="502920" y="1417320"/>
            <a:ext cx="384048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via yfinance Python library  |  https://finance.yahoo.com</a:t>
            </a:r>
            <a:endParaRPr lang="en-US" sz="950" dirty="0"/>
          </a:p>
        </p:txBody>
      </p:sp>
      <p:sp>
        <p:nvSpPr>
          <p:cNvPr id="10" name="Text 8"/>
          <p:cNvSpPr/>
          <p:nvPr/>
        </p:nvSpPr>
        <p:spPr>
          <a:xfrm>
            <a:off x="502920" y="1828800"/>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Tickers:</a:t>
            </a:r>
            <a:endParaRPr lang="en-US" sz="950" dirty="0"/>
          </a:p>
        </p:txBody>
      </p:sp>
      <p:sp>
        <p:nvSpPr>
          <p:cNvPr id="11" name="Text 9"/>
          <p:cNvSpPr/>
          <p:nvPr/>
        </p:nvSpPr>
        <p:spPr>
          <a:xfrm>
            <a:off x="1691640" y="1828800"/>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AAPL (NASDAQ) | 005930.KS (KRX)</a:t>
            </a:r>
            <a:endParaRPr lang="en-US" sz="950" dirty="0"/>
          </a:p>
        </p:txBody>
      </p:sp>
      <p:sp>
        <p:nvSpPr>
          <p:cNvPr id="12" name="Text 10"/>
          <p:cNvSpPr/>
          <p:nvPr/>
        </p:nvSpPr>
        <p:spPr>
          <a:xfrm>
            <a:off x="502920" y="2359152"/>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Frequency:</a:t>
            </a:r>
            <a:endParaRPr lang="en-US" sz="950" dirty="0"/>
          </a:p>
        </p:txBody>
      </p:sp>
      <p:sp>
        <p:nvSpPr>
          <p:cNvPr id="13" name="Text 11"/>
          <p:cNvSpPr/>
          <p:nvPr/>
        </p:nvSpPr>
        <p:spPr>
          <a:xfrm>
            <a:off x="1691640" y="2359152"/>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Daily OHLCV stock prices</a:t>
            </a:r>
            <a:endParaRPr lang="en-US" sz="950" dirty="0"/>
          </a:p>
        </p:txBody>
      </p:sp>
      <p:sp>
        <p:nvSpPr>
          <p:cNvPr id="14" name="Text 12"/>
          <p:cNvSpPr/>
          <p:nvPr/>
        </p:nvSpPr>
        <p:spPr>
          <a:xfrm>
            <a:off x="502920" y="2889504"/>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Coverage:</a:t>
            </a:r>
            <a:endParaRPr lang="en-US" sz="950" dirty="0"/>
          </a:p>
        </p:txBody>
      </p:sp>
      <p:sp>
        <p:nvSpPr>
          <p:cNvPr id="15" name="Text 13"/>
          <p:cNvSpPr/>
          <p:nvPr/>
        </p:nvSpPr>
        <p:spPr>
          <a:xfrm>
            <a:off x="1691640" y="2889504"/>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Jan 1, 2015 – Apr 2026</a:t>
            </a:r>
            <a:endParaRPr lang="en-US" sz="950" dirty="0"/>
          </a:p>
        </p:txBody>
      </p:sp>
      <p:sp>
        <p:nvSpPr>
          <p:cNvPr id="16" name="Text 14"/>
          <p:cNvSpPr/>
          <p:nvPr/>
        </p:nvSpPr>
        <p:spPr>
          <a:xfrm>
            <a:off x="502920" y="3419856"/>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Financials:</a:t>
            </a:r>
            <a:endParaRPr lang="en-US" sz="950" dirty="0"/>
          </a:p>
        </p:txBody>
      </p:sp>
      <p:sp>
        <p:nvSpPr>
          <p:cNvPr id="17" name="Text 15"/>
          <p:cNvSpPr/>
          <p:nvPr/>
        </p:nvSpPr>
        <p:spPr>
          <a:xfrm>
            <a:off x="1691640" y="3419856"/>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Annual: income stmt, balance sheet, cash flow (4–5 years)</a:t>
            </a:r>
            <a:endParaRPr lang="en-US" sz="950" dirty="0"/>
          </a:p>
        </p:txBody>
      </p:sp>
      <p:sp>
        <p:nvSpPr>
          <p:cNvPr id="18" name="Text 16"/>
          <p:cNvSpPr/>
          <p:nvPr/>
        </p:nvSpPr>
        <p:spPr>
          <a:xfrm>
            <a:off x="502920" y="3950208"/>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Key Vars:</a:t>
            </a:r>
            <a:endParaRPr lang="en-US" sz="950" dirty="0"/>
          </a:p>
        </p:txBody>
      </p:sp>
      <p:sp>
        <p:nvSpPr>
          <p:cNvPr id="19" name="Text 17"/>
          <p:cNvSpPr/>
          <p:nvPr/>
        </p:nvSpPr>
        <p:spPr>
          <a:xfrm>
            <a:off x="1691640" y="3950208"/>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Close, Revenue, Net Income, Gross Profit, Op. Income, Free Cash Flow</a:t>
            </a:r>
            <a:endParaRPr lang="en-US" sz="950" dirty="0"/>
          </a:p>
        </p:txBody>
      </p:sp>
      <p:sp>
        <p:nvSpPr>
          <p:cNvPr id="20" name="Shape 18"/>
          <p:cNvSpPr/>
          <p:nvPr/>
        </p:nvSpPr>
        <p:spPr>
          <a:xfrm>
            <a:off x="4663440" y="914400"/>
            <a:ext cx="4160520" cy="38404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1" name="Shape 19"/>
          <p:cNvSpPr/>
          <p:nvPr/>
        </p:nvSpPr>
        <p:spPr>
          <a:xfrm>
            <a:off x="4663440" y="914400"/>
            <a:ext cx="4160520" cy="109728"/>
          </a:xfrm>
          <a:prstGeom prst="rect">
            <a:avLst/>
          </a:prstGeom>
          <a:solidFill>
            <a:srgbClr val="FF7F0E"/>
          </a:solidFill>
          <a:ln/>
        </p:spPr>
      </p:sp>
      <p:sp>
        <p:nvSpPr>
          <p:cNvPr id="22" name="Text 20"/>
          <p:cNvSpPr/>
          <p:nvPr/>
        </p:nvSpPr>
        <p:spPr>
          <a:xfrm>
            <a:off x="4846320" y="1051560"/>
            <a:ext cx="3840480" cy="365760"/>
          </a:xfrm>
          <a:prstGeom prst="rect">
            <a:avLst/>
          </a:prstGeom>
          <a:noFill/>
          <a:ln/>
        </p:spPr>
        <p:txBody>
          <a:bodyPr wrap="square" lIns="0" tIns="0" rIns="0" bIns="0" rtlCol="0" anchor="ctr"/>
          <a:lstStyle/>
          <a:p>
            <a:pPr indent="0" marL="0">
              <a:buNone/>
            </a:pPr>
            <a:r>
              <a:rPr lang="en-US" sz="1400" b="1" dirty="0">
                <a:solidFill>
                  <a:srgbClr val="FF7F0E"/>
                </a:solidFill>
                <a:latin typeface="Calibri" pitchFamily="34" charset="0"/>
                <a:ea typeface="Calibri" pitchFamily="34" charset="-122"/>
                <a:cs typeface="Calibri" pitchFamily="34" charset="-120"/>
              </a:rPr>
              <a:t>Source 2 — FRED (Federal Reserve)</a:t>
            </a:r>
            <a:endParaRPr lang="en-US" sz="1400" dirty="0"/>
          </a:p>
        </p:txBody>
      </p:sp>
      <p:sp>
        <p:nvSpPr>
          <p:cNvPr id="23" name="Text 21"/>
          <p:cNvSpPr/>
          <p:nvPr/>
        </p:nvSpPr>
        <p:spPr>
          <a:xfrm>
            <a:off x="4846320" y="1417320"/>
            <a:ext cx="384048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via pandas-datareader  |  https://fred.stlouisfed.org</a:t>
            </a:r>
            <a:endParaRPr lang="en-US" sz="950" dirty="0"/>
          </a:p>
        </p:txBody>
      </p:sp>
      <p:sp>
        <p:nvSpPr>
          <p:cNvPr id="24" name="Text 22"/>
          <p:cNvSpPr/>
          <p:nvPr/>
        </p:nvSpPr>
        <p:spPr>
          <a:xfrm>
            <a:off x="4846320" y="1828800"/>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Series 1:</a:t>
            </a:r>
            <a:endParaRPr lang="en-US" sz="950" dirty="0"/>
          </a:p>
        </p:txBody>
      </p:sp>
      <p:sp>
        <p:nvSpPr>
          <p:cNvPr id="25" name="Text 23"/>
          <p:cNvSpPr/>
          <p:nvPr/>
        </p:nvSpPr>
        <p:spPr>
          <a:xfrm>
            <a:off x="6035040" y="1828800"/>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CPIAUCSL — CPI All Urban Consumers</a:t>
            </a:r>
            <a:endParaRPr lang="en-US" sz="950" dirty="0"/>
          </a:p>
        </p:txBody>
      </p:sp>
      <p:sp>
        <p:nvSpPr>
          <p:cNvPr id="26" name="Text 24"/>
          <p:cNvSpPr/>
          <p:nvPr/>
        </p:nvSpPr>
        <p:spPr>
          <a:xfrm>
            <a:off x="4846320" y="2304288"/>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Frequency:</a:t>
            </a:r>
            <a:endParaRPr lang="en-US" sz="950" dirty="0"/>
          </a:p>
        </p:txBody>
      </p:sp>
      <p:sp>
        <p:nvSpPr>
          <p:cNvPr id="27" name="Text 25"/>
          <p:cNvSpPr/>
          <p:nvPr/>
        </p:nvSpPr>
        <p:spPr>
          <a:xfrm>
            <a:off x="6035040" y="2304288"/>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Monthly (seasonally adjusted)</a:t>
            </a:r>
            <a:endParaRPr lang="en-US" sz="950" dirty="0"/>
          </a:p>
        </p:txBody>
      </p:sp>
      <p:sp>
        <p:nvSpPr>
          <p:cNvPr id="28" name="Text 26"/>
          <p:cNvSpPr/>
          <p:nvPr/>
        </p:nvSpPr>
        <p:spPr>
          <a:xfrm>
            <a:off x="4846320" y="2779776"/>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Series 2:</a:t>
            </a:r>
            <a:endParaRPr lang="en-US" sz="950" dirty="0"/>
          </a:p>
        </p:txBody>
      </p:sp>
      <p:sp>
        <p:nvSpPr>
          <p:cNvPr id="29" name="Text 27"/>
          <p:cNvSpPr/>
          <p:nvPr/>
        </p:nvSpPr>
        <p:spPr>
          <a:xfrm>
            <a:off x="6035040" y="2779776"/>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DGS10 — 10-Year Treasury Rate</a:t>
            </a:r>
            <a:endParaRPr lang="en-US" sz="950" dirty="0"/>
          </a:p>
        </p:txBody>
      </p:sp>
      <p:sp>
        <p:nvSpPr>
          <p:cNvPr id="30" name="Text 28"/>
          <p:cNvSpPr/>
          <p:nvPr/>
        </p:nvSpPr>
        <p:spPr>
          <a:xfrm>
            <a:off x="4846320" y="3255264"/>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Frequency:</a:t>
            </a:r>
            <a:endParaRPr lang="en-US" sz="950" dirty="0"/>
          </a:p>
        </p:txBody>
      </p:sp>
      <p:sp>
        <p:nvSpPr>
          <p:cNvPr id="31" name="Text 29"/>
          <p:cNvSpPr/>
          <p:nvPr/>
        </p:nvSpPr>
        <p:spPr>
          <a:xfrm>
            <a:off x="6035040" y="3255264"/>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Daily</a:t>
            </a:r>
            <a:endParaRPr lang="en-US" sz="950" dirty="0"/>
          </a:p>
        </p:txBody>
      </p:sp>
      <p:sp>
        <p:nvSpPr>
          <p:cNvPr id="32" name="Text 30"/>
          <p:cNvSpPr/>
          <p:nvPr/>
        </p:nvSpPr>
        <p:spPr>
          <a:xfrm>
            <a:off x="4846320" y="3730752"/>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Coverage:</a:t>
            </a:r>
            <a:endParaRPr lang="en-US" sz="950" dirty="0"/>
          </a:p>
        </p:txBody>
      </p:sp>
      <p:sp>
        <p:nvSpPr>
          <p:cNvPr id="33" name="Text 31"/>
          <p:cNvSpPr/>
          <p:nvPr/>
        </p:nvSpPr>
        <p:spPr>
          <a:xfrm>
            <a:off x="6035040" y="3730752"/>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Jan 2015 – Apr 2026</a:t>
            </a:r>
            <a:endParaRPr lang="en-US" sz="950" dirty="0"/>
          </a:p>
        </p:txBody>
      </p:sp>
      <p:sp>
        <p:nvSpPr>
          <p:cNvPr id="34" name="Text 32"/>
          <p:cNvSpPr/>
          <p:nvPr/>
        </p:nvSpPr>
        <p:spPr>
          <a:xfrm>
            <a:off x="4846320" y="4206240"/>
            <a:ext cx="1188720" cy="365760"/>
          </a:xfrm>
          <a:prstGeom prst="rect">
            <a:avLst/>
          </a:prstGeom>
          <a:noFill/>
          <a:ln/>
        </p:spPr>
        <p:txBody>
          <a:bodyPr wrap="square" lIns="0" tIns="0" rIns="0" bIns="0" rtlCol="0" anchor="ctr"/>
          <a:lstStyle/>
          <a:p>
            <a:pPr indent="0" marL="0">
              <a:buNone/>
            </a:pPr>
            <a:r>
              <a:rPr lang="en-US" sz="950" b="1" dirty="0">
                <a:solidFill>
                  <a:srgbClr val="1B2A4A"/>
                </a:solidFill>
                <a:latin typeface="Calibri" pitchFamily="34" charset="0"/>
                <a:ea typeface="Calibri" pitchFamily="34" charset="-122"/>
                <a:cs typeface="Calibri" pitchFamily="34" charset="-120"/>
              </a:rPr>
              <a:t>Key Vars:</a:t>
            </a:r>
            <a:endParaRPr lang="en-US" sz="950" dirty="0"/>
          </a:p>
        </p:txBody>
      </p:sp>
      <p:sp>
        <p:nvSpPr>
          <p:cNvPr id="35" name="Text 33"/>
          <p:cNvSpPr/>
          <p:nvPr/>
        </p:nvSpPr>
        <p:spPr>
          <a:xfrm>
            <a:off x="6035040" y="4206240"/>
            <a:ext cx="2651760" cy="36576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CPI_US (inflation proxy), Treasury_10Y (rate level)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Data Cleaning &amp; Manipulation Process</a:t>
            </a:r>
            <a:endParaRPr lang="en-US" sz="2200" dirty="0"/>
          </a:p>
        </p:txBody>
      </p:sp>
      <p:sp>
        <p:nvSpPr>
          <p:cNvPr id="6" name="Shape 4"/>
          <p:cNvSpPr/>
          <p:nvPr/>
        </p:nvSpPr>
        <p:spPr>
          <a:xfrm>
            <a:off x="320040" y="914400"/>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457200" y="1097280"/>
            <a:ext cx="411480" cy="411480"/>
          </a:xfrm>
          <a:prstGeom prst="ellipse">
            <a:avLst/>
          </a:prstGeom>
          <a:solidFill>
            <a:srgbClr val="1F77B4"/>
          </a:solidFill>
          <a:ln/>
        </p:spPr>
      </p:sp>
      <p:sp>
        <p:nvSpPr>
          <p:cNvPr id="8" name="Text 6"/>
          <p:cNvSpPr/>
          <p:nvPr/>
        </p:nvSpPr>
        <p:spPr>
          <a:xfrm>
            <a:off x="457200" y="10972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987552" y="1005840"/>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Index &amp; Parsing</a:t>
            </a:r>
            <a:endParaRPr lang="en-US" sz="1100" dirty="0"/>
          </a:p>
        </p:txBody>
      </p:sp>
      <p:sp>
        <p:nvSpPr>
          <p:cNvPr id="10" name="Text 8"/>
          <p:cNvSpPr/>
          <p:nvPr/>
        </p:nvSpPr>
        <p:spPr>
          <a:xfrm>
            <a:off x="987552" y="1298448"/>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Converted date strings to DatetimeIndex; set date as index for all DataFrames and sorted chronologically.</a:t>
            </a:r>
            <a:endParaRPr lang="en-US" sz="850" dirty="0"/>
          </a:p>
        </p:txBody>
      </p:sp>
      <p:sp>
        <p:nvSpPr>
          <p:cNvPr id="11" name="Shape 9"/>
          <p:cNvSpPr/>
          <p:nvPr/>
        </p:nvSpPr>
        <p:spPr>
          <a:xfrm>
            <a:off x="4800600" y="914400"/>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10"/>
          <p:cNvSpPr/>
          <p:nvPr/>
        </p:nvSpPr>
        <p:spPr>
          <a:xfrm>
            <a:off x="4937760" y="1097280"/>
            <a:ext cx="411480" cy="411480"/>
          </a:xfrm>
          <a:prstGeom prst="ellipse">
            <a:avLst/>
          </a:prstGeom>
          <a:solidFill>
            <a:srgbClr val="1F77B4"/>
          </a:solidFill>
          <a:ln/>
        </p:spPr>
      </p:sp>
      <p:sp>
        <p:nvSpPr>
          <p:cNvPr id="13" name="Text 11"/>
          <p:cNvSpPr/>
          <p:nvPr/>
        </p:nvSpPr>
        <p:spPr>
          <a:xfrm>
            <a:off x="4937760" y="10972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5468112" y="1005840"/>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Missing Value Handling</a:t>
            </a:r>
            <a:endParaRPr lang="en-US" sz="1100" dirty="0"/>
          </a:p>
        </p:txBody>
      </p:sp>
      <p:sp>
        <p:nvSpPr>
          <p:cNvPr id="15" name="Text 13"/>
          <p:cNvSpPr/>
          <p:nvPr/>
        </p:nvSpPr>
        <p:spPr>
          <a:xfrm>
            <a:off x="5468112" y="1298448"/>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Identified NaN gaps (weekends/holidays, monthly CPI vs daily treasury). Dropped rows where both close prices were missing.</a:t>
            </a:r>
            <a:endParaRPr lang="en-US" sz="850" dirty="0"/>
          </a:p>
        </p:txBody>
      </p:sp>
      <p:sp>
        <p:nvSpPr>
          <p:cNvPr id="16" name="Shape 14"/>
          <p:cNvSpPr/>
          <p:nvPr/>
        </p:nvSpPr>
        <p:spPr>
          <a:xfrm>
            <a:off x="320040" y="1938528"/>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7" name="Shape 15"/>
          <p:cNvSpPr/>
          <p:nvPr/>
        </p:nvSpPr>
        <p:spPr>
          <a:xfrm>
            <a:off x="457200" y="2121408"/>
            <a:ext cx="411480" cy="411480"/>
          </a:xfrm>
          <a:prstGeom prst="ellipse">
            <a:avLst/>
          </a:prstGeom>
          <a:solidFill>
            <a:srgbClr val="1F77B4"/>
          </a:solidFill>
          <a:ln/>
        </p:spPr>
      </p:sp>
      <p:sp>
        <p:nvSpPr>
          <p:cNvPr id="18" name="Text 16"/>
          <p:cNvSpPr/>
          <p:nvPr/>
        </p:nvSpPr>
        <p:spPr>
          <a:xfrm>
            <a:off x="457200" y="2121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987552" y="2029968"/>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Data Type Conversion</a:t>
            </a:r>
            <a:endParaRPr lang="en-US" sz="1100" dirty="0"/>
          </a:p>
        </p:txBody>
      </p:sp>
      <p:sp>
        <p:nvSpPr>
          <p:cNvPr id="20" name="Text 18"/>
          <p:cNvSpPr/>
          <p:nvPr/>
        </p:nvSpPr>
        <p:spPr>
          <a:xfrm>
            <a:off x="987552" y="2322576"/>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Cast price/volume columns to float64. Converted financial statement values to numeric using pd.to_numeric(errors='coerce').</a:t>
            </a:r>
            <a:endParaRPr lang="en-US" sz="850" dirty="0"/>
          </a:p>
        </p:txBody>
      </p:sp>
      <p:sp>
        <p:nvSpPr>
          <p:cNvPr id="21" name="Shape 19"/>
          <p:cNvSpPr/>
          <p:nvPr/>
        </p:nvSpPr>
        <p:spPr>
          <a:xfrm>
            <a:off x="4800600" y="1938528"/>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2" name="Shape 20"/>
          <p:cNvSpPr/>
          <p:nvPr/>
        </p:nvSpPr>
        <p:spPr>
          <a:xfrm>
            <a:off x="4937760" y="2121408"/>
            <a:ext cx="411480" cy="411480"/>
          </a:xfrm>
          <a:prstGeom prst="ellipse">
            <a:avLst/>
          </a:prstGeom>
          <a:solidFill>
            <a:srgbClr val="1F77B4"/>
          </a:solidFill>
          <a:ln/>
        </p:spPr>
      </p:sp>
      <p:sp>
        <p:nvSpPr>
          <p:cNvPr id="23" name="Text 21"/>
          <p:cNvSpPr/>
          <p:nvPr/>
        </p:nvSpPr>
        <p:spPr>
          <a:xfrm>
            <a:off x="4937760" y="2121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5468112" y="2029968"/>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Subsetting &amp; Filtering</a:t>
            </a:r>
            <a:endParaRPr lang="en-US" sz="1100" dirty="0"/>
          </a:p>
        </p:txBody>
      </p:sp>
      <p:sp>
        <p:nvSpPr>
          <p:cNvPr id="25" name="Text 23"/>
          <p:cNvSpPr/>
          <p:nvPr/>
        </p:nvSpPr>
        <p:spPr>
          <a:xfrm>
            <a:off x="5468112" y="2322576"/>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Extracted specific rows from financial statements (Revenue, Net Income, Gross Profit, Operating Income). Filtered to 2015–2026.</a:t>
            </a:r>
            <a:endParaRPr lang="en-US" sz="850" dirty="0"/>
          </a:p>
        </p:txBody>
      </p:sp>
      <p:sp>
        <p:nvSpPr>
          <p:cNvPr id="26" name="Shape 24"/>
          <p:cNvSpPr/>
          <p:nvPr/>
        </p:nvSpPr>
        <p:spPr>
          <a:xfrm>
            <a:off x="320040" y="2962656"/>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7" name="Shape 25"/>
          <p:cNvSpPr/>
          <p:nvPr/>
        </p:nvSpPr>
        <p:spPr>
          <a:xfrm>
            <a:off x="457200" y="3145536"/>
            <a:ext cx="411480" cy="411480"/>
          </a:xfrm>
          <a:prstGeom prst="ellipse">
            <a:avLst/>
          </a:prstGeom>
          <a:solidFill>
            <a:srgbClr val="FF7F0E"/>
          </a:solidFill>
          <a:ln/>
        </p:spPr>
      </p:sp>
      <p:sp>
        <p:nvSpPr>
          <p:cNvPr id="28" name="Text 26"/>
          <p:cNvSpPr/>
          <p:nvPr/>
        </p:nvSpPr>
        <p:spPr>
          <a:xfrm>
            <a:off x="457200" y="31455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987552" y="3054096"/>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New Column Generation</a:t>
            </a:r>
            <a:endParaRPr lang="en-US" sz="1100" dirty="0"/>
          </a:p>
        </p:txBody>
      </p:sp>
      <p:sp>
        <p:nvSpPr>
          <p:cNvPr id="30" name="Text 28"/>
          <p:cNvSpPr/>
          <p:nvPr/>
        </p:nvSpPr>
        <p:spPr>
          <a:xfrm>
            <a:off x="987552" y="3346704"/>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Computed daily returns (pct_change), profit margins, normalized prices (base=100), and annualized volatility (std × √252).</a:t>
            </a:r>
            <a:endParaRPr lang="en-US" sz="850" dirty="0"/>
          </a:p>
        </p:txBody>
      </p:sp>
      <p:sp>
        <p:nvSpPr>
          <p:cNvPr id="31" name="Shape 29"/>
          <p:cNvSpPr/>
          <p:nvPr/>
        </p:nvSpPr>
        <p:spPr>
          <a:xfrm>
            <a:off x="4800600" y="2962656"/>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32" name="Shape 30"/>
          <p:cNvSpPr/>
          <p:nvPr/>
        </p:nvSpPr>
        <p:spPr>
          <a:xfrm>
            <a:off x="4937760" y="3145536"/>
            <a:ext cx="411480" cy="411480"/>
          </a:xfrm>
          <a:prstGeom prst="ellipse">
            <a:avLst/>
          </a:prstGeom>
          <a:solidFill>
            <a:srgbClr val="FF7F0E"/>
          </a:solidFill>
          <a:ln/>
        </p:spPr>
      </p:sp>
      <p:sp>
        <p:nvSpPr>
          <p:cNvPr id="33" name="Text 31"/>
          <p:cNvSpPr/>
          <p:nvPr/>
        </p:nvSpPr>
        <p:spPr>
          <a:xfrm>
            <a:off x="4937760" y="31455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5468112" y="3054096"/>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Merging &amp; Resampling</a:t>
            </a:r>
            <a:endParaRPr lang="en-US" sz="1100" dirty="0"/>
          </a:p>
        </p:txBody>
      </p:sp>
      <p:sp>
        <p:nvSpPr>
          <p:cNvPr id="35" name="Text 33"/>
          <p:cNvSpPr/>
          <p:nvPr/>
        </p:nvSpPr>
        <p:spPr>
          <a:xfrm>
            <a:off x="5468112" y="3346704"/>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Resampled daily prices to monthly (last day). Merged stock returns, CPI changes, and treasury yield changes via inner join on date.</a:t>
            </a:r>
            <a:endParaRPr lang="en-US" sz="850" dirty="0"/>
          </a:p>
        </p:txBody>
      </p:sp>
      <p:sp>
        <p:nvSpPr>
          <p:cNvPr id="36" name="Shape 34"/>
          <p:cNvSpPr/>
          <p:nvPr/>
        </p:nvSpPr>
        <p:spPr>
          <a:xfrm>
            <a:off x="320040" y="3986784"/>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37" name="Shape 35"/>
          <p:cNvSpPr/>
          <p:nvPr/>
        </p:nvSpPr>
        <p:spPr>
          <a:xfrm>
            <a:off x="457200" y="4169664"/>
            <a:ext cx="411480" cy="411480"/>
          </a:xfrm>
          <a:prstGeom prst="ellipse">
            <a:avLst/>
          </a:prstGeom>
          <a:solidFill>
            <a:srgbClr val="FF7F0E"/>
          </a:solidFill>
          <a:ln/>
        </p:spPr>
      </p:sp>
      <p:sp>
        <p:nvSpPr>
          <p:cNvPr id="38" name="Text 36"/>
          <p:cNvSpPr/>
          <p:nvPr/>
        </p:nvSpPr>
        <p:spPr>
          <a:xfrm>
            <a:off x="457200" y="41696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987552" y="4078224"/>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Aggregation</a:t>
            </a:r>
            <a:endParaRPr lang="en-US" sz="1100" dirty="0"/>
          </a:p>
        </p:txBody>
      </p:sp>
      <p:sp>
        <p:nvSpPr>
          <p:cNvPr id="40" name="Text 38"/>
          <p:cNvSpPr/>
          <p:nvPr/>
        </p:nvSpPr>
        <p:spPr>
          <a:xfrm>
            <a:off x="987552" y="4370832"/>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Computed mean, median, min/max. Applied groupby on year for annual correlations. Calculated 90-day and 252-day rolling correlations.</a:t>
            </a:r>
            <a:endParaRPr lang="en-US" sz="850" dirty="0"/>
          </a:p>
        </p:txBody>
      </p:sp>
      <p:sp>
        <p:nvSpPr>
          <p:cNvPr id="41" name="Shape 39"/>
          <p:cNvSpPr/>
          <p:nvPr/>
        </p:nvSpPr>
        <p:spPr>
          <a:xfrm>
            <a:off x="4800600" y="3986784"/>
            <a:ext cx="4315968" cy="9144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42" name="Shape 40"/>
          <p:cNvSpPr/>
          <p:nvPr/>
        </p:nvSpPr>
        <p:spPr>
          <a:xfrm>
            <a:off x="4937760" y="4169664"/>
            <a:ext cx="411480" cy="411480"/>
          </a:xfrm>
          <a:prstGeom prst="ellipse">
            <a:avLst/>
          </a:prstGeom>
          <a:solidFill>
            <a:srgbClr val="FF7F0E"/>
          </a:solidFill>
          <a:ln/>
        </p:spPr>
      </p:sp>
      <p:sp>
        <p:nvSpPr>
          <p:cNvPr id="43" name="Text 41"/>
          <p:cNvSpPr/>
          <p:nvPr/>
        </p:nvSpPr>
        <p:spPr>
          <a:xfrm>
            <a:off x="4937760" y="41696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5468112" y="4078224"/>
            <a:ext cx="3474720" cy="292608"/>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Scaling</a:t>
            </a:r>
            <a:endParaRPr lang="en-US" sz="1100" dirty="0"/>
          </a:p>
        </p:txBody>
      </p:sp>
      <p:sp>
        <p:nvSpPr>
          <p:cNvPr id="45" name="Text 43"/>
          <p:cNvSpPr/>
          <p:nvPr/>
        </p:nvSpPr>
        <p:spPr>
          <a:xfrm>
            <a:off x="5468112" y="4370832"/>
            <a:ext cx="3474720" cy="45720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Scaled Apple financials to USD billions (÷1e9), Samsung to KRW trillions (÷1e12) for readability in charts and tables.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1F77B4"/>
          </a:solidFill>
          <a:ln/>
        </p:spPr>
      </p:sp>
      <p:sp>
        <p:nvSpPr>
          <p:cNvPr id="3" name="Shape 1"/>
          <p:cNvSpPr/>
          <p:nvPr/>
        </p:nvSpPr>
        <p:spPr>
          <a:xfrm>
            <a:off x="228600" y="0"/>
            <a:ext cx="54864" cy="5143500"/>
          </a:xfrm>
          <a:prstGeom prst="rect">
            <a:avLst/>
          </a:prstGeom>
          <a:solidFill>
            <a:srgbClr val="FF7F0E"/>
          </a:solidFill>
          <a:ln/>
        </p:spPr>
      </p:sp>
      <p:sp>
        <p:nvSpPr>
          <p:cNvPr id="4" name="Text 2"/>
          <p:cNvSpPr/>
          <p:nvPr/>
        </p:nvSpPr>
        <p:spPr>
          <a:xfrm>
            <a:off x="640080" y="1645920"/>
            <a:ext cx="7772400" cy="10972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Analysis 1</a:t>
            </a:r>
            <a:endParaRPr lang="en-US" sz="4000" dirty="0"/>
          </a:p>
        </p:txBody>
      </p:sp>
      <p:sp>
        <p:nvSpPr>
          <p:cNvPr id="5" name="Text 3"/>
          <p:cNvSpPr/>
          <p:nvPr/>
        </p:nvSpPr>
        <p:spPr>
          <a:xfrm>
            <a:off x="640080" y="2834640"/>
            <a:ext cx="77724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Stock Price Performance &amp; Correlation</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1 — Normalized Stock Price Performance (2015–2026)</a:t>
            </a:r>
            <a:endParaRPr lang="en-US" sz="2200" dirty="0"/>
          </a:p>
        </p:txBody>
      </p:sp>
      <p:pic>
        <p:nvPicPr>
          <p:cNvPr id="6" name="Image 0" descr="/sessions/zealous-optimistic-turing/mnt/Apple-vs-samsung---competitive-Financial-Market-analysis/plot1_normalized_prices.png">    </p:cNvPr>
          <p:cNvPicPr>
            <a:picLocks noChangeAspect="1"/>
          </p:cNvPicPr>
          <p:nvPr/>
        </p:nvPicPr>
        <p:blipFill>
          <a:blip r:embed="rId1"/>
          <a:srcRect l="0" r="0" t="0" b="0"/>
          <a:stretch/>
        </p:blipFill>
        <p:spPr>
          <a:xfrm>
            <a:off x="320040" y="822960"/>
            <a:ext cx="8503920" cy="4114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1 — Return Correlation: Rolling &amp; Annual Breakdown</a:t>
            </a:r>
            <a:endParaRPr lang="en-US" sz="2200" dirty="0"/>
          </a:p>
        </p:txBody>
      </p:sp>
      <p:pic>
        <p:nvPicPr>
          <p:cNvPr id="6" name="Image 0" descr="/sessions/zealous-optimistic-turing/mnt/Apple-vs-samsung---competitive-Financial-Market-analysis/plot2_rolling_correlation.png">    </p:cNvPr>
          <p:cNvPicPr>
            <a:picLocks noChangeAspect="1"/>
          </p:cNvPicPr>
          <p:nvPr/>
        </p:nvPicPr>
        <p:blipFill>
          <a:blip r:embed="rId1"/>
          <a:srcRect l="0" r="0" t="-4000" b="-4000"/>
          <a:stretch/>
        </p:blipFill>
        <p:spPr>
          <a:xfrm>
            <a:off x="320040" y="822960"/>
            <a:ext cx="5120640" cy="2468880"/>
          </a:xfrm>
          <a:prstGeom prst="rect">
            <a:avLst/>
          </a:prstGeom>
        </p:spPr>
      </p:pic>
      <p:pic>
        <p:nvPicPr>
          <p:cNvPr id="7" name="Image 1" descr="/sessions/zealous-optimistic-turing/mnt/Apple-vs-samsung---competitive-Financial-Market-analysis/plot3_scatter_annual_corr.png">    </p:cNvPr>
          <p:cNvPicPr>
            <a:picLocks noChangeAspect="1"/>
          </p:cNvPicPr>
          <p:nvPr/>
        </p:nvPicPr>
        <p:blipFill>
          <a:blip r:embed="rId2"/>
          <a:srcRect l="-7143" r="-7143" t="0" b="0"/>
          <a:stretch/>
        </p:blipFill>
        <p:spPr>
          <a:xfrm>
            <a:off x="320040" y="3200400"/>
            <a:ext cx="5120640" cy="1600200"/>
          </a:xfrm>
          <a:prstGeom prst="rect">
            <a:avLst/>
          </a:prstGeom>
        </p:spPr>
      </p:pic>
      <p:sp>
        <p:nvSpPr>
          <p:cNvPr id="8" name="Shape 4"/>
          <p:cNvSpPr/>
          <p:nvPr/>
        </p:nvSpPr>
        <p:spPr>
          <a:xfrm>
            <a:off x="5623560" y="822960"/>
            <a:ext cx="320040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9" name="Shape 5"/>
          <p:cNvSpPr/>
          <p:nvPr/>
        </p:nvSpPr>
        <p:spPr>
          <a:xfrm>
            <a:off x="5623560" y="822960"/>
            <a:ext cx="3200400" cy="109728"/>
          </a:xfrm>
          <a:prstGeom prst="rect">
            <a:avLst/>
          </a:prstGeom>
          <a:solidFill>
            <a:srgbClr val="1F77B4"/>
          </a:solidFill>
          <a:ln/>
        </p:spPr>
      </p:sp>
      <p:sp>
        <p:nvSpPr>
          <p:cNvPr id="10" name="Text 6"/>
          <p:cNvSpPr/>
          <p:nvPr/>
        </p:nvSpPr>
        <p:spPr>
          <a:xfrm>
            <a:off x="5760720" y="960120"/>
            <a:ext cx="2926080" cy="36576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Key Findings</a:t>
            </a:r>
            <a:endParaRPr lang="en-US" sz="1300" dirty="0"/>
          </a:p>
        </p:txBody>
      </p:sp>
      <p:sp>
        <p:nvSpPr>
          <p:cNvPr id="11" name="Shape 7"/>
          <p:cNvSpPr/>
          <p:nvPr/>
        </p:nvSpPr>
        <p:spPr>
          <a:xfrm>
            <a:off x="5715000" y="1417320"/>
            <a:ext cx="2926080" cy="329184"/>
          </a:xfrm>
          <a:prstGeom prst="rect">
            <a:avLst/>
          </a:prstGeom>
          <a:solidFill>
            <a:srgbClr val="F0F4FF"/>
          </a:solidFill>
          <a:ln/>
        </p:spPr>
      </p:sp>
      <p:sp>
        <p:nvSpPr>
          <p:cNvPr id="12" name="Text 8"/>
          <p:cNvSpPr/>
          <p:nvPr/>
        </p:nvSpPr>
        <p:spPr>
          <a:xfrm>
            <a:off x="5779008" y="1463040"/>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Overall r</a:t>
            </a:r>
            <a:endParaRPr lang="en-US" sz="950" dirty="0"/>
          </a:p>
        </p:txBody>
      </p:sp>
      <p:sp>
        <p:nvSpPr>
          <p:cNvPr id="13" name="Text 9"/>
          <p:cNvSpPr/>
          <p:nvPr/>
        </p:nvSpPr>
        <p:spPr>
          <a:xfrm>
            <a:off x="7315200" y="1463040"/>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0.068 (very low)</a:t>
            </a:r>
            <a:endParaRPr lang="en-US" sz="950" dirty="0"/>
          </a:p>
        </p:txBody>
      </p:sp>
      <p:sp>
        <p:nvSpPr>
          <p:cNvPr id="14" name="Shape 10"/>
          <p:cNvSpPr/>
          <p:nvPr/>
        </p:nvSpPr>
        <p:spPr>
          <a:xfrm>
            <a:off x="5715000" y="1810512"/>
            <a:ext cx="2926080" cy="329184"/>
          </a:xfrm>
          <a:prstGeom prst="rect">
            <a:avLst/>
          </a:prstGeom>
          <a:solidFill>
            <a:srgbClr val="FFFFFF"/>
          </a:solidFill>
          <a:ln/>
        </p:spPr>
      </p:sp>
      <p:sp>
        <p:nvSpPr>
          <p:cNvPr id="15" name="Text 11"/>
          <p:cNvSpPr/>
          <p:nvPr/>
        </p:nvSpPr>
        <p:spPr>
          <a:xfrm>
            <a:off x="5779008" y="1856232"/>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Peak corr.</a:t>
            </a:r>
            <a:endParaRPr lang="en-US" sz="950" dirty="0"/>
          </a:p>
        </p:txBody>
      </p:sp>
      <p:sp>
        <p:nvSpPr>
          <p:cNvPr id="16" name="Text 12"/>
          <p:cNvSpPr/>
          <p:nvPr/>
        </p:nvSpPr>
        <p:spPr>
          <a:xfrm>
            <a:off x="7315200" y="1856232"/>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~0.45 (COVID 2020)</a:t>
            </a:r>
            <a:endParaRPr lang="en-US" sz="950" dirty="0"/>
          </a:p>
        </p:txBody>
      </p:sp>
      <p:sp>
        <p:nvSpPr>
          <p:cNvPr id="17" name="Shape 13"/>
          <p:cNvSpPr/>
          <p:nvPr/>
        </p:nvSpPr>
        <p:spPr>
          <a:xfrm>
            <a:off x="5715000" y="2203704"/>
            <a:ext cx="2926080" cy="329184"/>
          </a:xfrm>
          <a:prstGeom prst="rect">
            <a:avLst/>
          </a:prstGeom>
          <a:solidFill>
            <a:srgbClr val="F0F4FF"/>
          </a:solidFill>
          <a:ln/>
        </p:spPr>
      </p:sp>
      <p:sp>
        <p:nvSpPr>
          <p:cNvPr id="18" name="Text 14"/>
          <p:cNvSpPr/>
          <p:nvPr/>
        </p:nvSpPr>
        <p:spPr>
          <a:xfrm>
            <a:off x="5779008" y="2249424"/>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Best year</a:t>
            </a:r>
            <a:endParaRPr lang="en-US" sz="950" dirty="0"/>
          </a:p>
        </p:txBody>
      </p:sp>
      <p:sp>
        <p:nvSpPr>
          <p:cNvPr id="19" name="Text 15"/>
          <p:cNvSpPr/>
          <p:nvPr/>
        </p:nvSpPr>
        <p:spPr>
          <a:xfrm>
            <a:off x="7315200" y="2249424"/>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2020: r = 0.44</a:t>
            </a:r>
            <a:endParaRPr lang="en-US" sz="950" dirty="0"/>
          </a:p>
        </p:txBody>
      </p:sp>
      <p:sp>
        <p:nvSpPr>
          <p:cNvPr id="20" name="Shape 16"/>
          <p:cNvSpPr/>
          <p:nvPr/>
        </p:nvSpPr>
        <p:spPr>
          <a:xfrm>
            <a:off x="5715000" y="2596896"/>
            <a:ext cx="2926080" cy="329184"/>
          </a:xfrm>
          <a:prstGeom prst="rect">
            <a:avLst/>
          </a:prstGeom>
          <a:solidFill>
            <a:srgbClr val="FFFFFF"/>
          </a:solidFill>
          <a:ln/>
        </p:spPr>
      </p:sp>
      <p:sp>
        <p:nvSpPr>
          <p:cNvPr id="21" name="Text 17"/>
          <p:cNvSpPr/>
          <p:nvPr/>
        </p:nvSpPr>
        <p:spPr>
          <a:xfrm>
            <a:off x="5779008" y="2642616"/>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Apple CAGR</a:t>
            </a:r>
            <a:endParaRPr lang="en-US" sz="950" dirty="0"/>
          </a:p>
        </p:txBody>
      </p:sp>
      <p:sp>
        <p:nvSpPr>
          <p:cNvPr id="22" name="Text 18"/>
          <p:cNvSpPr/>
          <p:nvPr/>
        </p:nvSpPr>
        <p:spPr>
          <a:xfrm>
            <a:off x="7315200" y="2642616"/>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31.0% annualized</a:t>
            </a:r>
            <a:endParaRPr lang="en-US" sz="950" dirty="0"/>
          </a:p>
        </p:txBody>
      </p:sp>
      <p:sp>
        <p:nvSpPr>
          <p:cNvPr id="23" name="Shape 19"/>
          <p:cNvSpPr/>
          <p:nvPr/>
        </p:nvSpPr>
        <p:spPr>
          <a:xfrm>
            <a:off x="5715000" y="2990088"/>
            <a:ext cx="2926080" cy="329184"/>
          </a:xfrm>
          <a:prstGeom prst="rect">
            <a:avLst/>
          </a:prstGeom>
          <a:solidFill>
            <a:srgbClr val="F0F4FF"/>
          </a:solidFill>
          <a:ln/>
        </p:spPr>
      </p:sp>
      <p:sp>
        <p:nvSpPr>
          <p:cNvPr id="24" name="Text 20"/>
          <p:cNvSpPr/>
          <p:nvPr/>
        </p:nvSpPr>
        <p:spPr>
          <a:xfrm>
            <a:off x="5779008" y="3035808"/>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Samsung CAGR</a:t>
            </a:r>
            <a:endParaRPr lang="en-US" sz="950" dirty="0"/>
          </a:p>
        </p:txBody>
      </p:sp>
      <p:sp>
        <p:nvSpPr>
          <p:cNvPr id="25" name="Text 21"/>
          <p:cNvSpPr/>
          <p:nvPr/>
        </p:nvSpPr>
        <p:spPr>
          <a:xfrm>
            <a:off x="7315200" y="3035808"/>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30.5% annualized</a:t>
            </a:r>
            <a:endParaRPr lang="en-US" sz="950" dirty="0"/>
          </a:p>
        </p:txBody>
      </p:sp>
      <p:sp>
        <p:nvSpPr>
          <p:cNvPr id="26" name="Shape 22"/>
          <p:cNvSpPr/>
          <p:nvPr/>
        </p:nvSpPr>
        <p:spPr>
          <a:xfrm>
            <a:off x="5715000" y="3383280"/>
            <a:ext cx="2926080" cy="329184"/>
          </a:xfrm>
          <a:prstGeom prst="rect">
            <a:avLst/>
          </a:prstGeom>
          <a:solidFill>
            <a:srgbClr val="FFFFFF"/>
          </a:solidFill>
          <a:ln/>
        </p:spPr>
      </p:sp>
      <p:sp>
        <p:nvSpPr>
          <p:cNvPr id="27" name="Text 23"/>
          <p:cNvSpPr/>
          <p:nvPr/>
        </p:nvSpPr>
        <p:spPr>
          <a:xfrm>
            <a:off x="5779008" y="3429000"/>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Apple vol.</a:t>
            </a:r>
            <a:endParaRPr lang="en-US" sz="950" dirty="0"/>
          </a:p>
        </p:txBody>
      </p:sp>
      <p:sp>
        <p:nvSpPr>
          <p:cNvPr id="28" name="Text 24"/>
          <p:cNvSpPr/>
          <p:nvPr/>
        </p:nvSpPr>
        <p:spPr>
          <a:xfrm>
            <a:off x="7315200" y="3429000"/>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29.4% annualized</a:t>
            </a:r>
            <a:endParaRPr lang="en-US" sz="950" dirty="0"/>
          </a:p>
        </p:txBody>
      </p:sp>
      <p:sp>
        <p:nvSpPr>
          <p:cNvPr id="29" name="Shape 25"/>
          <p:cNvSpPr/>
          <p:nvPr/>
        </p:nvSpPr>
        <p:spPr>
          <a:xfrm>
            <a:off x="5715000" y="3776472"/>
            <a:ext cx="2926080" cy="329184"/>
          </a:xfrm>
          <a:prstGeom prst="rect">
            <a:avLst/>
          </a:prstGeom>
          <a:solidFill>
            <a:srgbClr val="F0F4FF"/>
          </a:solidFill>
          <a:ln/>
        </p:spPr>
      </p:sp>
      <p:sp>
        <p:nvSpPr>
          <p:cNvPr id="30" name="Text 26"/>
          <p:cNvSpPr/>
          <p:nvPr/>
        </p:nvSpPr>
        <p:spPr>
          <a:xfrm>
            <a:off x="5779008" y="3822192"/>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Samsung vol.</a:t>
            </a:r>
            <a:endParaRPr lang="en-US" sz="950" dirty="0"/>
          </a:p>
        </p:txBody>
      </p:sp>
      <p:sp>
        <p:nvSpPr>
          <p:cNvPr id="31" name="Text 27"/>
          <p:cNvSpPr/>
          <p:nvPr/>
        </p:nvSpPr>
        <p:spPr>
          <a:xfrm>
            <a:off x="7315200" y="3822192"/>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29.9% annualized</a:t>
            </a:r>
            <a:endParaRPr lang="en-US" sz="950" dirty="0"/>
          </a:p>
        </p:txBody>
      </p:sp>
      <p:sp>
        <p:nvSpPr>
          <p:cNvPr id="32" name="Shape 28"/>
          <p:cNvSpPr/>
          <p:nvPr/>
        </p:nvSpPr>
        <p:spPr>
          <a:xfrm>
            <a:off x="5715000" y="4169664"/>
            <a:ext cx="2926080" cy="329184"/>
          </a:xfrm>
          <a:prstGeom prst="rect">
            <a:avLst/>
          </a:prstGeom>
          <a:solidFill>
            <a:srgbClr val="FFFFFF"/>
          </a:solidFill>
          <a:ln/>
        </p:spPr>
      </p:sp>
      <p:sp>
        <p:nvSpPr>
          <p:cNvPr id="33" name="Text 29"/>
          <p:cNvSpPr/>
          <p:nvPr/>
        </p:nvSpPr>
        <p:spPr>
          <a:xfrm>
            <a:off x="5779008" y="4215384"/>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Apple Sharpe</a:t>
            </a:r>
            <a:endParaRPr lang="en-US" sz="950" dirty="0"/>
          </a:p>
        </p:txBody>
      </p:sp>
      <p:sp>
        <p:nvSpPr>
          <p:cNvPr id="34" name="Text 30"/>
          <p:cNvSpPr/>
          <p:nvPr/>
        </p:nvSpPr>
        <p:spPr>
          <a:xfrm>
            <a:off x="7315200" y="4215384"/>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1.05</a:t>
            </a:r>
            <a:endParaRPr lang="en-US" sz="950" dirty="0"/>
          </a:p>
        </p:txBody>
      </p:sp>
      <p:sp>
        <p:nvSpPr>
          <p:cNvPr id="35" name="Shape 31"/>
          <p:cNvSpPr/>
          <p:nvPr/>
        </p:nvSpPr>
        <p:spPr>
          <a:xfrm>
            <a:off x="5715000" y="4562856"/>
            <a:ext cx="2926080" cy="329184"/>
          </a:xfrm>
          <a:prstGeom prst="rect">
            <a:avLst/>
          </a:prstGeom>
          <a:solidFill>
            <a:srgbClr val="F0F4FF"/>
          </a:solidFill>
          <a:ln/>
        </p:spPr>
      </p:sp>
      <p:sp>
        <p:nvSpPr>
          <p:cNvPr id="36" name="Text 32"/>
          <p:cNvSpPr/>
          <p:nvPr/>
        </p:nvSpPr>
        <p:spPr>
          <a:xfrm>
            <a:off x="5779008" y="4608576"/>
            <a:ext cx="1554480" cy="25603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Samsung Sharpe</a:t>
            </a:r>
            <a:endParaRPr lang="en-US" sz="950" dirty="0"/>
          </a:p>
        </p:txBody>
      </p:sp>
      <p:sp>
        <p:nvSpPr>
          <p:cNvPr id="37" name="Text 33"/>
          <p:cNvSpPr/>
          <p:nvPr/>
        </p:nvSpPr>
        <p:spPr>
          <a:xfrm>
            <a:off x="7315200" y="4608576"/>
            <a:ext cx="1188720" cy="256032"/>
          </a:xfrm>
          <a:prstGeom prst="rect">
            <a:avLst/>
          </a:prstGeom>
          <a:noFill/>
          <a:ln/>
        </p:spPr>
        <p:txBody>
          <a:bodyPr wrap="square" lIns="0" tIns="0" rIns="0" bIns="0" rtlCol="0" anchor="ctr"/>
          <a:lstStyle/>
          <a:p>
            <a:pPr algn="r" indent="0" marL="0">
              <a:buNone/>
            </a:pPr>
            <a:r>
              <a:rPr lang="en-US" sz="950" b="1" dirty="0">
                <a:solidFill>
                  <a:srgbClr val="1B2A4A"/>
                </a:solidFill>
                <a:latin typeface="Calibri" pitchFamily="34" charset="0"/>
                <a:ea typeface="Calibri" pitchFamily="34" charset="-122"/>
                <a:cs typeface="Calibri" pitchFamily="34" charset="-120"/>
              </a:rPr>
              <a:t>1.02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1 — Rolling Annualized Volatility</a:t>
            </a:r>
            <a:endParaRPr lang="en-US" sz="2200" dirty="0"/>
          </a:p>
        </p:txBody>
      </p:sp>
      <p:pic>
        <p:nvPicPr>
          <p:cNvPr id="6" name="Image 0" descr="/sessions/zealous-optimistic-turing/mnt/Apple-vs-samsung---competitive-Financial-Market-analysis/plot11_volatility.png">    </p:cNvPr>
          <p:cNvPicPr>
            <a:picLocks noChangeAspect="1"/>
          </p:cNvPicPr>
          <p:nvPr/>
        </p:nvPicPr>
        <p:blipFill>
          <a:blip r:embed="rId1"/>
          <a:srcRect l="0" r="0" t="0" b="0"/>
          <a:stretch/>
        </p:blipFill>
        <p:spPr>
          <a:xfrm>
            <a:off x="320040" y="822960"/>
            <a:ext cx="8503920" cy="3474720"/>
          </a:xfrm>
          <a:prstGeom prst="rect">
            <a:avLst/>
          </a:prstGeom>
        </p:spPr>
      </p:pic>
      <p:sp>
        <p:nvSpPr>
          <p:cNvPr id="7" name="Shape 4"/>
          <p:cNvSpPr/>
          <p:nvPr/>
        </p:nvSpPr>
        <p:spPr>
          <a:xfrm>
            <a:off x="320040" y="4407408"/>
            <a:ext cx="8503920" cy="594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Text 5"/>
          <p:cNvSpPr/>
          <p:nvPr/>
        </p:nvSpPr>
        <p:spPr>
          <a:xfrm>
            <a:off x="457200" y="4462272"/>
            <a:ext cx="8229600" cy="45720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Both stocks maintain similar annualized volatility (~29–30%), with synchronized spikes during COVID-19 (March 2020) and the 2022 rate-hike cycle. Samsung shows slightly higher peak volatility during the 2023 semiconductor downturn.</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1F77B4"/>
          </a:solidFill>
          <a:ln/>
        </p:spPr>
      </p:sp>
      <p:sp>
        <p:nvSpPr>
          <p:cNvPr id="3" name="Shape 1"/>
          <p:cNvSpPr/>
          <p:nvPr/>
        </p:nvSpPr>
        <p:spPr>
          <a:xfrm>
            <a:off x="228600" y="0"/>
            <a:ext cx="54864" cy="5143500"/>
          </a:xfrm>
          <a:prstGeom prst="rect">
            <a:avLst/>
          </a:prstGeom>
          <a:solidFill>
            <a:srgbClr val="FF7F0E"/>
          </a:solidFill>
          <a:ln/>
        </p:spPr>
      </p:sp>
      <p:sp>
        <p:nvSpPr>
          <p:cNvPr id="4" name="Text 2"/>
          <p:cNvSpPr/>
          <p:nvPr/>
        </p:nvSpPr>
        <p:spPr>
          <a:xfrm>
            <a:off x="640080" y="1645920"/>
            <a:ext cx="7772400" cy="10972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Analysis 2</a:t>
            </a:r>
            <a:endParaRPr lang="en-US" sz="4000" dirty="0"/>
          </a:p>
        </p:txBody>
      </p:sp>
      <p:sp>
        <p:nvSpPr>
          <p:cNvPr id="5" name="Text 3"/>
          <p:cNvSpPr/>
          <p:nvPr/>
        </p:nvSpPr>
        <p:spPr>
          <a:xfrm>
            <a:off x="640080" y="2834640"/>
            <a:ext cx="77724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Financial Fundamentals Comparison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2 — Revenue &amp; Net Income (2022–2025)</a:t>
            </a:r>
            <a:endParaRPr lang="en-US" sz="2200" dirty="0"/>
          </a:p>
        </p:txBody>
      </p:sp>
      <p:pic>
        <p:nvPicPr>
          <p:cNvPr id="6" name="Image 0" descr="/sessions/zealous-optimistic-turing/mnt/Apple-vs-samsung---competitive-Financial-Market-analysis/plot4_revenue_netincome.png">    </p:cNvPr>
          <p:cNvPicPr>
            <a:picLocks noChangeAspect="1"/>
          </p:cNvPicPr>
          <p:nvPr/>
        </p:nvPicPr>
        <p:blipFill>
          <a:blip r:embed="rId1"/>
          <a:srcRect l="0" r="0" t="0" b="0"/>
          <a:stretch/>
        </p:blipFill>
        <p:spPr>
          <a:xfrm>
            <a:off x="320040" y="822960"/>
            <a:ext cx="8503920" cy="3657600"/>
          </a:xfrm>
          <a:prstGeom prst="rect">
            <a:avLst/>
          </a:prstGeom>
        </p:spPr>
      </p:pic>
      <p:sp>
        <p:nvSpPr>
          <p:cNvPr id="7" name="Shape 4"/>
          <p:cNvSpPr/>
          <p:nvPr/>
        </p:nvSpPr>
        <p:spPr>
          <a:xfrm>
            <a:off x="320040" y="4572000"/>
            <a:ext cx="4114800" cy="457200"/>
          </a:xfrm>
          <a:prstGeom prst="rect">
            <a:avLst/>
          </a:prstGeom>
          <a:solidFill>
            <a:srgbClr val="E8F0FF"/>
          </a:solidFill>
          <a:ln/>
        </p:spPr>
      </p:sp>
      <p:sp>
        <p:nvSpPr>
          <p:cNvPr id="8" name="Text 5"/>
          <p:cNvSpPr/>
          <p:nvPr/>
        </p:nvSpPr>
        <p:spPr>
          <a:xfrm>
            <a:off x="457200" y="4599432"/>
            <a:ext cx="3931920" cy="3657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Apple: Revenue stable ~$383–416B USD. Strong net income ~$94–112B.</a:t>
            </a:r>
            <a:endParaRPr lang="en-US" sz="900" dirty="0"/>
          </a:p>
        </p:txBody>
      </p:sp>
      <p:sp>
        <p:nvSpPr>
          <p:cNvPr id="9" name="Shape 6"/>
          <p:cNvSpPr/>
          <p:nvPr/>
        </p:nvSpPr>
        <p:spPr>
          <a:xfrm>
            <a:off x="4709160" y="4572000"/>
            <a:ext cx="4114800" cy="457200"/>
          </a:xfrm>
          <a:prstGeom prst="rect">
            <a:avLst/>
          </a:prstGeom>
          <a:solidFill>
            <a:srgbClr val="FFF3E8"/>
          </a:solidFill>
          <a:ln/>
        </p:spPr>
      </p:sp>
      <p:sp>
        <p:nvSpPr>
          <p:cNvPr id="10" name="Text 7"/>
          <p:cNvSpPr/>
          <p:nvPr/>
        </p:nvSpPr>
        <p:spPr>
          <a:xfrm>
            <a:off x="4846320" y="4599432"/>
            <a:ext cx="3931920" cy="3657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Samsung: Revenue dipped in 2023 (chip downturn) but recovered strongly to KRW 334T by 2025.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2 — Profit Margin Comparison</a:t>
            </a:r>
            <a:endParaRPr lang="en-US" sz="2200" dirty="0"/>
          </a:p>
        </p:txBody>
      </p:sp>
      <p:pic>
        <p:nvPicPr>
          <p:cNvPr id="6" name="Image 0" descr="/sessions/zealous-optimistic-turing/mnt/Apple-vs-samsung---competitive-Financial-Market-analysis/plot5_profit_margins.png">    </p:cNvPr>
          <p:cNvPicPr>
            <a:picLocks noChangeAspect="1"/>
          </p:cNvPicPr>
          <p:nvPr/>
        </p:nvPicPr>
        <p:blipFill>
          <a:blip r:embed="rId1"/>
          <a:srcRect l="0" r="0" t="-2778" b="-2778"/>
          <a:stretch/>
        </p:blipFill>
        <p:spPr>
          <a:xfrm>
            <a:off x="320040" y="822960"/>
            <a:ext cx="8503920" cy="347472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20040" y="4206240"/>
          <a:ext cx="8503920" cy="822960"/>
        </p:xfrm>
        <a:graphic>
          <a:graphicData uri="http://schemas.openxmlformats.org/drawingml/2006/table">
            <a:tbl>
              <a:tblPr/>
              <a:tblGrid>
                <a:gridCol w="2125980"/>
                <a:gridCol w="2125980"/>
                <a:gridCol w="2125980"/>
                <a:gridCol w="212598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2A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Apple Avg</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F77B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Samsung Avg</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7F0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Advantage</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2A4A"/>
                    </a:solidFill>
                  </a:tcPr>
                </a:tc>
              </a:tr>
              <a:tr h="20574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Gross Margin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b="1" dirty="0">
                          <a:solidFill>
                            <a:srgbClr val="000000"/>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b="1" dirty="0">
                          <a:solidFill>
                            <a:srgbClr val="1F77B4"/>
                          </a:solidFill>
                          <a:latin typeface="Calibri" pitchFamily="34" charset="0"/>
                          <a:ea typeface="Calibri" pitchFamily="34" charset="-122"/>
                          <a:cs typeface="Calibri" pitchFamily="34" charset="-120"/>
                        </a:rPr>
                        <a:t>Apple</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20574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Operating Margin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b="1" dirty="0">
                          <a:solidFill>
                            <a:srgbClr val="1F77B4"/>
                          </a:solidFill>
                          <a:latin typeface="Calibri" pitchFamily="34" charset="0"/>
                          <a:ea typeface="Calibri" pitchFamily="34" charset="-122"/>
                          <a:cs typeface="Calibri" pitchFamily="34" charset="-120"/>
                        </a:rPr>
                        <a:t>Apple</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20574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Net Margin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b="1" dirty="0">
                          <a:solidFill>
                            <a:srgbClr val="1F77B4"/>
                          </a:solidFill>
                          <a:latin typeface="Calibri" pitchFamily="34" charset="0"/>
                          <a:ea typeface="Calibri" pitchFamily="34" charset="-122"/>
                          <a:cs typeface="Calibri" pitchFamily="34" charset="-120"/>
                        </a:rPr>
                        <a:t>Apple</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2 — Cash Flow Comparison</a:t>
            </a:r>
            <a:endParaRPr lang="en-US" sz="2200" dirty="0"/>
          </a:p>
        </p:txBody>
      </p:sp>
      <p:pic>
        <p:nvPicPr>
          <p:cNvPr id="6" name="Image 0" descr="/sessions/zealous-optimistic-turing/mnt/Apple-vs-samsung---competitive-Financial-Market-analysis/plot6_cashflow.png">    </p:cNvPr>
          <p:cNvPicPr>
            <a:picLocks noChangeAspect="1"/>
          </p:cNvPicPr>
          <p:nvPr/>
        </p:nvPicPr>
        <p:blipFill>
          <a:blip r:embed="rId1"/>
          <a:srcRect l="0" r="0" t="0" b="0"/>
          <a:stretch/>
        </p:blipFill>
        <p:spPr>
          <a:xfrm>
            <a:off x="320040" y="822960"/>
            <a:ext cx="8503920" cy="3291840"/>
          </a:xfrm>
          <a:prstGeom prst="rect">
            <a:avLst/>
          </a:prstGeom>
        </p:spPr>
      </p:pic>
      <p:sp>
        <p:nvSpPr>
          <p:cNvPr id="7" name="Shape 4"/>
          <p:cNvSpPr/>
          <p:nvPr/>
        </p:nvSpPr>
        <p:spPr>
          <a:xfrm>
            <a:off x="320040" y="4224528"/>
            <a:ext cx="4206240" cy="8046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Shape 5"/>
          <p:cNvSpPr/>
          <p:nvPr/>
        </p:nvSpPr>
        <p:spPr>
          <a:xfrm>
            <a:off x="320040" y="4224528"/>
            <a:ext cx="91440" cy="804672"/>
          </a:xfrm>
          <a:prstGeom prst="rect">
            <a:avLst/>
          </a:prstGeom>
          <a:solidFill>
            <a:srgbClr val="1F77B4"/>
          </a:solidFill>
          <a:ln/>
        </p:spPr>
      </p:sp>
      <p:sp>
        <p:nvSpPr>
          <p:cNvPr id="9" name="Text 6"/>
          <p:cNvSpPr/>
          <p:nvPr/>
        </p:nvSpPr>
        <p:spPr>
          <a:xfrm>
            <a:off x="502920" y="4251960"/>
            <a:ext cx="3840480" cy="256032"/>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Apple FCF</a:t>
            </a:r>
            <a:endParaRPr lang="en-US" sz="1100" dirty="0"/>
          </a:p>
        </p:txBody>
      </p:sp>
      <p:sp>
        <p:nvSpPr>
          <p:cNvPr id="10" name="Text 7"/>
          <p:cNvSpPr/>
          <p:nvPr/>
        </p:nvSpPr>
        <p:spPr>
          <a:xfrm>
            <a:off x="502920" y="4507992"/>
            <a:ext cx="3840480" cy="45720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~$100B/year consistently. Returns capital via buybacks ($90B+/yr). World-class cash generation relative to revenue.</a:t>
            </a:r>
            <a:endParaRPr lang="en-US" sz="900" dirty="0"/>
          </a:p>
        </p:txBody>
      </p:sp>
      <p:sp>
        <p:nvSpPr>
          <p:cNvPr id="11" name="Shape 8"/>
          <p:cNvSpPr/>
          <p:nvPr/>
        </p:nvSpPr>
        <p:spPr>
          <a:xfrm>
            <a:off x="4754880" y="4224528"/>
            <a:ext cx="4206240" cy="8046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9"/>
          <p:cNvSpPr/>
          <p:nvPr/>
        </p:nvSpPr>
        <p:spPr>
          <a:xfrm>
            <a:off x="4754880" y="4224528"/>
            <a:ext cx="91440" cy="804672"/>
          </a:xfrm>
          <a:prstGeom prst="rect">
            <a:avLst/>
          </a:prstGeom>
          <a:solidFill>
            <a:srgbClr val="FF7F0E"/>
          </a:solidFill>
          <a:ln/>
        </p:spPr>
      </p:sp>
      <p:sp>
        <p:nvSpPr>
          <p:cNvPr id="13" name="Text 10"/>
          <p:cNvSpPr/>
          <p:nvPr/>
        </p:nvSpPr>
        <p:spPr>
          <a:xfrm>
            <a:off x="4937760" y="4251960"/>
            <a:ext cx="3840480" cy="256032"/>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Samsung FCF</a:t>
            </a:r>
            <a:endParaRPr lang="en-US" sz="1100" dirty="0"/>
          </a:p>
        </p:txBody>
      </p:sp>
      <p:sp>
        <p:nvSpPr>
          <p:cNvPr id="14" name="Text 11"/>
          <p:cNvSpPr/>
          <p:nvPr/>
        </p:nvSpPr>
        <p:spPr>
          <a:xfrm>
            <a:off x="4937760" y="4507992"/>
            <a:ext cx="3840480" cy="45720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Highly volatile. Turned negative in 2023 due to massive chip fab investment. Recovered sharply to positive in 2025.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1F77B4"/>
          </a:solidFill>
          <a:ln/>
        </p:spPr>
      </p:sp>
      <p:sp>
        <p:nvSpPr>
          <p:cNvPr id="3" name="Shape 1"/>
          <p:cNvSpPr/>
          <p:nvPr/>
        </p:nvSpPr>
        <p:spPr>
          <a:xfrm>
            <a:off x="228600" y="0"/>
            <a:ext cx="54864" cy="5143500"/>
          </a:xfrm>
          <a:prstGeom prst="rect">
            <a:avLst/>
          </a:prstGeom>
          <a:solidFill>
            <a:srgbClr val="FF7F0E"/>
          </a:solidFill>
          <a:ln/>
        </p:spPr>
      </p:sp>
      <p:sp>
        <p:nvSpPr>
          <p:cNvPr id="4" name="Text 2"/>
          <p:cNvSpPr/>
          <p:nvPr/>
        </p:nvSpPr>
        <p:spPr>
          <a:xfrm>
            <a:off x="640080" y="1645920"/>
            <a:ext cx="7772400" cy="10972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Analysis 3</a:t>
            </a:r>
            <a:endParaRPr lang="en-US" sz="4000" dirty="0"/>
          </a:p>
        </p:txBody>
      </p:sp>
      <p:sp>
        <p:nvSpPr>
          <p:cNvPr id="5" name="Text 3"/>
          <p:cNvSpPr/>
          <p:nvPr/>
        </p:nvSpPr>
        <p:spPr>
          <a:xfrm>
            <a:off x="640080" y="2834640"/>
            <a:ext cx="77724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Macroeconomic Regression Analysis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3 — US Macroeconomic Environment (2015–2026)</a:t>
            </a:r>
            <a:endParaRPr lang="en-US" sz="2200" dirty="0"/>
          </a:p>
        </p:txBody>
      </p:sp>
      <p:pic>
        <p:nvPicPr>
          <p:cNvPr id="6" name="Image 0" descr="/sessions/zealous-optimistic-turing/mnt/Apple-vs-samsung---competitive-Financial-Market-analysis/plot7_macro.png">    </p:cNvPr>
          <p:cNvPicPr>
            <a:picLocks noChangeAspect="1"/>
          </p:cNvPicPr>
          <p:nvPr/>
        </p:nvPicPr>
        <p:blipFill>
          <a:blip r:embed="rId1"/>
          <a:srcRect l="0" r="0" t="0" b="0"/>
          <a:stretch/>
        </p:blipFill>
        <p:spPr>
          <a:xfrm>
            <a:off x="320040" y="822960"/>
            <a:ext cx="5486400" cy="4114800"/>
          </a:xfrm>
          <a:prstGeom prst="rect">
            <a:avLst/>
          </a:prstGeom>
        </p:spPr>
      </p:pic>
      <p:sp>
        <p:nvSpPr>
          <p:cNvPr id="7" name="Shape 4"/>
          <p:cNvSpPr/>
          <p:nvPr/>
        </p:nvSpPr>
        <p:spPr>
          <a:xfrm>
            <a:off x="5989320" y="822960"/>
            <a:ext cx="283464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Shape 5"/>
          <p:cNvSpPr/>
          <p:nvPr/>
        </p:nvSpPr>
        <p:spPr>
          <a:xfrm>
            <a:off x="5989320" y="822960"/>
            <a:ext cx="2834640" cy="109728"/>
          </a:xfrm>
          <a:prstGeom prst="rect">
            <a:avLst/>
          </a:prstGeom>
          <a:solidFill>
            <a:srgbClr val="9467BD"/>
          </a:solidFill>
          <a:ln/>
        </p:spPr>
      </p:sp>
      <p:sp>
        <p:nvSpPr>
          <p:cNvPr id="9" name="Text 6"/>
          <p:cNvSpPr/>
          <p:nvPr/>
        </p:nvSpPr>
        <p:spPr>
          <a:xfrm>
            <a:off x="6126480" y="960120"/>
            <a:ext cx="2560320" cy="34747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Macro Context</a:t>
            </a:r>
            <a:endParaRPr lang="en-US" sz="1300" dirty="0"/>
          </a:p>
        </p:txBody>
      </p:sp>
      <p:sp>
        <p:nvSpPr>
          <p:cNvPr id="10" name="Text 7"/>
          <p:cNvSpPr/>
          <p:nvPr/>
        </p:nvSpPr>
        <p:spPr>
          <a:xfrm>
            <a:off x="6126480" y="1389888"/>
            <a:ext cx="2560320" cy="182880"/>
          </a:xfrm>
          <a:prstGeom prst="rect">
            <a:avLst/>
          </a:prstGeom>
          <a:noFill/>
          <a:ln/>
        </p:spPr>
        <p:txBody>
          <a:bodyPr wrap="square" lIns="0" tIns="0" rIns="0" bIns="0" rtlCol="0" anchor="ctr"/>
          <a:lstStyle/>
          <a:p>
            <a:pPr indent="0" marL="0">
              <a:buNone/>
            </a:pPr>
            <a:r>
              <a:rPr lang="en-US" sz="950" b="1" dirty="0">
                <a:solidFill>
                  <a:srgbClr val="9467BD"/>
                </a:solidFill>
                <a:latin typeface="Calibri" pitchFamily="34" charset="0"/>
                <a:ea typeface="Calibri" pitchFamily="34" charset="-122"/>
                <a:cs typeface="Calibri" pitchFamily="34" charset="-120"/>
              </a:rPr>
              <a:t>2015–2019</a:t>
            </a:r>
            <a:endParaRPr lang="en-US" sz="950" dirty="0"/>
          </a:p>
        </p:txBody>
      </p:sp>
      <p:sp>
        <p:nvSpPr>
          <p:cNvPr id="11" name="Text 8"/>
          <p:cNvSpPr/>
          <p:nvPr/>
        </p:nvSpPr>
        <p:spPr>
          <a:xfrm>
            <a:off x="6126480" y="1572768"/>
            <a:ext cx="2560320" cy="32004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Low inflation (~1–2%), gradual Fed normalization. Favorable for tech.</a:t>
            </a:r>
            <a:endParaRPr lang="en-US" sz="850" dirty="0"/>
          </a:p>
        </p:txBody>
      </p:sp>
      <p:sp>
        <p:nvSpPr>
          <p:cNvPr id="12" name="Text 9"/>
          <p:cNvSpPr/>
          <p:nvPr/>
        </p:nvSpPr>
        <p:spPr>
          <a:xfrm>
            <a:off x="6126480" y="1938528"/>
            <a:ext cx="2560320" cy="182880"/>
          </a:xfrm>
          <a:prstGeom prst="rect">
            <a:avLst/>
          </a:prstGeom>
          <a:noFill/>
          <a:ln/>
        </p:spPr>
        <p:txBody>
          <a:bodyPr wrap="square" lIns="0" tIns="0" rIns="0" bIns="0" rtlCol="0" anchor="ctr"/>
          <a:lstStyle/>
          <a:p>
            <a:pPr indent="0" marL="0">
              <a:buNone/>
            </a:pPr>
            <a:r>
              <a:rPr lang="en-US" sz="950" b="1" dirty="0">
                <a:solidFill>
                  <a:srgbClr val="9467BD"/>
                </a:solidFill>
                <a:latin typeface="Calibri" pitchFamily="34" charset="0"/>
                <a:ea typeface="Calibri" pitchFamily="34" charset="-122"/>
                <a:cs typeface="Calibri" pitchFamily="34" charset="-120"/>
              </a:rPr>
              <a:t>2020</a:t>
            </a:r>
            <a:endParaRPr lang="en-US" sz="950" dirty="0"/>
          </a:p>
        </p:txBody>
      </p:sp>
      <p:sp>
        <p:nvSpPr>
          <p:cNvPr id="13" name="Text 10"/>
          <p:cNvSpPr/>
          <p:nvPr/>
        </p:nvSpPr>
        <p:spPr>
          <a:xfrm>
            <a:off x="6126480" y="2121408"/>
            <a:ext cx="2560320" cy="32004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COVID: Fed cuts to 0%. CPI initially dipped then surged with stimulus.</a:t>
            </a:r>
            <a:endParaRPr lang="en-US" sz="850" dirty="0"/>
          </a:p>
        </p:txBody>
      </p:sp>
      <p:sp>
        <p:nvSpPr>
          <p:cNvPr id="14" name="Text 11"/>
          <p:cNvSpPr/>
          <p:nvPr/>
        </p:nvSpPr>
        <p:spPr>
          <a:xfrm>
            <a:off x="6126480" y="2487168"/>
            <a:ext cx="2560320" cy="182880"/>
          </a:xfrm>
          <a:prstGeom prst="rect">
            <a:avLst/>
          </a:prstGeom>
          <a:noFill/>
          <a:ln/>
        </p:spPr>
        <p:txBody>
          <a:bodyPr wrap="square" lIns="0" tIns="0" rIns="0" bIns="0" rtlCol="0" anchor="ctr"/>
          <a:lstStyle/>
          <a:p>
            <a:pPr indent="0" marL="0">
              <a:buNone/>
            </a:pPr>
            <a:r>
              <a:rPr lang="en-US" sz="950" b="1" dirty="0">
                <a:solidFill>
                  <a:srgbClr val="9467BD"/>
                </a:solidFill>
                <a:latin typeface="Calibri" pitchFamily="34" charset="0"/>
                <a:ea typeface="Calibri" pitchFamily="34" charset="-122"/>
                <a:cs typeface="Calibri" pitchFamily="34" charset="-120"/>
              </a:rPr>
              <a:t>2021–2022</a:t>
            </a:r>
            <a:endParaRPr lang="en-US" sz="950" dirty="0"/>
          </a:p>
        </p:txBody>
      </p:sp>
      <p:sp>
        <p:nvSpPr>
          <p:cNvPr id="15" name="Text 12"/>
          <p:cNvSpPr/>
          <p:nvPr/>
        </p:nvSpPr>
        <p:spPr>
          <a:xfrm>
            <a:off x="6126480" y="2670048"/>
            <a:ext cx="2560320" cy="32004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Inflation peaked at 9%. Fed raised rates 525bps — tech repriced sharply.</a:t>
            </a:r>
            <a:endParaRPr lang="en-US" sz="850" dirty="0"/>
          </a:p>
        </p:txBody>
      </p:sp>
      <p:sp>
        <p:nvSpPr>
          <p:cNvPr id="16" name="Text 13"/>
          <p:cNvSpPr/>
          <p:nvPr/>
        </p:nvSpPr>
        <p:spPr>
          <a:xfrm>
            <a:off x="6126480" y="3035808"/>
            <a:ext cx="2560320" cy="182880"/>
          </a:xfrm>
          <a:prstGeom prst="rect">
            <a:avLst/>
          </a:prstGeom>
          <a:noFill/>
          <a:ln/>
        </p:spPr>
        <p:txBody>
          <a:bodyPr wrap="square" lIns="0" tIns="0" rIns="0" bIns="0" rtlCol="0" anchor="ctr"/>
          <a:lstStyle/>
          <a:p>
            <a:pPr indent="0" marL="0">
              <a:buNone/>
            </a:pPr>
            <a:r>
              <a:rPr lang="en-US" sz="950" b="1" dirty="0">
                <a:solidFill>
                  <a:srgbClr val="9467BD"/>
                </a:solidFill>
                <a:latin typeface="Calibri" pitchFamily="34" charset="0"/>
                <a:ea typeface="Calibri" pitchFamily="34" charset="-122"/>
                <a:cs typeface="Calibri" pitchFamily="34" charset="-120"/>
              </a:rPr>
              <a:t>2023–2024</a:t>
            </a:r>
            <a:endParaRPr lang="en-US" sz="950" dirty="0"/>
          </a:p>
        </p:txBody>
      </p:sp>
      <p:sp>
        <p:nvSpPr>
          <p:cNvPr id="17" name="Text 14"/>
          <p:cNvSpPr/>
          <p:nvPr/>
        </p:nvSpPr>
        <p:spPr>
          <a:xfrm>
            <a:off x="6126480" y="3218688"/>
            <a:ext cx="2560320" cy="32004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Inflation cooling. Fed pivot discussions. Tech stocks rebounded.</a:t>
            </a:r>
            <a:endParaRPr lang="en-US" sz="850" dirty="0"/>
          </a:p>
        </p:txBody>
      </p:sp>
      <p:sp>
        <p:nvSpPr>
          <p:cNvPr id="18" name="Text 15"/>
          <p:cNvSpPr/>
          <p:nvPr/>
        </p:nvSpPr>
        <p:spPr>
          <a:xfrm>
            <a:off x="6126480" y="3584448"/>
            <a:ext cx="2560320" cy="182880"/>
          </a:xfrm>
          <a:prstGeom prst="rect">
            <a:avLst/>
          </a:prstGeom>
          <a:noFill/>
          <a:ln/>
        </p:spPr>
        <p:txBody>
          <a:bodyPr wrap="square" lIns="0" tIns="0" rIns="0" bIns="0" rtlCol="0" anchor="ctr"/>
          <a:lstStyle/>
          <a:p>
            <a:pPr indent="0" marL="0">
              <a:buNone/>
            </a:pPr>
            <a:r>
              <a:rPr lang="en-US" sz="950" b="1" dirty="0">
                <a:solidFill>
                  <a:srgbClr val="9467BD"/>
                </a:solidFill>
                <a:latin typeface="Calibri" pitchFamily="34" charset="0"/>
                <a:ea typeface="Calibri" pitchFamily="34" charset="-122"/>
                <a:cs typeface="Calibri" pitchFamily="34" charset="-120"/>
              </a:rPr>
              <a:t>2025–2026</a:t>
            </a:r>
            <a:endParaRPr lang="en-US" sz="950" dirty="0"/>
          </a:p>
        </p:txBody>
      </p:sp>
      <p:sp>
        <p:nvSpPr>
          <p:cNvPr id="19" name="Text 16"/>
          <p:cNvSpPr/>
          <p:nvPr/>
        </p:nvSpPr>
        <p:spPr>
          <a:xfrm>
            <a:off x="6126480" y="3767328"/>
            <a:ext cx="2560320" cy="32004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CPI near 3% target. Stable rates. Both stocks near all-time highs.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3 — Correlation Heatmap &amp; Regression Setup</a:t>
            </a:r>
            <a:endParaRPr lang="en-US" sz="2200" dirty="0"/>
          </a:p>
        </p:txBody>
      </p:sp>
      <p:pic>
        <p:nvPicPr>
          <p:cNvPr id="6" name="Image 0" descr="/sessions/zealous-optimistic-turing/mnt/Apple-vs-samsung---competitive-Financial-Market-analysis/plot10_corr_heatmap.png">    </p:cNvPr>
          <p:cNvPicPr>
            <a:picLocks noChangeAspect="1"/>
          </p:cNvPicPr>
          <p:nvPr/>
        </p:nvPicPr>
        <p:blipFill>
          <a:blip r:embed="rId1"/>
          <a:srcRect l="0" r="0" t="0" b="0"/>
          <a:stretch/>
        </p:blipFill>
        <p:spPr>
          <a:xfrm>
            <a:off x="320040" y="822960"/>
            <a:ext cx="4023360" cy="3657600"/>
          </a:xfrm>
          <a:prstGeom prst="rect">
            <a:avLst/>
          </a:prstGeom>
        </p:spPr>
      </p:pic>
      <p:sp>
        <p:nvSpPr>
          <p:cNvPr id="7" name="Shape 4"/>
          <p:cNvSpPr/>
          <p:nvPr/>
        </p:nvSpPr>
        <p:spPr>
          <a:xfrm>
            <a:off x="4572000" y="822960"/>
            <a:ext cx="425196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Shape 5"/>
          <p:cNvSpPr/>
          <p:nvPr/>
        </p:nvSpPr>
        <p:spPr>
          <a:xfrm>
            <a:off x="4572000" y="822960"/>
            <a:ext cx="4251960" cy="109728"/>
          </a:xfrm>
          <a:prstGeom prst="rect">
            <a:avLst/>
          </a:prstGeom>
          <a:solidFill>
            <a:srgbClr val="FF7F0E"/>
          </a:solidFill>
          <a:ln/>
        </p:spPr>
      </p:sp>
      <p:sp>
        <p:nvSpPr>
          <p:cNvPr id="9" name="Text 6"/>
          <p:cNvSpPr/>
          <p:nvPr/>
        </p:nvSpPr>
        <p:spPr>
          <a:xfrm>
            <a:off x="4709160" y="960120"/>
            <a:ext cx="3931920" cy="34747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OLS Regression Setup</a:t>
            </a:r>
            <a:endParaRPr lang="en-US" sz="1300" dirty="0"/>
          </a:p>
        </p:txBody>
      </p:sp>
      <p:sp>
        <p:nvSpPr>
          <p:cNvPr id="10" name="Text 7"/>
          <p:cNvSpPr/>
          <p:nvPr/>
        </p:nvSpPr>
        <p:spPr>
          <a:xfrm>
            <a:off x="4709160" y="1371600"/>
            <a:ext cx="3931920" cy="365760"/>
          </a:xfrm>
          <a:prstGeom prst="rect">
            <a:avLst/>
          </a:prstGeom>
          <a:noFill/>
          <a:ln/>
        </p:spPr>
        <p:txBody>
          <a:bodyPr wrap="square" lIns="0" tIns="0" rIns="0" bIns="0" rtlCol="0" anchor="ctr"/>
          <a:lstStyle/>
          <a:p>
            <a:pPr indent="0" marL="0">
              <a:buNone/>
            </a:pPr>
            <a:r>
              <a:rPr lang="en-US" sz="1000" i="1" dirty="0">
                <a:solidFill>
                  <a:srgbClr val="1E293B"/>
                </a:solidFill>
                <a:latin typeface="Calibri" pitchFamily="34" charset="0"/>
                <a:ea typeface="Calibri" pitchFamily="34" charset="-122"/>
                <a:cs typeface="Calibri" pitchFamily="34" charset="-120"/>
              </a:rPr>
              <a:t>Monthly Return = α + β₁ × CPI_Chg + β₂ × ΔT10Y + ε</a:t>
            </a:r>
            <a:endParaRPr lang="en-US" sz="1000" dirty="0"/>
          </a:p>
        </p:txBody>
      </p:sp>
      <p:sp>
        <p:nvSpPr>
          <p:cNvPr id="11" name="Shape 8"/>
          <p:cNvSpPr/>
          <p:nvPr/>
        </p:nvSpPr>
        <p:spPr>
          <a:xfrm>
            <a:off x="4663440" y="1828800"/>
            <a:ext cx="4023360" cy="384048"/>
          </a:xfrm>
          <a:prstGeom prst="rect">
            <a:avLst/>
          </a:prstGeom>
          <a:solidFill>
            <a:srgbClr val="F0F7FF"/>
          </a:solidFill>
          <a:ln/>
        </p:spPr>
      </p:sp>
      <p:sp>
        <p:nvSpPr>
          <p:cNvPr id="12" name="Text 9"/>
          <p:cNvSpPr/>
          <p:nvPr/>
        </p:nvSpPr>
        <p:spPr>
          <a:xfrm>
            <a:off x="4736592" y="18928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Dep. Var:</a:t>
            </a:r>
            <a:endParaRPr lang="en-US" sz="900" dirty="0"/>
          </a:p>
        </p:txBody>
      </p:sp>
      <p:sp>
        <p:nvSpPr>
          <p:cNvPr id="13" name="Text 10"/>
          <p:cNvSpPr/>
          <p:nvPr/>
        </p:nvSpPr>
        <p:spPr>
          <a:xfrm>
            <a:off x="5760720" y="18928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Monthly stock return (Apple or Samsung)</a:t>
            </a:r>
            <a:endParaRPr lang="en-US" sz="900" dirty="0"/>
          </a:p>
        </p:txBody>
      </p:sp>
      <p:sp>
        <p:nvSpPr>
          <p:cNvPr id="14" name="Shape 11"/>
          <p:cNvSpPr/>
          <p:nvPr/>
        </p:nvSpPr>
        <p:spPr>
          <a:xfrm>
            <a:off x="4663440" y="2286000"/>
            <a:ext cx="4023360" cy="384048"/>
          </a:xfrm>
          <a:prstGeom prst="rect">
            <a:avLst/>
          </a:prstGeom>
          <a:solidFill>
            <a:srgbClr val="FFFFFF"/>
          </a:solidFill>
          <a:ln/>
        </p:spPr>
      </p:sp>
      <p:sp>
        <p:nvSpPr>
          <p:cNvPr id="15" name="Text 12"/>
          <p:cNvSpPr/>
          <p:nvPr/>
        </p:nvSpPr>
        <p:spPr>
          <a:xfrm>
            <a:off x="4736592" y="23500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CPI_Chg:</a:t>
            </a:r>
            <a:endParaRPr lang="en-US" sz="900" dirty="0"/>
          </a:p>
        </p:txBody>
      </p:sp>
      <p:sp>
        <p:nvSpPr>
          <p:cNvPr id="16" name="Text 13"/>
          <p:cNvSpPr/>
          <p:nvPr/>
        </p:nvSpPr>
        <p:spPr>
          <a:xfrm>
            <a:off x="5760720" y="23500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Monthly % change in US CPI</a:t>
            </a:r>
            <a:endParaRPr lang="en-US" sz="900" dirty="0"/>
          </a:p>
        </p:txBody>
      </p:sp>
      <p:sp>
        <p:nvSpPr>
          <p:cNvPr id="17" name="Shape 14"/>
          <p:cNvSpPr/>
          <p:nvPr/>
        </p:nvSpPr>
        <p:spPr>
          <a:xfrm>
            <a:off x="4663440" y="2743200"/>
            <a:ext cx="4023360" cy="384048"/>
          </a:xfrm>
          <a:prstGeom prst="rect">
            <a:avLst/>
          </a:prstGeom>
          <a:solidFill>
            <a:srgbClr val="F0F7FF"/>
          </a:solidFill>
          <a:ln/>
        </p:spPr>
      </p:sp>
      <p:sp>
        <p:nvSpPr>
          <p:cNvPr id="18" name="Text 15"/>
          <p:cNvSpPr/>
          <p:nvPr/>
        </p:nvSpPr>
        <p:spPr>
          <a:xfrm>
            <a:off x="4736592" y="28072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ΔT10Y:</a:t>
            </a:r>
            <a:endParaRPr lang="en-US" sz="900" dirty="0"/>
          </a:p>
        </p:txBody>
      </p:sp>
      <p:sp>
        <p:nvSpPr>
          <p:cNvPr id="19" name="Text 16"/>
          <p:cNvSpPr/>
          <p:nvPr/>
        </p:nvSpPr>
        <p:spPr>
          <a:xfrm>
            <a:off x="5760720" y="28072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Monthly change in 10-yr Treasury (pp)</a:t>
            </a:r>
            <a:endParaRPr lang="en-US" sz="900" dirty="0"/>
          </a:p>
        </p:txBody>
      </p:sp>
      <p:sp>
        <p:nvSpPr>
          <p:cNvPr id="20" name="Shape 17"/>
          <p:cNvSpPr/>
          <p:nvPr/>
        </p:nvSpPr>
        <p:spPr>
          <a:xfrm>
            <a:off x="4663440" y="3200400"/>
            <a:ext cx="4023360" cy="384048"/>
          </a:xfrm>
          <a:prstGeom prst="rect">
            <a:avLst/>
          </a:prstGeom>
          <a:solidFill>
            <a:srgbClr val="FFFFFF"/>
          </a:solidFill>
          <a:ln/>
        </p:spPr>
      </p:sp>
      <p:sp>
        <p:nvSpPr>
          <p:cNvPr id="21" name="Text 18"/>
          <p:cNvSpPr/>
          <p:nvPr/>
        </p:nvSpPr>
        <p:spPr>
          <a:xfrm>
            <a:off x="4736592" y="32644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N:</a:t>
            </a:r>
            <a:endParaRPr lang="en-US" sz="900" dirty="0"/>
          </a:p>
        </p:txBody>
      </p:sp>
      <p:sp>
        <p:nvSpPr>
          <p:cNvPr id="22" name="Text 19"/>
          <p:cNvSpPr/>
          <p:nvPr/>
        </p:nvSpPr>
        <p:spPr>
          <a:xfrm>
            <a:off x="5760720" y="32644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134 monthly observations (2015–2025)</a:t>
            </a:r>
            <a:endParaRPr lang="en-US" sz="900" dirty="0"/>
          </a:p>
        </p:txBody>
      </p:sp>
      <p:sp>
        <p:nvSpPr>
          <p:cNvPr id="23" name="Shape 20"/>
          <p:cNvSpPr/>
          <p:nvPr/>
        </p:nvSpPr>
        <p:spPr>
          <a:xfrm>
            <a:off x="4663440" y="3657600"/>
            <a:ext cx="4023360" cy="384048"/>
          </a:xfrm>
          <a:prstGeom prst="rect">
            <a:avLst/>
          </a:prstGeom>
          <a:solidFill>
            <a:srgbClr val="F0F7FF"/>
          </a:solidFill>
          <a:ln/>
        </p:spPr>
      </p:sp>
      <p:sp>
        <p:nvSpPr>
          <p:cNvPr id="24" name="Text 21"/>
          <p:cNvSpPr/>
          <p:nvPr/>
        </p:nvSpPr>
        <p:spPr>
          <a:xfrm>
            <a:off x="4736592" y="37216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Method:</a:t>
            </a:r>
            <a:endParaRPr lang="en-US" sz="900" dirty="0"/>
          </a:p>
        </p:txBody>
      </p:sp>
      <p:sp>
        <p:nvSpPr>
          <p:cNvPr id="25" name="Text 22"/>
          <p:cNvSpPr/>
          <p:nvPr/>
        </p:nvSpPr>
        <p:spPr>
          <a:xfrm>
            <a:off x="5760720" y="37216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OLS via statsmodels (Python)</a:t>
            </a:r>
            <a:endParaRPr lang="en-US" sz="900" dirty="0"/>
          </a:p>
        </p:txBody>
      </p:sp>
      <p:sp>
        <p:nvSpPr>
          <p:cNvPr id="26" name="Shape 23"/>
          <p:cNvSpPr/>
          <p:nvPr/>
        </p:nvSpPr>
        <p:spPr>
          <a:xfrm>
            <a:off x="4663440" y="4114800"/>
            <a:ext cx="4023360" cy="384048"/>
          </a:xfrm>
          <a:prstGeom prst="rect">
            <a:avLst/>
          </a:prstGeom>
          <a:solidFill>
            <a:srgbClr val="FFFFFF"/>
          </a:solidFill>
          <a:ln/>
        </p:spPr>
      </p:sp>
      <p:sp>
        <p:nvSpPr>
          <p:cNvPr id="27" name="Text 24"/>
          <p:cNvSpPr/>
          <p:nvPr/>
        </p:nvSpPr>
        <p:spPr>
          <a:xfrm>
            <a:off x="4736592" y="4178808"/>
            <a:ext cx="1005840" cy="274320"/>
          </a:xfrm>
          <a:prstGeom prst="rect">
            <a:avLst/>
          </a:prstGeom>
          <a:noFill/>
          <a:ln/>
        </p:spPr>
        <p:txBody>
          <a:bodyPr wrap="square" lIns="0" tIns="0" rIns="0" bIns="0"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Hypothesis:</a:t>
            </a:r>
            <a:endParaRPr lang="en-US" sz="900" dirty="0"/>
          </a:p>
        </p:txBody>
      </p:sp>
      <p:sp>
        <p:nvSpPr>
          <p:cNvPr id="28" name="Text 25"/>
          <p:cNvSpPr/>
          <p:nvPr/>
        </p:nvSpPr>
        <p:spPr>
          <a:xfrm>
            <a:off x="5760720" y="4178808"/>
            <a:ext cx="2834640" cy="27432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Rising inflation/rates reduce growth stock returns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RQ 3 — Regression Results</a:t>
            </a:r>
            <a:endParaRPr lang="en-US" sz="2200" dirty="0"/>
          </a:p>
        </p:txBody>
      </p:sp>
      <p:pic>
        <p:nvPicPr>
          <p:cNvPr id="6" name="Image 0" descr="/sessions/zealous-optimistic-turing/mnt/Apple-vs-samsung---competitive-Financial-Market-analysis/plot9_coefficients.png">    </p:cNvPr>
          <p:cNvPicPr>
            <a:picLocks noChangeAspect="1"/>
          </p:cNvPicPr>
          <p:nvPr/>
        </p:nvPicPr>
        <p:blipFill>
          <a:blip r:embed="rId1"/>
          <a:srcRect l="0" r="0" t="-4808" b="-4808"/>
          <a:stretch/>
        </p:blipFill>
        <p:spPr>
          <a:xfrm>
            <a:off x="320040" y="822960"/>
            <a:ext cx="5029200" cy="2606040"/>
          </a:xfrm>
          <a:prstGeom prst="rect">
            <a:avLst/>
          </a:prstGeom>
        </p:spPr>
      </p:pic>
      <p:pic>
        <p:nvPicPr>
          <p:cNvPr id="7" name="Image 1" descr="/sessions/zealous-optimistic-turing/mnt/Apple-vs-samsung---competitive-Financial-Market-analysis/plot8_regression.png">    </p:cNvPr>
          <p:cNvPicPr>
            <a:picLocks noChangeAspect="1"/>
          </p:cNvPicPr>
          <p:nvPr/>
        </p:nvPicPr>
        <p:blipFill>
          <a:blip r:embed="rId2"/>
          <a:srcRect l="-7576" r="-7576" t="0" b="0"/>
          <a:stretch/>
        </p:blipFill>
        <p:spPr>
          <a:xfrm>
            <a:off x="320040" y="3273552"/>
            <a:ext cx="5029200" cy="1508760"/>
          </a:xfrm>
          <a:prstGeom prst="rect">
            <a:avLst/>
          </a:prstGeom>
        </p:spPr>
      </p:pic>
      <p:sp>
        <p:nvSpPr>
          <p:cNvPr id="8" name="Shape 4"/>
          <p:cNvSpPr/>
          <p:nvPr/>
        </p:nvSpPr>
        <p:spPr>
          <a:xfrm>
            <a:off x="5532120" y="822960"/>
            <a:ext cx="3291840" cy="42062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9" name="Shape 5"/>
          <p:cNvSpPr/>
          <p:nvPr/>
        </p:nvSpPr>
        <p:spPr>
          <a:xfrm>
            <a:off x="5532120" y="822960"/>
            <a:ext cx="3291840" cy="109728"/>
          </a:xfrm>
          <a:prstGeom prst="rect">
            <a:avLst/>
          </a:prstGeom>
          <a:solidFill>
            <a:srgbClr val="1F77B4"/>
          </a:solidFill>
          <a:ln/>
        </p:spPr>
      </p:sp>
      <p:sp>
        <p:nvSpPr>
          <p:cNvPr id="10" name="Text 6"/>
          <p:cNvSpPr/>
          <p:nvPr/>
        </p:nvSpPr>
        <p:spPr>
          <a:xfrm>
            <a:off x="5669280" y="960120"/>
            <a:ext cx="3017520" cy="3200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Regression Summary</a:t>
            </a:r>
            <a:endParaRPr lang="en-US" sz="1200" dirty="0"/>
          </a:p>
        </p:txBody>
      </p:sp>
      <p:sp>
        <p:nvSpPr>
          <p:cNvPr id="11" name="Shape 7"/>
          <p:cNvSpPr/>
          <p:nvPr/>
        </p:nvSpPr>
        <p:spPr>
          <a:xfrm>
            <a:off x="5623560" y="1389888"/>
            <a:ext cx="3063240" cy="1298448"/>
          </a:xfrm>
          <a:prstGeom prst="rect">
            <a:avLst/>
          </a:prstGeom>
          <a:solidFill>
            <a:srgbClr val="F0F7FF"/>
          </a:solidFill>
          <a:ln/>
        </p:spPr>
      </p:sp>
      <p:sp>
        <p:nvSpPr>
          <p:cNvPr id="12" name="Shape 8"/>
          <p:cNvSpPr/>
          <p:nvPr/>
        </p:nvSpPr>
        <p:spPr>
          <a:xfrm>
            <a:off x="5623560" y="1389888"/>
            <a:ext cx="73152" cy="1298448"/>
          </a:xfrm>
          <a:prstGeom prst="rect">
            <a:avLst/>
          </a:prstGeom>
          <a:solidFill>
            <a:srgbClr val="1F77B4"/>
          </a:solidFill>
          <a:ln/>
        </p:spPr>
      </p:sp>
      <p:sp>
        <p:nvSpPr>
          <p:cNvPr id="13" name="Text 9"/>
          <p:cNvSpPr/>
          <p:nvPr/>
        </p:nvSpPr>
        <p:spPr>
          <a:xfrm>
            <a:off x="5779008" y="1435608"/>
            <a:ext cx="2743200" cy="274320"/>
          </a:xfrm>
          <a:prstGeom prst="rect">
            <a:avLst/>
          </a:prstGeom>
          <a:noFill/>
          <a:ln/>
        </p:spPr>
        <p:txBody>
          <a:bodyPr wrap="square" lIns="0" tIns="0" rIns="0" bIns="0" rtlCol="0" anchor="ctr"/>
          <a:lstStyle/>
          <a:p>
            <a:pPr indent="0" marL="0">
              <a:buNone/>
            </a:pPr>
            <a:r>
              <a:rPr lang="en-US" sz="1200" b="1" dirty="0">
                <a:solidFill>
                  <a:srgbClr val="1F77B4"/>
                </a:solidFill>
                <a:latin typeface="Calibri" pitchFamily="34" charset="0"/>
                <a:ea typeface="Calibri" pitchFamily="34" charset="-122"/>
                <a:cs typeface="Calibri" pitchFamily="34" charset="-120"/>
              </a:rPr>
              <a:t>Apple</a:t>
            </a:r>
            <a:endParaRPr lang="en-US" sz="1200" dirty="0"/>
          </a:p>
        </p:txBody>
      </p:sp>
      <p:sp>
        <p:nvSpPr>
          <p:cNvPr id="14" name="Text 10"/>
          <p:cNvSpPr/>
          <p:nvPr/>
        </p:nvSpPr>
        <p:spPr>
          <a:xfrm>
            <a:off x="5779008" y="1737360"/>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R²:</a:t>
            </a:r>
            <a:endParaRPr lang="en-US" sz="850" dirty="0"/>
          </a:p>
        </p:txBody>
      </p:sp>
      <p:sp>
        <p:nvSpPr>
          <p:cNvPr id="15" name="Text 11"/>
          <p:cNvSpPr/>
          <p:nvPr/>
        </p:nvSpPr>
        <p:spPr>
          <a:xfrm>
            <a:off x="6903720" y="1737360"/>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0.016</a:t>
            </a:r>
            <a:endParaRPr lang="en-US" sz="850" dirty="0"/>
          </a:p>
        </p:txBody>
      </p:sp>
      <p:sp>
        <p:nvSpPr>
          <p:cNvPr id="16" name="Text 12"/>
          <p:cNvSpPr/>
          <p:nvPr/>
        </p:nvSpPr>
        <p:spPr>
          <a:xfrm>
            <a:off x="5779008" y="1956816"/>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F-stat p:</a:t>
            </a:r>
            <a:endParaRPr lang="en-US" sz="850" dirty="0"/>
          </a:p>
        </p:txBody>
      </p:sp>
      <p:sp>
        <p:nvSpPr>
          <p:cNvPr id="17" name="Text 13"/>
          <p:cNvSpPr/>
          <p:nvPr/>
        </p:nvSpPr>
        <p:spPr>
          <a:xfrm>
            <a:off x="6903720" y="1956816"/>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0.351</a:t>
            </a:r>
            <a:endParaRPr lang="en-US" sz="850" dirty="0"/>
          </a:p>
        </p:txBody>
      </p:sp>
      <p:sp>
        <p:nvSpPr>
          <p:cNvPr id="18" name="Text 14"/>
          <p:cNvSpPr/>
          <p:nvPr/>
        </p:nvSpPr>
        <p:spPr>
          <a:xfrm>
            <a:off x="5779008" y="2176272"/>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CPI coef:</a:t>
            </a:r>
            <a:endParaRPr lang="en-US" sz="850" dirty="0"/>
          </a:p>
        </p:txBody>
      </p:sp>
      <p:sp>
        <p:nvSpPr>
          <p:cNvPr id="19" name="Text 15"/>
          <p:cNvSpPr/>
          <p:nvPr/>
        </p:nvSpPr>
        <p:spPr>
          <a:xfrm>
            <a:off x="6903720" y="2176272"/>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+2.08 (p=0.45)</a:t>
            </a:r>
            <a:endParaRPr lang="en-US" sz="850" dirty="0"/>
          </a:p>
        </p:txBody>
      </p:sp>
      <p:sp>
        <p:nvSpPr>
          <p:cNvPr id="20" name="Text 16"/>
          <p:cNvSpPr/>
          <p:nvPr/>
        </p:nvSpPr>
        <p:spPr>
          <a:xfrm>
            <a:off x="5779008" y="2395728"/>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10Y coef:</a:t>
            </a:r>
            <a:endParaRPr lang="en-US" sz="850" dirty="0"/>
          </a:p>
        </p:txBody>
      </p:sp>
      <p:sp>
        <p:nvSpPr>
          <p:cNvPr id="21" name="Text 17"/>
          <p:cNvSpPr/>
          <p:nvPr/>
        </p:nvSpPr>
        <p:spPr>
          <a:xfrm>
            <a:off x="6903720" y="2395728"/>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–0.054 (p=0.15)</a:t>
            </a:r>
            <a:endParaRPr lang="en-US" sz="850" dirty="0"/>
          </a:p>
        </p:txBody>
      </p:sp>
      <p:sp>
        <p:nvSpPr>
          <p:cNvPr id="22" name="Shape 18"/>
          <p:cNvSpPr/>
          <p:nvPr/>
        </p:nvSpPr>
        <p:spPr>
          <a:xfrm>
            <a:off x="5623560" y="2807208"/>
            <a:ext cx="3063240" cy="1298448"/>
          </a:xfrm>
          <a:prstGeom prst="rect">
            <a:avLst/>
          </a:prstGeom>
          <a:solidFill>
            <a:srgbClr val="FFF5F0"/>
          </a:solidFill>
          <a:ln/>
        </p:spPr>
      </p:sp>
      <p:sp>
        <p:nvSpPr>
          <p:cNvPr id="23" name="Shape 19"/>
          <p:cNvSpPr/>
          <p:nvPr/>
        </p:nvSpPr>
        <p:spPr>
          <a:xfrm>
            <a:off x="5623560" y="2807208"/>
            <a:ext cx="73152" cy="1298448"/>
          </a:xfrm>
          <a:prstGeom prst="rect">
            <a:avLst/>
          </a:prstGeom>
          <a:solidFill>
            <a:srgbClr val="FF7F0E"/>
          </a:solidFill>
          <a:ln/>
        </p:spPr>
      </p:sp>
      <p:sp>
        <p:nvSpPr>
          <p:cNvPr id="24" name="Text 20"/>
          <p:cNvSpPr/>
          <p:nvPr/>
        </p:nvSpPr>
        <p:spPr>
          <a:xfrm>
            <a:off x="5779008" y="2852928"/>
            <a:ext cx="2743200" cy="274320"/>
          </a:xfrm>
          <a:prstGeom prst="rect">
            <a:avLst/>
          </a:prstGeom>
          <a:noFill/>
          <a:ln/>
        </p:spPr>
        <p:txBody>
          <a:bodyPr wrap="square" lIns="0" tIns="0" rIns="0" bIns="0" rtlCol="0" anchor="ctr"/>
          <a:lstStyle/>
          <a:p>
            <a:pPr indent="0" marL="0">
              <a:buNone/>
            </a:pPr>
            <a:r>
              <a:rPr lang="en-US" sz="1200" b="1" dirty="0">
                <a:solidFill>
                  <a:srgbClr val="FF7F0E"/>
                </a:solidFill>
                <a:latin typeface="Calibri" pitchFamily="34" charset="0"/>
                <a:ea typeface="Calibri" pitchFamily="34" charset="-122"/>
                <a:cs typeface="Calibri" pitchFamily="34" charset="-120"/>
              </a:rPr>
              <a:t>Samsung</a:t>
            </a:r>
            <a:endParaRPr lang="en-US" sz="1200" dirty="0"/>
          </a:p>
        </p:txBody>
      </p:sp>
      <p:sp>
        <p:nvSpPr>
          <p:cNvPr id="25" name="Text 21"/>
          <p:cNvSpPr/>
          <p:nvPr/>
        </p:nvSpPr>
        <p:spPr>
          <a:xfrm>
            <a:off x="5779008" y="3154680"/>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R²:</a:t>
            </a:r>
            <a:endParaRPr lang="en-US" sz="850" dirty="0"/>
          </a:p>
        </p:txBody>
      </p:sp>
      <p:sp>
        <p:nvSpPr>
          <p:cNvPr id="26" name="Text 22"/>
          <p:cNvSpPr/>
          <p:nvPr/>
        </p:nvSpPr>
        <p:spPr>
          <a:xfrm>
            <a:off x="6903720" y="3154680"/>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0.023</a:t>
            </a:r>
            <a:endParaRPr lang="en-US" sz="850" dirty="0"/>
          </a:p>
        </p:txBody>
      </p:sp>
      <p:sp>
        <p:nvSpPr>
          <p:cNvPr id="27" name="Text 23"/>
          <p:cNvSpPr/>
          <p:nvPr/>
        </p:nvSpPr>
        <p:spPr>
          <a:xfrm>
            <a:off x="5779008" y="3374136"/>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F-stat p:</a:t>
            </a:r>
            <a:endParaRPr lang="en-US" sz="850" dirty="0"/>
          </a:p>
        </p:txBody>
      </p:sp>
      <p:sp>
        <p:nvSpPr>
          <p:cNvPr id="28" name="Text 24"/>
          <p:cNvSpPr/>
          <p:nvPr/>
        </p:nvSpPr>
        <p:spPr>
          <a:xfrm>
            <a:off x="6903720" y="3374136"/>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0.211</a:t>
            </a:r>
            <a:endParaRPr lang="en-US" sz="850" dirty="0"/>
          </a:p>
        </p:txBody>
      </p:sp>
      <p:sp>
        <p:nvSpPr>
          <p:cNvPr id="29" name="Text 25"/>
          <p:cNvSpPr/>
          <p:nvPr/>
        </p:nvSpPr>
        <p:spPr>
          <a:xfrm>
            <a:off x="5779008" y="3593592"/>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CPI coef:</a:t>
            </a:r>
            <a:endParaRPr lang="en-US" sz="850" dirty="0"/>
          </a:p>
        </p:txBody>
      </p:sp>
      <p:sp>
        <p:nvSpPr>
          <p:cNvPr id="30" name="Text 26"/>
          <p:cNvSpPr/>
          <p:nvPr/>
        </p:nvSpPr>
        <p:spPr>
          <a:xfrm>
            <a:off x="6903720" y="3593592"/>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–3.36 (p=0.30)</a:t>
            </a:r>
            <a:endParaRPr lang="en-US" sz="850" dirty="0"/>
          </a:p>
        </p:txBody>
      </p:sp>
      <p:sp>
        <p:nvSpPr>
          <p:cNvPr id="31" name="Text 27"/>
          <p:cNvSpPr/>
          <p:nvPr/>
        </p:nvSpPr>
        <p:spPr>
          <a:xfrm>
            <a:off x="5779008" y="3813048"/>
            <a:ext cx="1097280" cy="18288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10Y coef:</a:t>
            </a:r>
            <a:endParaRPr lang="en-US" sz="850" dirty="0"/>
          </a:p>
        </p:txBody>
      </p:sp>
      <p:sp>
        <p:nvSpPr>
          <p:cNvPr id="32" name="Text 28"/>
          <p:cNvSpPr/>
          <p:nvPr/>
        </p:nvSpPr>
        <p:spPr>
          <a:xfrm>
            <a:off x="6903720" y="3813048"/>
            <a:ext cx="1645920" cy="182880"/>
          </a:xfrm>
          <a:prstGeom prst="rect">
            <a:avLst/>
          </a:prstGeom>
          <a:noFill/>
          <a:ln/>
        </p:spPr>
        <p:txBody>
          <a:bodyPr wrap="square" lIns="0" tIns="0" rIns="0" bIns="0" rtlCol="0" anchor="ctr"/>
          <a:lstStyle/>
          <a:p>
            <a:pPr indent="0" marL="0">
              <a:buNone/>
            </a:pPr>
            <a:r>
              <a:rPr lang="en-US" sz="850" b="1" dirty="0">
                <a:solidFill>
                  <a:srgbClr val="1E293B"/>
                </a:solidFill>
                <a:latin typeface="Calibri" pitchFamily="34" charset="0"/>
                <a:ea typeface="Calibri" pitchFamily="34" charset="-122"/>
                <a:cs typeface="Calibri" pitchFamily="34" charset="-120"/>
              </a:rPr>
              <a:t>–0.040 (p=0.37)</a:t>
            </a:r>
            <a:endParaRPr lang="en-US" sz="850" dirty="0"/>
          </a:p>
        </p:txBody>
      </p:sp>
      <p:sp>
        <p:nvSpPr>
          <p:cNvPr id="33" name="Shape 29"/>
          <p:cNvSpPr/>
          <p:nvPr/>
        </p:nvSpPr>
        <p:spPr>
          <a:xfrm>
            <a:off x="5623560" y="4224528"/>
            <a:ext cx="3063240" cy="685800"/>
          </a:xfrm>
          <a:prstGeom prst="rect">
            <a:avLst/>
          </a:prstGeom>
          <a:solidFill>
            <a:srgbClr val="FFFBF0"/>
          </a:solidFill>
          <a:ln/>
        </p:spPr>
      </p:sp>
      <p:sp>
        <p:nvSpPr>
          <p:cNvPr id="34" name="Shape 30"/>
          <p:cNvSpPr/>
          <p:nvPr/>
        </p:nvSpPr>
        <p:spPr>
          <a:xfrm>
            <a:off x="5623560" y="4224528"/>
            <a:ext cx="73152" cy="685800"/>
          </a:xfrm>
          <a:prstGeom prst="rect">
            <a:avLst/>
          </a:prstGeom>
          <a:solidFill>
            <a:srgbClr val="F0B429"/>
          </a:solidFill>
          <a:ln/>
        </p:spPr>
      </p:sp>
      <p:sp>
        <p:nvSpPr>
          <p:cNvPr id="35" name="Text 31"/>
          <p:cNvSpPr/>
          <p:nvPr/>
        </p:nvSpPr>
        <p:spPr>
          <a:xfrm>
            <a:off x="5779008" y="4270248"/>
            <a:ext cx="2834640" cy="56692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Low R² and non-significant F-stats confirm macro factors alone weakly predict returns. Firm-specific events dominate.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Discussion &amp; Key Conclusions</a:t>
            </a:r>
            <a:endParaRPr lang="en-US" sz="2200" dirty="0"/>
          </a:p>
        </p:txBody>
      </p:sp>
      <p:sp>
        <p:nvSpPr>
          <p:cNvPr id="6" name="Shape 4"/>
          <p:cNvSpPr/>
          <p:nvPr/>
        </p:nvSpPr>
        <p:spPr>
          <a:xfrm>
            <a:off x="320040" y="914400"/>
            <a:ext cx="274320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20040" y="914400"/>
            <a:ext cx="2743200" cy="109728"/>
          </a:xfrm>
          <a:prstGeom prst="rect">
            <a:avLst/>
          </a:prstGeom>
          <a:solidFill>
            <a:srgbClr val="1F77B4"/>
          </a:solidFill>
          <a:ln/>
        </p:spPr>
      </p:sp>
      <p:sp>
        <p:nvSpPr>
          <p:cNvPr id="8" name="Text 6"/>
          <p:cNvSpPr/>
          <p:nvPr/>
        </p:nvSpPr>
        <p:spPr>
          <a:xfrm>
            <a:off x="457200" y="1078992"/>
            <a:ext cx="246888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RQ 1 — Stock Performance</a:t>
            </a:r>
            <a:endParaRPr lang="en-US" sz="1100" dirty="0"/>
          </a:p>
        </p:txBody>
      </p:sp>
      <p:sp>
        <p:nvSpPr>
          <p:cNvPr id="9" name="Shape 7"/>
          <p:cNvSpPr/>
          <p:nvPr/>
        </p:nvSpPr>
        <p:spPr>
          <a:xfrm>
            <a:off x="457200" y="1618488"/>
            <a:ext cx="128016" cy="128016"/>
          </a:xfrm>
          <a:prstGeom prst="ellipse">
            <a:avLst/>
          </a:prstGeom>
          <a:solidFill>
            <a:srgbClr val="1F77B4"/>
          </a:solidFill>
          <a:ln/>
        </p:spPr>
      </p:sp>
      <p:sp>
        <p:nvSpPr>
          <p:cNvPr id="10" name="Text 8"/>
          <p:cNvSpPr/>
          <p:nvPr/>
        </p:nvSpPr>
        <p:spPr>
          <a:xfrm>
            <a:off x="640080" y="1572768"/>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Both stocks: ~1,000% total return (2015–2026)</a:t>
            </a:r>
            <a:endParaRPr lang="en-US" sz="900" dirty="0"/>
          </a:p>
        </p:txBody>
      </p:sp>
      <p:sp>
        <p:nvSpPr>
          <p:cNvPr id="11" name="Shape 9"/>
          <p:cNvSpPr/>
          <p:nvPr/>
        </p:nvSpPr>
        <p:spPr>
          <a:xfrm>
            <a:off x="457200" y="2286000"/>
            <a:ext cx="128016" cy="128016"/>
          </a:xfrm>
          <a:prstGeom prst="ellipse">
            <a:avLst/>
          </a:prstGeom>
          <a:solidFill>
            <a:srgbClr val="1F77B4"/>
          </a:solidFill>
          <a:ln/>
        </p:spPr>
      </p:sp>
      <p:sp>
        <p:nvSpPr>
          <p:cNvPr id="12" name="Text 10"/>
          <p:cNvSpPr/>
          <p:nvPr/>
        </p:nvSpPr>
        <p:spPr>
          <a:xfrm>
            <a:off x="640080" y="2240280"/>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Apple: 31.0% CAGR | Samsung: 30.5% — near-identical risk-adjusted returns</a:t>
            </a:r>
            <a:endParaRPr lang="en-US" sz="900" dirty="0"/>
          </a:p>
        </p:txBody>
      </p:sp>
      <p:sp>
        <p:nvSpPr>
          <p:cNvPr id="13" name="Shape 11"/>
          <p:cNvSpPr/>
          <p:nvPr/>
        </p:nvSpPr>
        <p:spPr>
          <a:xfrm>
            <a:off x="457200" y="2953512"/>
            <a:ext cx="128016" cy="128016"/>
          </a:xfrm>
          <a:prstGeom prst="ellipse">
            <a:avLst/>
          </a:prstGeom>
          <a:solidFill>
            <a:srgbClr val="1F77B4"/>
          </a:solidFill>
          <a:ln/>
        </p:spPr>
      </p:sp>
      <p:sp>
        <p:nvSpPr>
          <p:cNvPr id="14" name="Text 12"/>
          <p:cNvSpPr/>
          <p:nvPr/>
        </p:nvSpPr>
        <p:spPr>
          <a:xfrm>
            <a:off x="640080" y="2907792"/>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Daily return correlation very low (r=0.068) despite being direct competitors</a:t>
            </a:r>
            <a:endParaRPr lang="en-US" sz="900" dirty="0"/>
          </a:p>
        </p:txBody>
      </p:sp>
      <p:sp>
        <p:nvSpPr>
          <p:cNvPr id="15" name="Shape 13"/>
          <p:cNvSpPr/>
          <p:nvPr/>
        </p:nvSpPr>
        <p:spPr>
          <a:xfrm>
            <a:off x="457200" y="3621024"/>
            <a:ext cx="128016" cy="128016"/>
          </a:xfrm>
          <a:prstGeom prst="ellipse">
            <a:avLst/>
          </a:prstGeom>
          <a:solidFill>
            <a:srgbClr val="1F77B4"/>
          </a:solidFill>
          <a:ln/>
        </p:spPr>
      </p:sp>
      <p:sp>
        <p:nvSpPr>
          <p:cNvPr id="16" name="Text 14"/>
          <p:cNvSpPr/>
          <p:nvPr/>
        </p:nvSpPr>
        <p:spPr>
          <a:xfrm>
            <a:off x="640080" y="3575304"/>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Correlation rises during crises (COVID 2020) but time-varying</a:t>
            </a:r>
            <a:endParaRPr lang="en-US" sz="900" dirty="0"/>
          </a:p>
        </p:txBody>
      </p:sp>
      <p:sp>
        <p:nvSpPr>
          <p:cNvPr id="17" name="Shape 15"/>
          <p:cNvSpPr/>
          <p:nvPr/>
        </p:nvSpPr>
        <p:spPr>
          <a:xfrm>
            <a:off x="457200" y="4288536"/>
            <a:ext cx="128016" cy="128016"/>
          </a:xfrm>
          <a:prstGeom prst="ellipse">
            <a:avLst/>
          </a:prstGeom>
          <a:solidFill>
            <a:srgbClr val="1F77B4"/>
          </a:solidFill>
          <a:ln/>
        </p:spPr>
      </p:sp>
      <p:sp>
        <p:nvSpPr>
          <p:cNvPr id="18" name="Text 16"/>
          <p:cNvSpPr/>
          <p:nvPr/>
        </p:nvSpPr>
        <p:spPr>
          <a:xfrm>
            <a:off x="640080" y="4242816"/>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Similar volatility (~29–30%), driven by different events</a:t>
            </a:r>
            <a:endParaRPr lang="en-US" sz="900" dirty="0"/>
          </a:p>
        </p:txBody>
      </p:sp>
      <p:sp>
        <p:nvSpPr>
          <p:cNvPr id="19" name="Shape 17"/>
          <p:cNvSpPr/>
          <p:nvPr/>
        </p:nvSpPr>
        <p:spPr>
          <a:xfrm>
            <a:off x="3172968" y="914400"/>
            <a:ext cx="274320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0" name="Shape 18"/>
          <p:cNvSpPr/>
          <p:nvPr/>
        </p:nvSpPr>
        <p:spPr>
          <a:xfrm>
            <a:off x="3172968" y="914400"/>
            <a:ext cx="2743200" cy="109728"/>
          </a:xfrm>
          <a:prstGeom prst="rect">
            <a:avLst/>
          </a:prstGeom>
          <a:solidFill>
            <a:srgbClr val="FF7F0E"/>
          </a:solidFill>
          <a:ln/>
        </p:spPr>
      </p:sp>
      <p:sp>
        <p:nvSpPr>
          <p:cNvPr id="21" name="Text 19"/>
          <p:cNvSpPr/>
          <p:nvPr/>
        </p:nvSpPr>
        <p:spPr>
          <a:xfrm>
            <a:off x="3310128" y="1078992"/>
            <a:ext cx="246888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RQ 2 — Financial Fundamentals</a:t>
            </a:r>
            <a:endParaRPr lang="en-US" sz="1100" dirty="0"/>
          </a:p>
        </p:txBody>
      </p:sp>
      <p:sp>
        <p:nvSpPr>
          <p:cNvPr id="22" name="Shape 20"/>
          <p:cNvSpPr/>
          <p:nvPr/>
        </p:nvSpPr>
        <p:spPr>
          <a:xfrm>
            <a:off x="3310128" y="1618488"/>
            <a:ext cx="128016" cy="128016"/>
          </a:xfrm>
          <a:prstGeom prst="ellipse">
            <a:avLst/>
          </a:prstGeom>
          <a:solidFill>
            <a:srgbClr val="FF7F0E"/>
          </a:solidFill>
          <a:ln/>
        </p:spPr>
      </p:sp>
      <p:sp>
        <p:nvSpPr>
          <p:cNvPr id="23" name="Text 21"/>
          <p:cNvSpPr/>
          <p:nvPr/>
        </p:nvSpPr>
        <p:spPr>
          <a:xfrm>
            <a:off x="3493008" y="1572768"/>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Apple outperforms on all margin metrics (gross ~47% vs Samsung ~37%)</a:t>
            </a:r>
            <a:endParaRPr lang="en-US" sz="900" dirty="0"/>
          </a:p>
        </p:txBody>
      </p:sp>
      <p:sp>
        <p:nvSpPr>
          <p:cNvPr id="24" name="Shape 22"/>
          <p:cNvSpPr/>
          <p:nvPr/>
        </p:nvSpPr>
        <p:spPr>
          <a:xfrm>
            <a:off x="3310128" y="2286000"/>
            <a:ext cx="128016" cy="128016"/>
          </a:xfrm>
          <a:prstGeom prst="ellipse">
            <a:avLst/>
          </a:prstGeom>
          <a:solidFill>
            <a:srgbClr val="FF7F0E"/>
          </a:solidFill>
          <a:ln/>
        </p:spPr>
      </p:sp>
      <p:sp>
        <p:nvSpPr>
          <p:cNvPr id="25" name="Text 23"/>
          <p:cNvSpPr/>
          <p:nvPr/>
        </p:nvSpPr>
        <p:spPr>
          <a:xfrm>
            <a:off x="3493008" y="2240280"/>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Apple's services segment boosts margin quality and reduces cyclicality</a:t>
            </a:r>
            <a:endParaRPr lang="en-US" sz="900" dirty="0"/>
          </a:p>
        </p:txBody>
      </p:sp>
      <p:sp>
        <p:nvSpPr>
          <p:cNvPr id="26" name="Shape 24"/>
          <p:cNvSpPr/>
          <p:nvPr/>
        </p:nvSpPr>
        <p:spPr>
          <a:xfrm>
            <a:off x="3310128" y="2953512"/>
            <a:ext cx="128016" cy="128016"/>
          </a:xfrm>
          <a:prstGeom prst="ellipse">
            <a:avLst/>
          </a:prstGeom>
          <a:solidFill>
            <a:srgbClr val="FF7F0E"/>
          </a:solidFill>
          <a:ln/>
        </p:spPr>
      </p:sp>
      <p:sp>
        <p:nvSpPr>
          <p:cNvPr id="27" name="Text 25"/>
          <p:cNvSpPr/>
          <p:nvPr/>
        </p:nvSpPr>
        <p:spPr>
          <a:xfrm>
            <a:off x="3493008" y="2907792"/>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Samsung driven by semiconductor cycles — sharp 2023 downturn, strong 2025 recovery</a:t>
            </a:r>
            <a:endParaRPr lang="en-US" sz="900" dirty="0"/>
          </a:p>
        </p:txBody>
      </p:sp>
      <p:sp>
        <p:nvSpPr>
          <p:cNvPr id="28" name="Shape 26"/>
          <p:cNvSpPr/>
          <p:nvPr/>
        </p:nvSpPr>
        <p:spPr>
          <a:xfrm>
            <a:off x="3310128" y="3621024"/>
            <a:ext cx="128016" cy="128016"/>
          </a:xfrm>
          <a:prstGeom prst="ellipse">
            <a:avLst/>
          </a:prstGeom>
          <a:solidFill>
            <a:srgbClr val="FF7F0E"/>
          </a:solidFill>
          <a:ln/>
        </p:spPr>
      </p:sp>
      <p:sp>
        <p:nvSpPr>
          <p:cNvPr id="29" name="Text 27"/>
          <p:cNvSpPr/>
          <p:nvPr/>
        </p:nvSpPr>
        <p:spPr>
          <a:xfrm>
            <a:off x="3493008" y="3575304"/>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Apple FCF ~$100B/yr; Samsung's is volatile and capital-intensive</a:t>
            </a:r>
            <a:endParaRPr lang="en-US" sz="900" dirty="0"/>
          </a:p>
        </p:txBody>
      </p:sp>
      <p:sp>
        <p:nvSpPr>
          <p:cNvPr id="30" name="Shape 28"/>
          <p:cNvSpPr/>
          <p:nvPr/>
        </p:nvSpPr>
        <p:spPr>
          <a:xfrm>
            <a:off x="3310128" y="4288536"/>
            <a:ext cx="128016" cy="128016"/>
          </a:xfrm>
          <a:prstGeom prst="ellipse">
            <a:avLst/>
          </a:prstGeom>
          <a:solidFill>
            <a:srgbClr val="FF7F0E"/>
          </a:solidFill>
          <a:ln/>
        </p:spPr>
      </p:sp>
      <p:sp>
        <p:nvSpPr>
          <p:cNvPr id="31" name="Text 29"/>
          <p:cNvSpPr/>
          <p:nvPr/>
        </p:nvSpPr>
        <p:spPr>
          <a:xfrm>
            <a:off x="3493008" y="4242816"/>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Both companies improved margins in FY2025</a:t>
            </a:r>
            <a:endParaRPr lang="en-US" sz="900" dirty="0"/>
          </a:p>
        </p:txBody>
      </p:sp>
      <p:sp>
        <p:nvSpPr>
          <p:cNvPr id="32" name="Shape 30"/>
          <p:cNvSpPr/>
          <p:nvPr/>
        </p:nvSpPr>
        <p:spPr>
          <a:xfrm>
            <a:off x="6025896" y="914400"/>
            <a:ext cx="2743200" cy="41148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33" name="Shape 31"/>
          <p:cNvSpPr/>
          <p:nvPr/>
        </p:nvSpPr>
        <p:spPr>
          <a:xfrm>
            <a:off x="6025896" y="914400"/>
            <a:ext cx="2743200" cy="109728"/>
          </a:xfrm>
          <a:prstGeom prst="rect">
            <a:avLst/>
          </a:prstGeom>
          <a:solidFill>
            <a:srgbClr val="6B7280"/>
          </a:solidFill>
          <a:ln/>
        </p:spPr>
      </p:sp>
      <p:sp>
        <p:nvSpPr>
          <p:cNvPr id="34" name="Text 32"/>
          <p:cNvSpPr/>
          <p:nvPr/>
        </p:nvSpPr>
        <p:spPr>
          <a:xfrm>
            <a:off x="6163056" y="1078992"/>
            <a:ext cx="246888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RQ 3 — Macro Regression</a:t>
            </a:r>
            <a:endParaRPr lang="en-US" sz="1100" dirty="0"/>
          </a:p>
        </p:txBody>
      </p:sp>
      <p:sp>
        <p:nvSpPr>
          <p:cNvPr id="35" name="Shape 33"/>
          <p:cNvSpPr/>
          <p:nvPr/>
        </p:nvSpPr>
        <p:spPr>
          <a:xfrm>
            <a:off x="6163056" y="1618488"/>
            <a:ext cx="128016" cy="128016"/>
          </a:xfrm>
          <a:prstGeom prst="ellipse">
            <a:avLst/>
          </a:prstGeom>
          <a:solidFill>
            <a:srgbClr val="6B7280"/>
          </a:solidFill>
          <a:ln/>
        </p:spPr>
      </p:sp>
      <p:sp>
        <p:nvSpPr>
          <p:cNvPr id="36" name="Text 34"/>
          <p:cNvSpPr/>
          <p:nvPr/>
        </p:nvSpPr>
        <p:spPr>
          <a:xfrm>
            <a:off x="6345936" y="1572768"/>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Macro factors explain &lt;3% of monthly return variance</a:t>
            </a:r>
            <a:endParaRPr lang="en-US" sz="900" dirty="0"/>
          </a:p>
        </p:txBody>
      </p:sp>
      <p:sp>
        <p:nvSpPr>
          <p:cNvPr id="37" name="Shape 35"/>
          <p:cNvSpPr/>
          <p:nvPr/>
        </p:nvSpPr>
        <p:spPr>
          <a:xfrm>
            <a:off x="6163056" y="2286000"/>
            <a:ext cx="128016" cy="128016"/>
          </a:xfrm>
          <a:prstGeom prst="ellipse">
            <a:avLst/>
          </a:prstGeom>
          <a:solidFill>
            <a:srgbClr val="6B7280"/>
          </a:solidFill>
          <a:ln/>
        </p:spPr>
      </p:sp>
      <p:sp>
        <p:nvSpPr>
          <p:cNvPr id="38" name="Text 36"/>
          <p:cNvSpPr/>
          <p:nvPr/>
        </p:nvSpPr>
        <p:spPr>
          <a:xfrm>
            <a:off x="6345936" y="2240280"/>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Coefficient signs align with theory (higher rates → lower Apple returns)</a:t>
            </a:r>
            <a:endParaRPr lang="en-US" sz="900" dirty="0"/>
          </a:p>
        </p:txBody>
      </p:sp>
      <p:sp>
        <p:nvSpPr>
          <p:cNvPr id="39" name="Shape 37"/>
          <p:cNvSpPr/>
          <p:nvPr/>
        </p:nvSpPr>
        <p:spPr>
          <a:xfrm>
            <a:off x="6163056" y="2953512"/>
            <a:ext cx="128016" cy="128016"/>
          </a:xfrm>
          <a:prstGeom prst="ellipse">
            <a:avLst/>
          </a:prstGeom>
          <a:solidFill>
            <a:srgbClr val="6B7280"/>
          </a:solidFill>
          <a:ln/>
        </p:spPr>
      </p:sp>
      <p:sp>
        <p:nvSpPr>
          <p:cNvPr id="40" name="Text 38"/>
          <p:cNvSpPr/>
          <p:nvPr/>
        </p:nvSpPr>
        <p:spPr>
          <a:xfrm>
            <a:off x="6345936" y="2907792"/>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Neither model statistically significant (F-stat p &gt; 0.2)</a:t>
            </a:r>
            <a:endParaRPr lang="en-US" sz="900" dirty="0"/>
          </a:p>
        </p:txBody>
      </p:sp>
      <p:sp>
        <p:nvSpPr>
          <p:cNvPr id="41" name="Shape 39"/>
          <p:cNvSpPr/>
          <p:nvPr/>
        </p:nvSpPr>
        <p:spPr>
          <a:xfrm>
            <a:off x="6163056" y="3621024"/>
            <a:ext cx="128016" cy="128016"/>
          </a:xfrm>
          <a:prstGeom prst="ellipse">
            <a:avLst/>
          </a:prstGeom>
          <a:solidFill>
            <a:srgbClr val="6B7280"/>
          </a:solidFill>
          <a:ln/>
        </p:spPr>
      </p:sp>
      <p:sp>
        <p:nvSpPr>
          <p:cNvPr id="42" name="Text 40"/>
          <p:cNvSpPr/>
          <p:nvPr/>
        </p:nvSpPr>
        <p:spPr>
          <a:xfrm>
            <a:off x="6345936" y="3575304"/>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Firm-specific events (earnings, product launches) dominate</a:t>
            </a:r>
            <a:endParaRPr lang="en-US" sz="900" dirty="0"/>
          </a:p>
        </p:txBody>
      </p:sp>
      <p:sp>
        <p:nvSpPr>
          <p:cNvPr id="43" name="Shape 41"/>
          <p:cNvSpPr/>
          <p:nvPr/>
        </p:nvSpPr>
        <p:spPr>
          <a:xfrm>
            <a:off x="6163056" y="4288536"/>
            <a:ext cx="128016" cy="128016"/>
          </a:xfrm>
          <a:prstGeom prst="ellipse">
            <a:avLst/>
          </a:prstGeom>
          <a:solidFill>
            <a:srgbClr val="6B7280"/>
          </a:solidFill>
          <a:ln/>
        </p:spPr>
      </p:sp>
      <p:sp>
        <p:nvSpPr>
          <p:cNvPr id="44" name="Text 42"/>
          <p:cNvSpPr/>
          <p:nvPr/>
        </p:nvSpPr>
        <p:spPr>
          <a:xfrm>
            <a:off x="6345936" y="4242816"/>
            <a:ext cx="2331720" cy="594360"/>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A Fama-French model would substantially improve fit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Limitations &amp; Future Work</a:t>
            </a:r>
            <a:endParaRPr lang="en-US" sz="2200" dirty="0"/>
          </a:p>
        </p:txBody>
      </p:sp>
      <p:sp>
        <p:nvSpPr>
          <p:cNvPr id="6" name="Shape 4"/>
          <p:cNvSpPr/>
          <p:nvPr/>
        </p:nvSpPr>
        <p:spPr>
          <a:xfrm>
            <a:off x="320040" y="822960"/>
            <a:ext cx="8503920" cy="23317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20040" y="822960"/>
            <a:ext cx="8503920" cy="109728"/>
          </a:xfrm>
          <a:prstGeom prst="rect">
            <a:avLst/>
          </a:prstGeom>
          <a:solidFill>
            <a:srgbClr val="DC2626"/>
          </a:solidFill>
          <a:ln/>
        </p:spPr>
      </p:sp>
      <p:sp>
        <p:nvSpPr>
          <p:cNvPr id="8" name="Text 6"/>
          <p:cNvSpPr/>
          <p:nvPr/>
        </p:nvSpPr>
        <p:spPr>
          <a:xfrm>
            <a:off x="502920" y="960120"/>
            <a:ext cx="8046720" cy="365760"/>
          </a:xfrm>
          <a:prstGeom prst="rect">
            <a:avLst/>
          </a:prstGeom>
          <a:noFill/>
          <a:ln/>
        </p:spPr>
        <p:txBody>
          <a:bodyPr wrap="square" lIns="0" tIns="0" rIns="0" bIns="0" rtlCol="0" anchor="ctr"/>
          <a:lstStyle/>
          <a:p>
            <a:pPr indent="0" marL="0">
              <a:buNone/>
            </a:pPr>
            <a:r>
              <a:rPr lang="en-US" sz="1400" b="1" dirty="0">
                <a:solidFill>
                  <a:srgbClr val="DC2626"/>
                </a:solidFill>
                <a:latin typeface="Calibri" pitchFamily="34" charset="0"/>
                <a:ea typeface="Calibri" pitchFamily="34" charset="-122"/>
                <a:cs typeface="Calibri" pitchFamily="34" charset="-120"/>
              </a:rPr>
              <a:t>Limitations</a:t>
            </a:r>
            <a:endParaRPr lang="en-US" sz="1400" dirty="0"/>
          </a:p>
        </p:txBody>
      </p:sp>
      <p:sp>
        <p:nvSpPr>
          <p:cNvPr id="9" name="Text 7"/>
          <p:cNvSpPr/>
          <p:nvPr/>
        </p:nvSpPr>
        <p:spPr>
          <a:xfrm>
            <a:off x="502920" y="1371600"/>
            <a:ext cx="8046720" cy="169164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1. Currency Risk: Analysis doesn't adjust for USD/KRW exchange rate fluctuations, affecting cross-currency comparability.</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2. Financial Statement Coverage: Only 4–5 years of annual financials available via yfinance, limiting long-term trend analysis.</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3. Omitted Variables: Regression omits market beta, earnings surprises, and sector ETF flows.</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4. Survivorship Bias: Both firms are industry leaders; findings may not generalize to broader tech sector.</a:t>
            </a:r>
            <a:endParaRPr lang="en-US" sz="950" dirty="0"/>
          </a:p>
        </p:txBody>
      </p:sp>
      <p:sp>
        <p:nvSpPr>
          <p:cNvPr id="10" name="Shape 8"/>
          <p:cNvSpPr/>
          <p:nvPr/>
        </p:nvSpPr>
        <p:spPr>
          <a:xfrm>
            <a:off x="320040" y="3291840"/>
            <a:ext cx="8503920" cy="16916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1" name="Shape 9"/>
          <p:cNvSpPr/>
          <p:nvPr/>
        </p:nvSpPr>
        <p:spPr>
          <a:xfrm>
            <a:off x="320040" y="3291840"/>
            <a:ext cx="8503920" cy="109728"/>
          </a:xfrm>
          <a:prstGeom prst="rect">
            <a:avLst/>
          </a:prstGeom>
          <a:solidFill>
            <a:srgbClr val="16A34A"/>
          </a:solidFill>
          <a:ln/>
        </p:spPr>
      </p:sp>
      <p:sp>
        <p:nvSpPr>
          <p:cNvPr id="12" name="Text 10"/>
          <p:cNvSpPr/>
          <p:nvPr/>
        </p:nvSpPr>
        <p:spPr>
          <a:xfrm>
            <a:off x="502920" y="3429000"/>
            <a:ext cx="8046720" cy="365760"/>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Future Work</a:t>
            </a:r>
            <a:endParaRPr lang="en-US" sz="1400" dirty="0"/>
          </a:p>
        </p:txBody>
      </p:sp>
      <p:sp>
        <p:nvSpPr>
          <p:cNvPr id="13" name="Text 11"/>
          <p:cNvSpPr/>
          <p:nvPr/>
        </p:nvSpPr>
        <p:spPr>
          <a:xfrm>
            <a:off x="502920" y="3749040"/>
            <a:ext cx="8046720" cy="114300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1. Apply Fama-French 3-factor model to control for market, size, and value risk premia.</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2. Event study: analyze abnormal returns around major product launches (iPhone, Galaxy S-series).</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3. Incorporate Google Trends data as a consumer interest leading indicator.</a:t>
            </a:r>
            <a:endParaRPr lang="en-US" sz="950" dirty="0"/>
          </a:p>
          <a:p>
            <a:pPr indent="0" marL="0">
              <a:buNone/>
            </a:pPr>
            <a:r>
              <a:rPr lang="en-US" sz="950" dirty="0">
                <a:solidFill>
                  <a:srgbClr val="1E293B"/>
                </a:solidFill>
                <a:latin typeface="Calibri" pitchFamily="34" charset="0"/>
                <a:ea typeface="Calibri" pitchFamily="34" charset="-122"/>
                <a:cs typeface="Calibri" pitchFamily="34" charset="-120"/>
              </a:rPr>
              <a:t>4. Extend to a panel of smartphone sector peers (Sony, Xiaomi, TSMC) for broader competitive analysis.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Team Member Roles &amp; Contributions</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20040" y="868680"/>
          <a:ext cx="8503920" cy="4114800"/>
        </p:xfrm>
        <a:graphic>
          <a:graphicData uri="http://schemas.openxmlformats.org/drawingml/2006/table">
            <a:tbl>
              <a:tblPr/>
              <a:tblGrid>
                <a:gridCol w="1371600"/>
                <a:gridCol w="2011680"/>
                <a:gridCol w="5120640"/>
              </a:tblGrid>
              <a:tr h="6858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Member</a:t>
                      </a:r>
                      <a:endParaRPr lang="en-US" sz="11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2A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2A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Tasks</a:t>
                      </a:r>
                      <a:endParaRPr lang="en-US" sz="11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2A4A"/>
                    </a:solidFill>
                  </a:tcPr>
                </a:tc>
              </a:tr>
              <a:tr h="68580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Member 1</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Project Lead &amp; Data Collection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Defined research questions; downloaded stock and financial data using yfinance; managed project repository</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8580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Member 2</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Data Cleaning &amp; EDA</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Cleaned datasets; handled missing values; built descriptive statistics; created normalized price and volatility charts</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8580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Member 3</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Analysis 1 — Correlation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Computed Pearson correlations; built rolling correlation and annual breakdown charts; wrote RQ1 conclusions</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8580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Member 4</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Analysis 2 — Financials</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Extracted financial statements; computed margins and FCF; designed financial comparison charts; wrote RQ2 conclusions</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85800">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Member 5</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Analysis 3 &amp; Presentation</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Built macro regression models; downloaded FRED data; created regression charts; assembled presentation slides</a:t>
                      </a:r>
                      <a:endParaRPr lang="en-US" sz="1000" dirty="0">
                        <a:latin typeface="Calibri" charset="0"/>
                        <a:ea typeface="Calibri" charset="0"/>
                        <a:cs typeface="Calibri" charset="0"/>
                      </a:endParaRPr>
                    </a:p>
                  </a:txBody>
                  <a:tcPr marL="91440" marR="91440" marT="45720" marB="45720">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C"/>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B2A4A"/>
          </a:solidFill>
          <a:ln/>
        </p:spPr>
      </p:sp>
      <p:sp>
        <p:nvSpPr>
          <p:cNvPr id="3" name="Shape 1"/>
          <p:cNvSpPr/>
          <p:nvPr/>
        </p:nvSpPr>
        <p:spPr>
          <a:xfrm>
            <a:off x="8595360" y="146304"/>
            <a:ext cx="228600" cy="228600"/>
          </a:xfrm>
          <a:prstGeom prst="ellipse">
            <a:avLst/>
          </a:prstGeom>
          <a:solidFill>
            <a:srgbClr val="1F77B4"/>
          </a:solidFill>
          <a:ln/>
        </p:spPr>
      </p:sp>
      <p:sp>
        <p:nvSpPr>
          <p:cNvPr id="4" name="Shape 2"/>
          <p:cNvSpPr/>
          <p:nvPr/>
        </p:nvSpPr>
        <p:spPr>
          <a:xfrm>
            <a:off x="8823960" y="146304"/>
            <a:ext cx="228600" cy="228600"/>
          </a:xfrm>
          <a:prstGeom prst="ellipse">
            <a:avLst/>
          </a:prstGeom>
          <a:solidFill>
            <a:srgbClr val="FF7F0E"/>
          </a:solidFill>
          <a:ln/>
        </p:spPr>
      </p:sp>
      <p:sp>
        <p:nvSpPr>
          <p:cNvPr id="5" name="Text 3"/>
          <p:cNvSpPr/>
          <p:nvPr/>
        </p:nvSpPr>
        <p:spPr>
          <a:xfrm>
            <a:off x="365760" y="73152"/>
            <a:ext cx="804672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References</a:t>
            </a:r>
            <a:endParaRPr lang="en-US" sz="2200" dirty="0"/>
          </a:p>
        </p:txBody>
      </p:sp>
      <p:sp>
        <p:nvSpPr>
          <p:cNvPr id="6" name="Shape 4"/>
          <p:cNvSpPr/>
          <p:nvPr/>
        </p:nvSpPr>
        <p:spPr>
          <a:xfrm>
            <a:off x="320040" y="914400"/>
            <a:ext cx="320040" cy="365760"/>
          </a:xfrm>
          <a:prstGeom prst="rect">
            <a:avLst/>
          </a:prstGeom>
          <a:solidFill>
            <a:srgbClr val="1F77B4"/>
          </a:solidFill>
          <a:ln/>
        </p:spPr>
      </p:sp>
      <p:sp>
        <p:nvSpPr>
          <p:cNvPr id="7" name="Text 5"/>
          <p:cNvSpPr/>
          <p:nvPr/>
        </p:nvSpPr>
        <p:spPr>
          <a:xfrm>
            <a:off x="320040" y="914400"/>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6"/>
          <p:cNvSpPr/>
          <p:nvPr/>
        </p:nvSpPr>
        <p:spPr>
          <a:xfrm>
            <a:off x="713232" y="914400"/>
            <a:ext cx="8110728" cy="365760"/>
          </a:xfrm>
          <a:prstGeom prst="rect">
            <a:avLst/>
          </a:prstGeom>
          <a:solidFill>
            <a:srgbClr val="F0F4FF"/>
          </a:solidFill>
          <a:ln/>
        </p:spPr>
      </p:sp>
      <p:sp>
        <p:nvSpPr>
          <p:cNvPr id="9" name="Text 7"/>
          <p:cNvSpPr/>
          <p:nvPr/>
        </p:nvSpPr>
        <p:spPr>
          <a:xfrm>
            <a:off x="804672" y="960120"/>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Yahoo Finance. (2026). Apple Inc. (AAPL) Historical Data &amp; Financial Statements. https://finance.yahoo.com/quote/AAPL</a:t>
            </a:r>
            <a:endParaRPr lang="en-US" sz="850" dirty="0"/>
          </a:p>
        </p:txBody>
      </p:sp>
      <p:sp>
        <p:nvSpPr>
          <p:cNvPr id="10" name="Shape 8"/>
          <p:cNvSpPr/>
          <p:nvPr/>
        </p:nvSpPr>
        <p:spPr>
          <a:xfrm>
            <a:off x="320040" y="1408176"/>
            <a:ext cx="320040" cy="365760"/>
          </a:xfrm>
          <a:prstGeom prst="rect">
            <a:avLst/>
          </a:prstGeom>
          <a:solidFill>
            <a:srgbClr val="FF7F0E"/>
          </a:solidFill>
          <a:ln/>
        </p:spPr>
      </p:sp>
      <p:sp>
        <p:nvSpPr>
          <p:cNvPr id="11" name="Text 9"/>
          <p:cNvSpPr/>
          <p:nvPr/>
        </p:nvSpPr>
        <p:spPr>
          <a:xfrm>
            <a:off x="320040" y="1408176"/>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Shape 10"/>
          <p:cNvSpPr/>
          <p:nvPr/>
        </p:nvSpPr>
        <p:spPr>
          <a:xfrm>
            <a:off x="713232" y="1408176"/>
            <a:ext cx="8110728" cy="365760"/>
          </a:xfrm>
          <a:prstGeom prst="rect">
            <a:avLst/>
          </a:prstGeom>
          <a:solidFill>
            <a:srgbClr val="FFFFFF"/>
          </a:solidFill>
          <a:ln/>
        </p:spPr>
      </p:sp>
      <p:sp>
        <p:nvSpPr>
          <p:cNvPr id="13" name="Text 11"/>
          <p:cNvSpPr/>
          <p:nvPr/>
        </p:nvSpPr>
        <p:spPr>
          <a:xfrm>
            <a:off x="804672" y="1453896"/>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Yahoo Finance. (2026). Samsung Electronics (005930.KS) Historical Data. https://finance.yahoo.com/quote/005930.KS</a:t>
            </a:r>
            <a:endParaRPr lang="en-US" sz="850" dirty="0"/>
          </a:p>
        </p:txBody>
      </p:sp>
      <p:sp>
        <p:nvSpPr>
          <p:cNvPr id="14" name="Shape 12"/>
          <p:cNvSpPr/>
          <p:nvPr/>
        </p:nvSpPr>
        <p:spPr>
          <a:xfrm>
            <a:off x="320040" y="1901952"/>
            <a:ext cx="320040" cy="365760"/>
          </a:xfrm>
          <a:prstGeom prst="rect">
            <a:avLst/>
          </a:prstGeom>
          <a:solidFill>
            <a:srgbClr val="1F77B4"/>
          </a:solidFill>
          <a:ln/>
        </p:spPr>
      </p:sp>
      <p:sp>
        <p:nvSpPr>
          <p:cNvPr id="15" name="Text 13"/>
          <p:cNvSpPr/>
          <p:nvPr/>
        </p:nvSpPr>
        <p:spPr>
          <a:xfrm>
            <a:off x="320040" y="1901952"/>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Shape 14"/>
          <p:cNvSpPr/>
          <p:nvPr/>
        </p:nvSpPr>
        <p:spPr>
          <a:xfrm>
            <a:off x="713232" y="1901952"/>
            <a:ext cx="8110728" cy="365760"/>
          </a:xfrm>
          <a:prstGeom prst="rect">
            <a:avLst/>
          </a:prstGeom>
          <a:solidFill>
            <a:srgbClr val="F0F4FF"/>
          </a:solidFill>
          <a:ln/>
        </p:spPr>
      </p:sp>
      <p:sp>
        <p:nvSpPr>
          <p:cNvPr id="17" name="Text 15"/>
          <p:cNvSpPr/>
          <p:nvPr/>
        </p:nvSpPr>
        <p:spPr>
          <a:xfrm>
            <a:off x="804672" y="1947672"/>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Federal Reserve Bank of St. Louis. (2026). Consumer Price Index (CPIAUCSL). https://fred.stlouisfed.org/series/CPIAUCSL</a:t>
            </a:r>
            <a:endParaRPr lang="en-US" sz="850" dirty="0"/>
          </a:p>
        </p:txBody>
      </p:sp>
      <p:sp>
        <p:nvSpPr>
          <p:cNvPr id="18" name="Shape 16"/>
          <p:cNvSpPr/>
          <p:nvPr/>
        </p:nvSpPr>
        <p:spPr>
          <a:xfrm>
            <a:off x="320040" y="2395728"/>
            <a:ext cx="320040" cy="365760"/>
          </a:xfrm>
          <a:prstGeom prst="rect">
            <a:avLst/>
          </a:prstGeom>
          <a:solidFill>
            <a:srgbClr val="FF7F0E"/>
          </a:solidFill>
          <a:ln/>
        </p:spPr>
      </p:sp>
      <p:sp>
        <p:nvSpPr>
          <p:cNvPr id="19" name="Text 17"/>
          <p:cNvSpPr/>
          <p:nvPr/>
        </p:nvSpPr>
        <p:spPr>
          <a:xfrm>
            <a:off x="320040" y="2395728"/>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Shape 18"/>
          <p:cNvSpPr/>
          <p:nvPr/>
        </p:nvSpPr>
        <p:spPr>
          <a:xfrm>
            <a:off x="713232" y="2395728"/>
            <a:ext cx="8110728" cy="365760"/>
          </a:xfrm>
          <a:prstGeom prst="rect">
            <a:avLst/>
          </a:prstGeom>
          <a:solidFill>
            <a:srgbClr val="FFFFFF"/>
          </a:solidFill>
          <a:ln/>
        </p:spPr>
      </p:sp>
      <p:sp>
        <p:nvSpPr>
          <p:cNvPr id="21" name="Text 19"/>
          <p:cNvSpPr/>
          <p:nvPr/>
        </p:nvSpPr>
        <p:spPr>
          <a:xfrm>
            <a:off x="804672" y="2441448"/>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Federal Reserve Bank of St. Louis. (2026). 10-Year Treasury Rate (DGS10). https://fred.stlouisfed.org/series/DGS10</a:t>
            </a:r>
            <a:endParaRPr lang="en-US" sz="850" dirty="0"/>
          </a:p>
        </p:txBody>
      </p:sp>
      <p:sp>
        <p:nvSpPr>
          <p:cNvPr id="22" name="Shape 20"/>
          <p:cNvSpPr/>
          <p:nvPr/>
        </p:nvSpPr>
        <p:spPr>
          <a:xfrm>
            <a:off x="320040" y="2889504"/>
            <a:ext cx="320040" cy="365760"/>
          </a:xfrm>
          <a:prstGeom prst="rect">
            <a:avLst/>
          </a:prstGeom>
          <a:solidFill>
            <a:srgbClr val="1F77B4"/>
          </a:solidFill>
          <a:ln/>
        </p:spPr>
      </p:sp>
      <p:sp>
        <p:nvSpPr>
          <p:cNvPr id="23" name="Text 21"/>
          <p:cNvSpPr/>
          <p:nvPr/>
        </p:nvSpPr>
        <p:spPr>
          <a:xfrm>
            <a:off x="320040" y="2889504"/>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Shape 22"/>
          <p:cNvSpPr/>
          <p:nvPr/>
        </p:nvSpPr>
        <p:spPr>
          <a:xfrm>
            <a:off x="713232" y="2889504"/>
            <a:ext cx="8110728" cy="365760"/>
          </a:xfrm>
          <a:prstGeom prst="rect">
            <a:avLst/>
          </a:prstGeom>
          <a:solidFill>
            <a:srgbClr val="F0F4FF"/>
          </a:solidFill>
          <a:ln/>
        </p:spPr>
      </p:sp>
      <p:sp>
        <p:nvSpPr>
          <p:cNvPr id="25" name="Text 23"/>
          <p:cNvSpPr/>
          <p:nvPr/>
        </p:nvSpPr>
        <p:spPr>
          <a:xfrm>
            <a:off x="804672" y="2935224"/>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McKinney, W. (2010). Data Structures for Statistical Computing in Python. Proceedings of the 9th Python in Science Conference, 51–56.</a:t>
            </a:r>
            <a:endParaRPr lang="en-US" sz="850" dirty="0"/>
          </a:p>
        </p:txBody>
      </p:sp>
      <p:sp>
        <p:nvSpPr>
          <p:cNvPr id="26" name="Shape 24"/>
          <p:cNvSpPr/>
          <p:nvPr/>
        </p:nvSpPr>
        <p:spPr>
          <a:xfrm>
            <a:off x="320040" y="3383280"/>
            <a:ext cx="320040" cy="365760"/>
          </a:xfrm>
          <a:prstGeom prst="rect">
            <a:avLst/>
          </a:prstGeom>
          <a:solidFill>
            <a:srgbClr val="FF7F0E"/>
          </a:solidFill>
          <a:ln/>
        </p:spPr>
      </p:sp>
      <p:sp>
        <p:nvSpPr>
          <p:cNvPr id="27" name="Text 25"/>
          <p:cNvSpPr/>
          <p:nvPr/>
        </p:nvSpPr>
        <p:spPr>
          <a:xfrm>
            <a:off x="320040" y="3383280"/>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Shape 26"/>
          <p:cNvSpPr/>
          <p:nvPr/>
        </p:nvSpPr>
        <p:spPr>
          <a:xfrm>
            <a:off x="713232" y="3383280"/>
            <a:ext cx="8110728" cy="365760"/>
          </a:xfrm>
          <a:prstGeom prst="rect">
            <a:avLst/>
          </a:prstGeom>
          <a:solidFill>
            <a:srgbClr val="FFFFFF"/>
          </a:solidFill>
          <a:ln/>
        </p:spPr>
      </p:sp>
      <p:sp>
        <p:nvSpPr>
          <p:cNvPr id="29" name="Text 27"/>
          <p:cNvSpPr/>
          <p:nvPr/>
        </p:nvSpPr>
        <p:spPr>
          <a:xfrm>
            <a:off x="804672" y="3429000"/>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Seabold, S., &amp; Perktold, J. (2010). Statsmodels: Econometric and Statistical Modeling with Python. Proc. 9th Python in Science Conf.</a:t>
            </a:r>
            <a:endParaRPr lang="en-US" sz="850" dirty="0"/>
          </a:p>
        </p:txBody>
      </p:sp>
      <p:sp>
        <p:nvSpPr>
          <p:cNvPr id="30" name="Shape 28"/>
          <p:cNvSpPr/>
          <p:nvPr/>
        </p:nvSpPr>
        <p:spPr>
          <a:xfrm>
            <a:off x="320040" y="3877056"/>
            <a:ext cx="320040" cy="365760"/>
          </a:xfrm>
          <a:prstGeom prst="rect">
            <a:avLst/>
          </a:prstGeom>
          <a:solidFill>
            <a:srgbClr val="1F77B4"/>
          </a:solidFill>
          <a:ln/>
        </p:spPr>
      </p:sp>
      <p:sp>
        <p:nvSpPr>
          <p:cNvPr id="31" name="Text 29"/>
          <p:cNvSpPr/>
          <p:nvPr/>
        </p:nvSpPr>
        <p:spPr>
          <a:xfrm>
            <a:off x="320040" y="3877056"/>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Shape 30"/>
          <p:cNvSpPr/>
          <p:nvPr/>
        </p:nvSpPr>
        <p:spPr>
          <a:xfrm>
            <a:off x="713232" y="3877056"/>
            <a:ext cx="8110728" cy="365760"/>
          </a:xfrm>
          <a:prstGeom prst="rect">
            <a:avLst/>
          </a:prstGeom>
          <a:solidFill>
            <a:srgbClr val="F0F4FF"/>
          </a:solidFill>
          <a:ln/>
        </p:spPr>
      </p:sp>
      <p:sp>
        <p:nvSpPr>
          <p:cNvPr id="33" name="Text 31"/>
          <p:cNvSpPr/>
          <p:nvPr/>
        </p:nvSpPr>
        <p:spPr>
          <a:xfrm>
            <a:off x="804672" y="3922776"/>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Hunter, J. D. (2007). Matplotlib: A 2D Graphics Environment. Computing in Science &amp; Engineering, 9(3), 90–95.</a:t>
            </a:r>
            <a:endParaRPr lang="en-US" sz="850" dirty="0"/>
          </a:p>
        </p:txBody>
      </p:sp>
      <p:sp>
        <p:nvSpPr>
          <p:cNvPr id="34" name="Shape 32"/>
          <p:cNvSpPr/>
          <p:nvPr/>
        </p:nvSpPr>
        <p:spPr>
          <a:xfrm>
            <a:off x="320040" y="4370832"/>
            <a:ext cx="320040" cy="365760"/>
          </a:xfrm>
          <a:prstGeom prst="rect">
            <a:avLst/>
          </a:prstGeom>
          <a:solidFill>
            <a:srgbClr val="FF7F0E"/>
          </a:solidFill>
          <a:ln/>
        </p:spPr>
      </p:sp>
      <p:sp>
        <p:nvSpPr>
          <p:cNvPr id="35" name="Text 33"/>
          <p:cNvSpPr/>
          <p:nvPr/>
        </p:nvSpPr>
        <p:spPr>
          <a:xfrm>
            <a:off x="320040" y="4370832"/>
            <a:ext cx="320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Shape 34"/>
          <p:cNvSpPr/>
          <p:nvPr/>
        </p:nvSpPr>
        <p:spPr>
          <a:xfrm>
            <a:off x="713232" y="4370832"/>
            <a:ext cx="8110728" cy="365760"/>
          </a:xfrm>
          <a:prstGeom prst="rect">
            <a:avLst/>
          </a:prstGeom>
          <a:solidFill>
            <a:srgbClr val="FFFFFF"/>
          </a:solidFill>
          <a:ln/>
        </p:spPr>
      </p:sp>
      <p:sp>
        <p:nvSpPr>
          <p:cNvPr id="37" name="Text 35"/>
          <p:cNvSpPr/>
          <p:nvPr/>
        </p:nvSpPr>
        <p:spPr>
          <a:xfrm>
            <a:off x="804672" y="4416552"/>
            <a:ext cx="7927848" cy="274320"/>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Pedregosa, F., et al. (2011). Scikit-learn: Machine Learning in Python. Journal of Machine Learning Research, 12, 2825–2830.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1F77B4"/>
          </a:solidFill>
          <a:ln/>
        </p:spPr>
      </p:sp>
      <p:sp>
        <p:nvSpPr>
          <p:cNvPr id="3" name="Shape 1"/>
          <p:cNvSpPr/>
          <p:nvPr/>
        </p:nvSpPr>
        <p:spPr>
          <a:xfrm>
            <a:off x="320040" y="0"/>
            <a:ext cx="91440" cy="5143500"/>
          </a:xfrm>
          <a:prstGeom prst="rect">
            <a:avLst/>
          </a:prstGeom>
          <a:solidFill>
            <a:srgbClr val="FF7F0E"/>
          </a:solidFill>
          <a:ln/>
        </p:spPr>
      </p:sp>
      <p:sp>
        <p:nvSpPr>
          <p:cNvPr id="4" name="Text 2"/>
          <p:cNvSpPr/>
          <p:nvPr/>
        </p:nvSpPr>
        <p:spPr>
          <a:xfrm>
            <a:off x="685800" y="1188720"/>
            <a:ext cx="82296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5" name="Text 3"/>
          <p:cNvSpPr/>
          <p:nvPr/>
        </p:nvSpPr>
        <p:spPr>
          <a:xfrm>
            <a:off x="685800" y="2240280"/>
            <a:ext cx="8229600" cy="548640"/>
          </a:xfrm>
          <a:prstGeom prst="rect">
            <a:avLst/>
          </a:prstGeom>
          <a:noFill/>
          <a:ln/>
        </p:spPr>
        <p:txBody>
          <a:bodyPr wrap="square" lIns="0" tIns="0" rIns="0" bIns="0" rtlCol="0" anchor="ctr"/>
          <a:lstStyle/>
          <a:p>
            <a:pPr indent="0" marL="0">
              <a:buNone/>
            </a:pPr>
            <a:r>
              <a:rPr lang="en-US" sz="2200" i="1" dirty="0">
                <a:solidFill>
                  <a:srgbClr val="CADCFC"/>
                </a:solidFill>
                <a:latin typeface="Calibri" pitchFamily="34" charset="0"/>
                <a:ea typeface="Calibri" pitchFamily="34" charset="-122"/>
                <a:cs typeface="Calibri" pitchFamily="34" charset="-120"/>
              </a:rPr>
              <a:t>Questions &amp; Discussion</a:t>
            </a:r>
            <a:endParaRPr lang="en-US" sz="2200" dirty="0"/>
          </a:p>
        </p:txBody>
      </p:sp>
      <p:sp>
        <p:nvSpPr>
          <p:cNvPr id="6" name="Shape 4"/>
          <p:cNvSpPr/>
          <p:nvPr/>
        </p:nvSpPr>
        <p:spPr>
          <a:xfrm>
            <a:off x="685800" y="2926080"/>
            <a:ext cx="5486400" cy="0"/>
          </a:xfrm>
          <a:prstGeom prst="line">
            <a:avLst/>
          </a:prstGeom>
          <a:noFill/>
          <a:ln w="25400">
            <a:solidFill>
              <a:srgbClr val="1F77B4"/>
            </a:solidFill>
            <a:prstDash val="solid"/>
          </a:ln>
        </p:spPr>
      </p:sp>
      <p:sp>
        <p:nvSpPr>
          <p:cNvPr id="7" name="Text 5"/>
          <p:cNvSpPr/>
          <p:nvPr/>
        </p:nvSpPr>
        <p:spPr>
          <a:xfrm>
            <a:off x="685800" y="3108960"/>
            <a:ext cx="822960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Apple vs Samsung — Competitive Financial &amp; Market Analysis  |  MTH 209  |  Spring 2026</a:t>
            </a:r>
            <a:endParaRPr lang="en-US" sz="1100" dirty="0"/>
          </a:p>
        </p:txBody>
      </p:sp>
      <p:sp>
        <p:nvSpPr>
          <p:cNvPr id="8" name="Text 6"/>
          <p:cNvSpPr/>
          <p:nvPr/>
        </p:nvSpPr>
        <p:spPr>
          <a:xfrm>
            <a:off x="685800" y="3749040"/>
            <a:ext cx="2560320" cy="685800"/>
          </a:xfrm>
          <a:prstGeom prst="rect">
            <a:avLst/>
          </a:prstGeom>
          <a:noFill/>
          <a:ln/>
        </p:spPr>
        <p:txBody>
          <a:bodyPr wrap="square" lIns="0" tIns="0" rIns="0" bIns="0" rtlCol="0" anchor="ctr"/>
          <a:lstStyle/>
          <a:p>
            <a:pPr algn="ctr" indent="0" marL="0">
              <a:buNone/>
            </a:pPr>
            <a:r>
              <a:rPr lang="en-US" sz="2400" b="1" dirty="0">
                <a:solidFill>
                  <a:srgbClr val="F0B429"/>
                </a:solidFill>
                <a:latin typeface="Calibri" pitchFamily="34" charset="0"/>
                <a:ea typeface="Calibri" pitchFamily="34" charset="-122"/>
                <a:cs typeface="Calibri" pitchFamily="34" charset="-120"/>
              </a:rPr>
              <a:t>~1,000%</a:t>
            </a:r>
            <a:endParaRPr lang="en-US" sz="2400" dirty="0"/>
          </a:p>
        </p:txBody>
      </p:sp>
      <p:sp>
        <p:nvSpPr>
          <p:cNvPr id="9" name="Text 7"/>
          <p:cNvSpPr/>
          <p:nvPr/>
        </p:nvSpPr>
        <p:spPr>
          <a:xfrm>
            <a:off x="685800" y="4434840"/>
            <a:ext cx="2560320" cy="457200"/>
          </a:xfrm>
          <a:prstGeom prst="rect">
            <a:avLst/>
          </a:prstGeom>
          <a:noFill/>
          <a:ln/>
        </p:spPr>
        <p:txBody>
          <a:bodyPr wrap="square" lIns="0" tIns="0" rIns="0" bIns="0" rtlCol="0" anchor="ctr"/>
          <a:lstStyle/>
          <a:p>
            <a:pPr algn="ctr" indent="0" marL="0">
              <a:buNone/>
            </a:pPr>
            <a:r>
              <a:rPr lang="en-US" sz="900" dirty="0">
                <a:solidFill>
                  <a:srgbClr val="CADCFC"/>
                </a:solidFill>
                <a:latin typeface="Calibri" pitchFamily="34" charset="0"/>
                <a:ea typeface="Calibri" pitchFamily="34" charset="-122"/>
                <a:cs typeface="Calibri" pitchFamily="34" charset="-120"/>
              </a:rPr>
              <a:t>Total Return</a:t>
            </a:r>
            <a:endParaRPr lang="en-US" sz="900" dirty="0"/>
          </a:p>
          <a:p>
            <a:pPr algn="ctr" indent="0" marL="0">
              <a:buNone/>
            </a:pPr>
            <a:r>
              <a:rPr lang="en-US" sz="900" dirty="0">
                <a:solidFill>
                  <a:srgbClr val="CADCFC"/>
                </a:solidFill>
                <a:latin typeface="Calibri" pitchFamily="34" charset="0"/>
                <a:ea typeface="Calibri" pitchFamily="34" charset="-122"/>
                <a:cs typeface="Calibri" pitchFamily="34" charset="-120"/>
              </a:rPr>
              <a:t>Both Stocks</a:t>
            </a:r>
            <a:endParaRPr lang="en-US" sz="900" dirty="0"/>
          </a:p>
        </p:txBody>
      </p:sp>
      <p:sp>
        <p:nvSpPr>
          <p:cNvPr id="10" name="Text 8"/>
          <p:cNvSpPr/>
          <p:nvPr/>
        </p:nvSpPr>
        <p:spPr>
          <a:xfrm>
            <a:off x="3474720" y="3749040"/>
            <a:ext cx="2560320" cy="685800"/>
          </a:xfrm>
          <a:prstGeom prst="rect">
            <a:avLst/>
          </a:prstGeom>
          <a:noFill/>
          <a:ln/>
        </p:spPr>
        <p:txBody>
          <a:bodyPr wrap="square" lIns="0" tIns="0" rIns="0" bIns="0" rtlCol="0" anchor="ctr"/>
          <a:lstStyle/>
          <a:p>
            <a:pPr algn="ctr" indent="0" marL="0">
              <a:buNone/>
            </a:pPr>
            <a:r>
              <a:rPr lang="en-US" sz="2400" b="1" dirty="0">
                <a:solidFill>
                  <a:srgbClr val="F0B429"/>
                </a:solidFill>
                <a:latin typeface="Calibri" pitchFamily="34" charset="0"/>
                <a:ea typeface="Calibri" pitchFamily="34" charset="-122"/>
                <a:cs typeface="Calibri" pitchFamily="34" charset="-120"/>
              </a:rPr>
              <a:t>r = 0.068</a:t>
            </a:r>
            <a:endParaRPr lang="en-US" sz="2400" dirty="0"/>
          </a:p>
        </p:txBody>
      </p:sp>
      <p:sp>
        <p:nvSpPr>
          <p:cNvPr id="11" name="Text 9"/>
          <p:cNvSpPr/>
          <p:nvPr/>
        </p:nvSpPr>
        <p:spPr>
          <a:xfrm>
            <a:off x="3474720" y="4434840"/>
            <a:ext cx="2560320" cy="457200"/>
          </a:xfrm>
          <a:prstGeom prst="rect">
            <a:avLst/>
          </a:prstGeom>
          <a:noFill/>
          <a:ln/>
        </p:spPr>
        <p:txBody>
          <a:bodyPr wrap="square" lIns="0" tIns="0" rIns="0" bIns="0" rtlCol="0" anchor="ctr"/>
          <a:lstStyle/>
          <a:p>
            <a:pPr algn="ctr" indent="0" marL="0">
              <a:buNone/>
            </a:pPr>
            <a:r>
              <a:rPr lang="en-US" sz="900" dirty="0">
                <a:solidFill>
                  <a:srgbClr val="CADCFC"/>
                </a:solidFill>
                <a:latin typeface="Calibri" pitchFamily="34" charset="0"/>
                <a:ea typeface="Calibri" pitchFamily="34" charset="-122"/>
                <a:cs typeface="Calibri" pitchFamily="34" charset="-120"/>
              </a:rPr>
              <a:t>Return</a:t>
            </a:r>
            <a:endParaRPr lang="en-US" sz="900" dirty="0"/>
          </a:p>
          <a:p>
            <a:pPr algn="ctr" indent="0" marL="0">
              <a:buNone/>
            </a:pPr>
            <a:r>
              <a:rPr lang="en-US" sz="900" dirty="0">
                <a:solidFill>
                  <a:srgbClr val="CADCFC"/>
                </a:solidFill>
                <a:latin typeface="Calibri" pitchFamily="34" charset="0"/>
                <a:ea typeface="Calibri" pitchFamily="34" charset="-122"/>
                <a:cs typeface="Calibri" pitchFamily="34" charset="-120"/>
              </a:rPr>
              <a:t>Correlation</a:t>
            </a:r>
            <a:endParaRPr lang="en-US" sz="900" dirty="0"/>
          </a:p>
        </p:txBody>
      </p:sp>
      <p:sp>
        <p:nvSpPr>
          <p:cNvPr id="12" name="Text 10"/>
          <p:cNvSpPr/>
          <p:nvPr/>
        </p:nvSpPr>
        <p:spPr>
          <a:xfrm>
            <a:off x="6263640" y="3749040"/>
            <a:ext cx="2560320" cy="685800"/>
          </a:xfrm>
          <a:prstGeom prst="rect">
            <a:avLst/>
          </a:prstGeom>
          <a:noFill/>
          <a:ln/>
        </p:spPr>
        <p:txBody>
          <a:bodyPr wrap="square" lIns="0" tIns="0" rIns="0" bIns="0" rtlCol="0" anchor="ctr"/>
          <a:lstStyle/>
          <a:p>
            <a:pPr algn="ctr" indent="0" marL="0">
              <a:buNone/>
            </a:pPr>
            <a:r>
              <a:rPr lang="en-US" sz="2400" b="1" dirty="0">
                <a:solidFill>
                  <a:srgbClr val="F0B429"/>
                </a:solidFill>
                <a:latin typeface="Calibri" pitchFamily="34" charset="0"/>
                <a:ea typeface="Calibri" pitchFamily="34" charset="-122"/>
                <a:cs typeface="Calibri" pitchFamily="34" charset="-120"/>
              </a:rPr>
              <a:t>47% vs 37%</a:t>
            </a:r>
            <a:endParaRPr lang="en-US" sz="2400" dirty="0"/>
          </a:p>
        </p:txBody>
      </p:sp>
      <p:sp>
        <p:nvSpPr>
          <p:cNvPr id="13" name="Text 11"/>
          <p:cNvSpPr/>
          <p:nvPr/>
        </p:nvSpPr>
        <p:spPr>
          <a:xfrm>
            <a:off x="6263640" y="4434840"/>
            <a:ext cx="2560320" cy="457200"/>
          </a:xfrm>
          <a:prstGeom prst="rect">
            <a:avLst/>
          </a:prstGeom>
          <a:noFill/>
          <a:ln/>
        </p:spPr>
        <p:txBody>
          <a:bodyPr wrap="square" lIns="0" tIns="0" rIns="0" bIns="0" rtlCol="0" anchor="ctr"/>
          <a:lstStyle/>
          <a:p>
            <a:pPr algn="ctr" indent="0" marL="0">
              <a:buNone/>
            </a:pPr>
            <a:r>
              <a:rPr lang="en-US" sz="900" dirty="0">
                <a:solidFill>
                  <a:srgbClr val="CADCFC"/>
                </a:solidFill>
                <a:latin typeface="Calibri" pitchFamily="34" charset="0"/>
                <a:ea typeface="Calibri" pitchFamily="34" charset="-122"/>
                <a:cs typeface="Calibri" pitchFamily="34" charset="-120"/>
              </a:rPr>
              <a:t>Gross Margin</a:t>
            </a:r>
            <a:endParaRPr lang="en-US" sz="900" dirty="0"/>
          </a:p>
          <a:p>
            <a:pPr algn="ctr" indent="0" marL="0">
              <a:buNone/>
            </a:pPr>
            <a:r>
              <a:rPr lang="en-US" sz="900" dirty="0">
                <a:solidFill>
                  <a:srgbClr val="CADCFC"/>
                </a:solidFill>
                <a:latin typeface="Calibri" pitchFamily="34" charset="0"/>
                <a:ea typeface="Calibri" pitchFamily="34" charset="-122"/>
                <a:cs typeface="Calibri" pitchFamily="34" charset="-120"/>
              </a:rPr>
              <a:t>Apple vs Samsung</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Apple vs Samsung — Competitive Financial &amp; Market Analysis</dc:title>
  <dc:subject>PptxGenJS Presentation</dc:subject>
  <dc:creator>PptxGenJS</dc:creator>
  <cp:lastModifiedBy>PptxGenJS</cp:lastModifiedBy>
  <cp:revision>1</cp:revision>
  <dcterms:created xsi:type="dcterms:W3CDTF">2026-04-22T18:45:56Z</dcterms:created>
  <dcterms:modified xsi:type="dcterms:W3CDTF">2026-04-22T18:45:56Z</dcterms:modified>
</cp:coreProperties>
</file>