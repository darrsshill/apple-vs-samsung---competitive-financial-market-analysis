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9" r:id="rId22"/>
    <p:sldId id="257" r:id="rId3"/>
    <p:sldId id="258" r:id="rId4"/>
    <p:sldId id="259" r:id="rId5"/>
    <p:sldId id="280" r:id="rId30"/>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4297680"/>
            <a:ext cx="9144000" cy="841248"/>
          </a:xfrm>
          <a:prstGeom prst="rect">
            <a:avLst/>
          </a:prstGeom>
          <a:solidFill>
            <a:srgbClr val="243558"/>
          </a:solidFill>
          <a:ln/>
        </p:spPr>
        <p:txBody>
          <a:bodyPr/>
          <a:p/>
        </p:txBody>
      </p:sp>
      <p:sp>
        <p:nvSpPr>
          <p:cNvPr id="3" name="Shape 1"/>
          <p:cNvSpPr/>
          <p:nvPr/>
        </p:nvSpPr>
        <p:spPr>
          <a:xfrm>
            <a:off x="0" y="0"/>
            <a:ext cx="320040" cy="4297680"/>
          </a:xfrm>
          <a:prstGeom prst="rect">
            <a:avLst/>
          </a:prstGeom>
          <a:solidFill>
            <a:srgbClr val="1F77B4"/>
          </a:solidFill>
          <a:ln/>
        </p:spPr>
        <p:txBody>
          <a:bodyPr/>
          <a:p/>
        </p:txBody>
      </p:sp>
      <p:sp>
        <p:nvSpPr>
          <p:cNvPr id="4" name="Shape 2"/>
          <p:cNvSpPr/>
          <p:nvPr/>
        </p:nvSpPr>
        <p:spPr>
          <a:xfrm>
            <a:off x="320040" y="0"/>
            <a:ext cx="91440" cy="4297680"/>
          </a:xfrm>
          <a:prstGeom prst="rect">
            <a:avLst/>
          </a:prstGeom>
          <a:solidFill>
            <a:srgbClr val="FF7F0E"/>
          </a:solidFill>
          <a:ln/>
        </p:spPr>
        <p:txBody>
          <a:bodyPr/>
          <a:p/>
        </p:txBody>
      </p:sp>
      <p:sp>
        <p:nvSpPr>
          <p:cNvPr id="5" name="Text 3"/>
          <p:cNvSpPr/>
          <p:nvPr/>
        </p:nvSpPr>
        <p:spPr>
          <a:xfrm>
            <a:off x="685800" y="502920"/>
            <a:ext cx="8229600" cy="91440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Apple vs Samsung</a:t>
            </a:r>
            <a:endParaRPr lang="en-US" sz="4800" dirty="0"/>
          </a:p>
        </p:txBody>
      </p:sp>
      <p:sp>
        <p:nvSpPr>
          <p:cNvPr id="6" name="Text 4"/>
          <p:cNvSpPr/>
          <p:nvPr/>
        </p:nvSpPr>
        <p:spPr>
          <a:xfrm>
            <a:off x="685800" y="1417320"/>
            <a:ext cx="8229600" cy="640080"/>
          </a:xfrm>
          <a:prstGeom prst="rect">
            <a:avLst/>
          </a:prstGeom>
          <a:noFill/>
          <a:ln/>
        </p:spPr>
        <p:txBody>
          <a:bodyPr wrap="square" lIns="0" tIns="0" rIns="0" bIns="0" rtlCol="0" anchor="ctr"/>
          <a:lstStyle/>
          <a:p>
            <a:pPr indent="0" marL="0">
              <a:buNone/>
            </a:pPr>
            <a:r>
              <a:rPr lang="en-US" sz="2400" i="1" dirty="0">
                <a:solidFill>
                  <a:srgbClr val="CADCFC"/>
                </a:solidFill>
                <a:latin typeface="Calibri" pitchFamily="34" charset="0"/>
                <a:ea typeface="Calibri" pitchFamily="34" charset="-122"/>
                <a:cs typeface="Calibri" pitchFamily="34" charset="-120"/>
              </a:rPr>
              <a:t>Competitive Financial &amp; Market Analysis</a:t>
            </a:r>
            <a:endParaRPr lang="en-US" sz="2400" dirty="0"/>
          </a:p>
        </p:txBody>
      </p:sp>
      <p:sp>
        <p:nvSpPr>
          <p:cNvPr id="7" name="Shape 5"/>
          <p:cNvSpPr/>
          <p:nvPr/>
        </p:nvSpPr>
        <p:spPr>
          <a:xfrm>
            <a:off x="685800" y="2194560"/>
            <a:ext cx="6858000" cy="0"/>
          </a:xfrm>
          <a:prstGeom prst="line">
            <a:avLst/>
          </a:prstGeom>
          <a:noFill/>
          <a:ln w="25400">
            <a:solidFill>
              <a:srgbClr val="1F77B4"/>
            </a:solidFill>
            <a:prstDash val="solid"/>
          </a:ln>
        </p:spPr>
        <p:txBody>
          <a:bodyPr/>
          <a:p/>
        </p:txBody>
      </p:sp>
      <p:sp>
        <p:nvSpPr>
          <p:cNvPr id="8" name="Text 6"/>
          <p:cNvSpPr/>
          <p:nvPr/>
        </p:nvSpPr>
        <p:spPr>
          <a:xfrm>
            <a:off x="685800" y="2377440"/>
            <a:ext cx="8229600" cy="457200"/>
          </a:xfrm>
          <a:prstGeom prst="rect">
            <a:avLst/>
          </a:prstGeom>
          <a:noFill/>
          <a:ln/>
        </p:spPr>
        <p:txBody>
          <a:bodyPr wrap="square" lIns="0" tIns="0" rIns="0" bIns="0" rtlCol="0" anchor="ctr"/>
          <a:lstStyle/>
          <a:p>
            <a:pPr indent="0" marL="0">
              <a:buNone/>
            </a:pPr>
            <a:r>
              <a:rPr lang="en-US" sz="1400" b="1" dirty="0">
                <a:solidFill>
                  <a:srgbClr val="F0B429"/>
                </a:solidFill>
                <a:latin typeface="Calibri" pitchFamily="34" charset="0"/>
                <a:ea typeface="Calibri" pitchFamily="34" charset="-122"/>
                <a:cs typeface="Calibri" pitchFamily="34" charset="-120"/>
              </a:rPr>
              <a:t>Data Sources: </a:t>
            </a:r>
            <a:pPr indent="0" marL="0">
              <a:buNone/>
            </a:pPr>
            <a:r>
              <a:rPr lang="en-US" sz="1400" dirty="0">
                <a:solidFill>
                  <a:srgbClr val="CADCFC"/>
                </a:solidFill>
                <a:latin typeface="Calibri" pitchFamily="34" charset="0"/>
                <a:ea typeface="Calibri" pitchFamily="34" charset="-122"/>
                <a:cs typeface="Calibri" pitchFamily="34" charset="-120"/>
              </a:rPr>
              <a:t>Yahoo Finance (yfinance)  |  FRED (Federal Reserve)</a:t>
            </a:r>
            <a:endParaRPr lang="en-US" sz="1400" dirty="0"/>
          </a:p>
        </p:txBody>
      </p:sp>
      <p:sp>
        <p:nvSpPr>
          <p:cNvPr id="9" name="Text 7"/>
          <p:cNvSpPr/>
          <p:nvPr/>
        </p:nvSpPr>
        <p:spPr>
          <a:xfrm>
            <a:off x="685800" y="2788920"/>
            <a:ext cx="8229600" cy="411480"/>
          </a:xfrm>
          <a:prstGeom prst="rect">
            <a:avLst/>
          </a:prstGeom>
          <a:noFill/>
          <a:ln/>
        </p:spPr>
        <p:txBody>
          <a:bodyPr wrap="square" lIns="0" tIns="0" rIns="0" bIns="0" rtlCol="0" anchor="ctr"/>
          <a:lstStyle/>
          <a:p>
            <a:pPr indent="0" marL="0">
              <a:buNone/>
            </a:pPr>
            <a:r>
              <a:rPr lang="en-US" sz="1400" b="1" dirty="0">
                <a:solidFill>
                  <a:srgbClr val="F0B429"/>
                </a:solidFill>
                <a:latin typeface="Calibri" pitchFamily="34" charset="0"/>
                <a:ea typeface="Calibri" pitchFamily="34" charset="-122"/>
                <a:cs typeface="Calibri" pitchFamily="34" charset="-120"/>
              </a:rPr>
              <a:t>Coverage: </a:t>
            </a:r>
            <a:pPr indent="0" marL="0">
              <a:buNone/>
            </a:pPr>
            <a:r>
              <a:rPr lang="en-US" sz="1400" dirty="0">
                <a:solidFill>
                  <a:srgbClr val="CADCFC"/>
                </a:solidFill>
                <a:latin typeface="Calibri" pitchFamily="34" charset="0"/>
                <a:ea typeface="Calibri" pitchFamily="34" charset="-122"/>
                <a:cs typeface="Calibri" pitchFamily="34" charset="-120"/>
              </a:rPr>
              <a:t>January 2015 – April 2026</a:t>
            </a:r>
            <a:endParaRPr lang="en-US" sz="1400" dirty="0"/>
          </a:p>
        </p:txBody>
      </p:sp>
      <p:sp>
        <p:nvSpPr>
          <p:cNvPr id="10" name="Text 8"/>
          <p:cNvSpPr/>
          <p:nvPr/>
        </p:nvSpPr>
        <p:spPr>
          <a:xfrm>
            <a:off x="685800" y="3200400"/>
            <a:ext cx="8229600" cy="411480"/>
          </a:xfrm>
          <a:prstGeom prst="rect">
            <a:avLst/>
          </a:prstGeom>
          <a:noFill/>
          <a:ln/>
        </p:spPr>
        <p:txBody>
          <a:bodyPr wrap="square" lIns="0" tIns="0" rIns="0" bIns="0" rtlCol="0" anchor="ctr"/>
          <a:lstStyle/>
          <a:p>
            <a:pPr indent="0" marL="0">
              <a:buNone/>
            </a:pPr>
            <a:r>
              <a:rPr lang="en-US" sz="1400" b="1" dirty="0">
                <a:solidFill>
                  <a:srgbClr val="F0B429"/>
                </a:solidFill>
                <a:latin typeface="Calibri" pitchFamily="34" charset="0"/>
                <a:ea typeface="Calibri" pitchFamily="34" charset="-122"/>
                <a:cs typeface="Calibri" pitchFamily="34" charset="-120"/>
              </a:rPr>
              <a:t>Companies: </a:t>
            </a:r>
            <a:pPr indent="0" marL="0">
              <a:buNone/>
            </a:pPr>
            <a:r>
              <a:rPr lang="en-US" sz="1400" dirty="0">
                <a:solidFill>
                  <a:srgbClr val="CADCFC"/>
                </a:solidFill>
                <a:latin typeface="Calibri" pitchFamily="34" charset="0"/>
                <a:ea typeface="Calibri" pitchFamily="34" charset="-122"/>
                <a:cs typeface="Calibri" pitchFamily="34" charset="-120"/>
              </a:rPr>
              <a:t>Apple Inc. (AAPL, NASDAQ)  |  Samsung Electronics (005930.KS, KRX)</a:t>
            </a:r>
            <a:endParaRPr lang="en-US" sz="1400" dirty="0"/>
          </a:p>
        </p:txBody>
      </p:sp>
      <p:sp>
        <p:nvSpPr>
          <p:cNvPr id="11" name="Text 9"/>
          <p:cNvSpPr/>
          <p:nvPr/>
        </p:nvSpPr>
        <p:spPr>
          <a:xfrm>
            <a:off x="365760" y="4389120"/>
            <a:ext cx="5486400" cy="45720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  Spring 2026  |  Group Project</a:t>
            </a:r>
            <a:endParaRPr lang="en-US" sz="12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F44"/>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A6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3400">
                <a:solidFill>
                  <a:srgbClr val="FFFFFF"/>
                </a:solidFill>
              </a:rPr>
              <a:t>Meet the Team</a:t>
            </a:r>
          </a:p>
        </p:txBody>
      </p:sp>
      <p:sp>
        <p:nvSpPr>
          <p:cNvPr id="3" name="TextBox 2"/>
          <p:cNvSpPr txBox="1"/>
          <p:nvPr/>
        </p:nvSpPr>
        <p:spPr>
          <a:xfrm>
            <a:off x="457200" y="1143000"/>
            <a:ext cx="11277295" cy="365760"/>
          </a:xfrm>
          <a:prstGeom prst="rect">
            <a:avLst/>
          </a:prstGeom>
          <a:noFill/>
        </p:spPr>
        <p:txBody>
          <a:bodyPr wrap="none">
            <a:spAutoFit/>
          </a:bodyPr>
          <a:lstStyle/>
          <a:p>
            <a:pPr algn="ctr"/>
            <a:r>
              <a:rPr sz="1300" i="1">
                <a:solidFill>
                  <a:srgbClr val="AAAAAA"/>
                </a:solidFill>
              </a:rPr>
              <a:t>Apple vs Samsung — Competitive Financial &amp; Market Analysis</a:t>
            </a:r>
          </a:p>
        </p:txBody>
      </p:sp>
      <p:sp>
        <p:nvSpPr>
          <p:cNvPr id="4" name="Rectangle 3"/>
          <p:cNvSpPr/>
          <p:nvPr/>
        </p:nvSpPr>
        <p:spPr>
          <a:xfrm>
            <a:off x="723747" y="1691640"/>
            <a:ext cx="2377440" cy="3474720"/>
          </a:xfrm>
          <a:prstGeom prst="rect">
            <a:avLst/>
          </a:prstGeom>
          <a:solidFill>
            <a:srgbClr val="F0F4FA"/>
          </a:solidFill>
          <a:ln w="19050">
            <a:solidFill>
              <a:srgbClr val="1A6B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409547" y="1920240"/>
            <a:ext cx="1005840" cy="1005840"/>
          </a:xfrm>
          <a:prstGeom prst="ellipse">
            <a:avLst/>
          </a:prstGeom>
          <a:solidFill>
            <a:srgbClr val="1A6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800">
                <a:solidFill>
                  <a:srgbClr val="FFFFFF"/>
                </a:solidFill>
              </a:rPr>
              <a:t>AA</a:t>
            </a:r>
          </a:p>
        </p:txBody>
      </p:sp>
      <p:sp>
        <p:nvSpPr>
          <p:cNvPr id="6" name="TextBox 5"/>
          <p:cNvSpPr txBox="1"/>
          <p:nvPr/>
        </p:nvSpPr>
        <p:spPr>
          <a:xfrm>
            <a:off x="815187" y="3063240"/>
            <a:ext cx="2194560" cy="731520"/>
          </a:xfrm>
          <a:prstGeom prst="rect">
            <a:avLst/>
          </a:prstGeom>
          <a:noFill/>
        </p:spPr>
        <p:txBody>
          <a:bodyPr wrap="none">
            <a:spAutoFit/>
          </a:bodyPr>
          <a:lstStyle/>
          <a:p>
            <a:pPr algn="ctr"/>
            <a:r>
              <a:rPr b="1" sz="1400">
                <a:solidFill>
                  <a:srgbClr val="0A1F44"/>
                </a:solidFill>
              </a:rPr>
              <a:t>Apurva Awate</a:t>
            </a:r>
          </a:p>
        </p:txBody>
      </p:sp>
      <p:sp>
        <p:nvSpPr>
          <p:cNvPr id="7" name="Rectangle 6"/>
          <p:cNvSpPr/>
          <p:nvPr/>
        </p:nvSpPr>
        <p:spPr>
          <a:xfrm>
            <a:off x="3512667" y="1691640"/>
            <a:ext cx="2377440" cy="3474720"/>
          </a:xfrm>
          <a:prstGeom prst="rect">
            <a:avLst/>
          </a:prstGeom>
          <a:solidFill>
            <a:srgbClr val="F0F4FA"/>
          </a:solidFill>
          <a:ln w="19050">
            <a:solidFill>
              <a:srgbClr val="1A6B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4198467" y="1920240"/>
            <a:ext cx="1005840" cy="1005840"/>
          </a:xfrm>
          <a:prstGeom prst="ellipse">
            <a:avLst/>
          </a:prstGeom>
          <a:solidFill>
            <a:srgbClr val="1A6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800">
                <a:solidFill>
                  <a:srgbClr val="FFFFFF"/>
                </a:solidFill>
              </a:rPr>
              <a:t>DG</a:t>
            </a:r>
          </a:p>
        </p:txBody>
      </p:sp>
      <p:sp>
        <p:nvSpPr>
          <p:cNvPr id="9" name="TextBox 8"/>
          <p:cNvSpPr txBox="1"/>
          <p:nvPr/>
        </p:nvSpPr>
        <p:spPr>
          <a:xfrm>
            <a:off x="3604107" y="3063240"/>
            <a:ext cx="2194560" cy="731520"/>
          </a:xfrm>
          <a:prstGeom prst="rect">
            <a:avLst/>
          </a:prstGeom>
          <a:noFill/>
        </p:spPr>
        <p:txBody>
          <a:bodyPr wrap="none">
            <a:spAutoFit/>
          </a:bodyPr>
          <a:lstStyle/>
          <a:p>
            <a:pPr algn="ctr"/>
            <a:r>
              <a:rPr b="1" sz="1400">
                <a:solidFill>
                  <a:srgbClr val="0A1F44"/>
                </a:solidFill>
              </a:rPr>
              <a:t>Darshil Gandhi</a:t>
            </a:r>
          </a:p>
        </p:txBody>
      </p:sp>
      <p:sp>
        <p:nvSpPr>
          <p:cNvPr id="10" name="Rectangle 9"/>
          <p:cNvSpPr/>
          <p:nvPr/>
        </p:nvSpPr>
        <p:spPr>
          <a:xfrm>
            <a:off x="6301587" y="1691640"/>
            <a:ext cx="2377440" cy="3474720"/>
          </a:xfrm>
          <a:prstGeom prst="rect">
            <a:avLst/>
          </a:prstGeom>
          <a:solidFill>
            <a:srgbClr val="F0F4FA"/>
          </a:solidFill>
          <a:ln w="19050">
            <a:solidFill>
              <a:srgbClr val="1A6B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987387" y="1920240"/>
            <a:ext cx="1005840" cy="1005840"/>
          </a:xfrm>
          <a:prstGeom prst="ellipse">
            <a:avLst/>
          </a:prstGeom>
          <a:solidFill>
            <a:srgbClr val="1A6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800">
                <a:solidFill>
                  <a:srgbClr val="FFFFFF"/>
                </a:solidFill>
              </a:rPr>
              <a:t>SM</a:t>
            </a:r>
          </a:p>
        </p:txBody>
      </p:sp>
      <p:sp>
        <p:nvSpPr>
          <p:cNvPr id="12" name="TextBox 11"/>
          <p:cNvSpPr txBox="1"/>
          <p:nvPr/>
        </p:nvSpPr>
        <p:spPr>
          <a:xfrm>
            <a:off x="6393027" y="3063240"/>
            <a:ext cx="2194560" cy="731520"/>
          </a:xfrm>
          <a:prstGeom prst="rect">
            <a:avLst/>
          </a:prstGeom>
          <a:noFill/>
        </p:spPr>
        <p:txBody>
          <a:bodyPr wrap="none">
            <a:spAutoFit/>
          </a:bodyPr>
          <a:lstStyle/>
          <a:p>
            <a:pPr algn="ctr"/>
            <a:r>
              <a:rPr b="1" sz="1400">
                <a:solidFill>
                  <a:srgbClr val="0A1F44"/>
                </a:solidFill>
              </a:rPr>
              <a:t>Sony Maharjan</a:t>
            </a:r>
          </a:p>
        </p:txBody>
      </p:sp>
      <p:sp>
        <p:nvSpPr>
          <p:cNvPr id="13" name="Rectangle 12"/>
          <p:cNvSpPr/>
          <p:nvPr/>
        </p:nvSpPr>
        <p:spPr>
          <a:xfrm>
            <a:off x="9090507" y="1691640"/>
            <a:ext cx="2377440" cy="3474720"/>
          </a:xfrm>
          <a:prstGeom prst="rect">
            <a:avLst/>
          </a:prstGeom>
          <a:solidFill>
            <a:srgbClr val="F0F4FA"/>
          </a:solidFill>
          <a:ln w="19050">
            <a:solidFill>
              <a:srgbClr val="1A6B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76307" y="1920240"/>
            <a:ext cx="1005840" cy="1005840"/>
          </a:xfrm>
          <a:prstGeom prst="ellipse">
            <a:avLst/>
          </a:prstGeom>
          <a:solidFill>
            <a:srgbClr val="1A6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800">
                <a:solidFill>
                  <a:srgbClr val="FFFFFF"/>
                </a:solidFill>
              </a:rPr>
              <a:t>GR</a:t>
            </a:r>
          </a:p>
        </p:txBody>
      </p:sp>
      <p:sp>
        <p:nvSpPr>
          <p:cNvPr id="15" name="TextBox 14"/>
          <p:cNvSpPr txBox="1"/>
          <p:nvPr/>
        </p:nvSpPr>
        <p:spPr>
          <a:xfrm>
            <a:off x="9181947" y="3063240"/>
            <a:ext cx="2194560" cy="731520"/>
          </a:xfrm>
          <a:prstGeom prst="rect">
            <a:avLst/>
          </a:prstGeom>
          <a:noFill/>
        </p:spPr>
        <p:txBody>
          <a:bodyPr wrap="none">
            <a:spAutoFit/>
          </a:bodyPr>
          <a:lstStyle/>
          <a:p>
            <a:pPr algn="ctr"/>
            <a:r>
              <a:rPr b="1" sz="1400">
                <a:solidFill>
                  <a:srgbClr val="0A1F44"/>
                </a:solidFill>
              </a:rPr>
              <a:t>Gabriela Rodriguez</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B2A4A"/>
          </a:solidFill>
          <a:ln/>
        </p:spPr>
      </p:sp>
      <p:sp>
        <p:nvSpPr>
          <p:cNvPr id="3" name="Shape 1"/>
          <p:cNvSpPr/>
          <p:nvPr/>
        </p:nvSpPr>
        <p:spPr>
          <a:xfrm>
            <a:off x="8595360" y="146304"/>
            <a:ext cx="228600" cy="228600"/>
          </a:xfrm>
          <a:prstGeom prst="ellipse">
            <a:avLst/>
          </a:prstGeom>
          <a:solidFill>
            <a:srgbClr val="1F77B4"/>
          </a:solidFill>
          <a:ln/>
        </p:spPr>
      </p:sp>
      <p:sp>
        <p:nvSpPr>
          <p:cNvPr id="4" name="Shape 2"/>
          <p:cNvSpPr/>
          <p:nvPr/>
        </p:nvSpPr>
        <p:spPr>
          <a:xfrm>
            <a:off x="8823960" y="146304"/>
            <a:ext cx="228600" cy="228600"/>
          </a:xfrm>
          <a:prstGeom prst="ellipse">
            <a:avLst/>
          </a:prstGeom>
          <a:solidFill>
            <a:srgbClr val="FF7F0E"/>
          </a:solidFill>
          <a:ln/>
        </p:spPr>
      </p:sp>
      <p:sp>
        <p:nvSpPr>
          <p:cNvPr id="5" name="Text 3"/>
          <p:cNvSpPr/>
          <p:nvPr/>
        </p:nvSpPr>
        <p:spPr>
          <a:xfrm>
            <a:off x="365760" y="73152"/>
            <a:ext cx="8046720" cy="5943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Agenda</a:t>
            </a:r>
            <a:endParaRPr lang="en-US" sz="2200" dirty="0"/>
          </a:p>
        </p:txBody>
      </p:sp>
      <p:sp>
        <p:nvSpPr>
          <p:cNvPr id="6" name="Shape 4"/>
          <p:cNvSpPr/>
          <p:nvPr/>
        </p:nvSpPr>
        <p:spPr>
          <a:xfrm>
            <a:off x="320040" y="960120"/>
            <a:ext cx="4297680" cy="841248"/>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7" name="Shape 5"/>
          <p:cNvSpPr/>
          <p:nvPr/>
        </p:nvSpPr>
        <p:spPr>
          <a:xfrm>
            <a:off x="320040" y="960120"/>
            <a:ext cx="91440" cy="841248"/>
          </a:xfrm>
          <a:prstGeom prst="rect">
            <a:avLst/>
          </a:prstGeom>
          <a:solidFill>
            <a:srgbClr val="1F77B4"/>
          </a:solidFill>
          <a:ln/>
        </p:spPr>
      </p:sp>
      <p:sp>
        <p:nvSpPr>
          <p:cNvPr id="8" name="Text 6"/>
          <p:cNvSpPr/>
          <p:nvPr/>
        </p:nvSpPr>
        <p:spPr>
          <a:xfrm>
            <a:off x="484632" y="1033272"/>
            <a:ext cx="457200" cy="32004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01</a:t>
            </a:r>
            <a:endParaRPr lang="en-US" sz="1600" dirty="0"/>
          </a:p>
        </p:txBody>
      </p:sp>
      <p:sp>
        <p:nvSpPr>
          <p:cNvPr id="9" name="Text 7"/>
          <p:cNvSpPr/>
          <p:nvPr/>
        </p:nvSpPr>
        <p:spPr>
          <a:xfrm>
            <a:off x="484632" y="1234440"/>
            <a:ext cx="4069080" cy="27432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Research Background &amp; Questions</a:t>
            </a:r>
            <a:endParaRPr lang="en-US" sz="1100" dirty="0"/>
          </a:p>
        </p:txBody>
      </p:sp>
      <p:sp>
        <p:nvSpPr>
          <p:cNvPr id="10" name="Text 8"/>
          <p:cNvSpPr/>
          <p:nvPr/>
        </p:nvSpPr>
        <p:spPr>
          <a:xfrm>
            <a:off x="484632" y="1490472"/>
            <a:ext cx="406908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Why Apple vs Samsung, and what we aim to discover</a:t>
            </a:r>
            <a:endParaRPr lang="en-US" sz="900" dirty="0"/>
          </a:p>
        </p:txBody>
      </p:sp>
      <p:sp>
        <p:nvSpPr>
          <p:cNvPr id="11" name="Shape 9"/>
          <p:cNvSpPr/>
          <p:nvPr/>
        </p:nvSpPr>
        <p:spPr>
          <a:xfrm>
            <a:off x="4800600" y="960120"/>
            <a:ext cx="4297680" cy="841248"/>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2" name="Shape 10"/>
          <p:cNvSpPr/>
          <p:nvPr/>
        </p:nvSpPr>
        <p:spPr>
          <a:xfrm>
            <a:off x="4800600" y="960120"/>
            <a:ext cx="91440" cy="841248"/>
          </a:xfrm>
          <a:prstGeom prst="rect">
            <a:avLst/>
          </a:prstGeom>
          <a:solidFill>
            <a:srgbClr val="FF7F0E"/>
          </a:solidFill>
          <a:ln/>
        </p:spPr>
      </p:sp>
      <p:sp>
        <p:nvSpPr>
          <p:cNvPr id="13" name="Text 11"/>
          <p:cNvSpPr/>
          <p:nvPr/>
        </p:nvSpPr>
        <p:spPr>
          <a:xfrm>
            <a:off x="4965192" y="1033272"/>
            <a:ext cx="457200" cy="32004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02</a:t>
            </a:r>
            <a:endParaRPr lang="en-US" sz="1600" dirty="0"/>
          </a:p>
        </p:txBody>
      </p:sp>
      <p:sp>
        <p:nvSpPr>
          <p:cNvPr id="14" name="Text 12"/>
          <p:cNvSpPr/>
          <p:nvPr/>
        </p:nvSpPr>
        <p:spPr>
          <a:xfrm>
            <a:off x="4965192" y="1234440"/>
            <a:ext cx="4069080" cy="27432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Data Collection</a:t>
            </a:r>
            <a:endParaRPr lang="en-US" sz="1100" dirty="0"/>
          </a:p>
        </p:txBody>
      </p:sp>
      <p:sp>
        <p:nvSpPr>
          <p:cNvPr id="15" name="Text 13"/>
          <p:cNvSpPr/>
          <p:nvPr/>
        </p:nvSpPr>
        <p:spPr>
          <a:xfrm>
            <a:off x="4965192" y="1490472"/>
            <a:ext cx="406908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Sources, coverage, and variable definitions</a:t>
            </a:r>
            <a:endParaRPr lang="en-US" sz="900" dirty="0"/>
          </a:p>
        </p:txBody>
      </p:sp>
      <p:sp>
        <p:nvSpPr>
          <p:cNvPr id="16" name="Shape 14"/>
          <p:cNvSpPr/>
          <p:nvPr/>
        </p:nvSpPr>
        <p:spPr>
          <a:xfrm>
            <a:off x="320040" y="1920240"/>
            <a:ext cx="4297680" cy="841248"/>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7" name="Shape 15"/>
          <p:cNvSpPr/>
          <p:nvPr/>
        </p:nvSpPr>
        <p:spPr>
          <a:xfrm>
            <a:off x="320040" y="1920240"/>
            <a:ext cx="91440" cy="841248"/>
          </a:xfrm>
          <a:prstGeom prst="rect">
            <a:avLst/>
          </a:prstGeom>
          <a:solidFill>
            <a:srgbClr val="1F77B4"/>
          </a:solidFill>
          <a:ln/>
        </p:spPr>
      </p:sp>
      <p:sp>
        <p:nvSpPr>
          <p:cNvPr id="18" name="Text 16"/>
          <p:cNvSpPr/>
          <p:nvPr/>
        </p:nvSpPr>
        <p:spPr>
          <a:xfrm>
            <a:off x="484632" y="1993392"/>
            <a:ext cx="457200" cy="32004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03</a:t>
            </a:r>
            <a:endParaRPr lang="en-US" sz="1600" dirty="0"/>
          </a:p>
        </p:txBody>
      </p:sp>
      <p:sp>
        <p:nvSpPr>
          <p:cNvPr id="19" name="Text 17"/>
          <p:cNvSpPr/>
          <p:nvPr/>
        </p:nvSpPr>
        <p:spPr>
          <a:xfrm>
            <a:off x="484632" y="2194560"/>
            <a:ext cx="4069080" cy="27432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Data Cleaning &amp; Manipulation</a:t>
            </a:r>
            <a:endParaRPr lang="en-US" sz="1100" dirty="0"/>
          </a:p>
        </p:txBody>
      </p:sp>
      <p:sp>
        <p:nvSpPr>
          <p:cNvPr id="20" name="Text 18"/>
          <p:cNvSpPr/>
          <p:nvPr/>
        </p:nvSpPr>
        <p:spPr>
          <a:xfrm>
            <a:off x="484632" y="2450592"/>
            <a:ext cx="406908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Processing steps applied to prepare data</a:t>
            </a:r>
            <a:endParaRPr lang="en-US" sz="900" dirty="0"/>
          </a:p>
        </p:txBody>
      </p:sp>
      <p:sp>
        <p:nvSpPr>
          <p:cNvPr id="21" name="Shape 19"/>
          <p:cNvSpPr/>
          <p:nvPr/>
        </p:nvSpPr>
        <p:spPr>
          <a:xfrm>
            <a:off x="4800600" y="1920240"/>
            <a:ext cx="4297680" cy="841248"/>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2" name="Shape 20"/>
          <p:cNvSpPr/>
          <p:nvPr/>
        </p:nvSpPr>
        <p:spPr>
          <a:xfrm>
            <a:off x="4800600" y="1920240"/>
            <a:ext cx="91440" cy="841248"/>
          </a:xfrm>
          <a:prstGeom prst="rect">
            <a:avLst/>
          </a:prstGeom>
          <a:solidFill>
            <a:srgbClr val="FF7F0E"/>
          </a:solidFill>
          <a:ln/>
        </p:spPr>
      </p:sp>
      <p:sp>
        <p:nvSpPr>
          <p:cNvPr id="23" name="Text 21"/>
          <p:cNvSpPr/>
          <p:nvPr/>
        </p:nvSpPr>
        <p:spPr>
          <a:xfrm>
            <a:off x="4965192" y="1993392"/>
            <a:ext cx="457200" cy="32004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04</a:t>
            </a:r>
            <a:endParaRPr lang="en-US" sz="1600" dirty="0"/>
          </a:p>
        </p:txBody>
      </p:sp>
      <p:sp>
        <p:nvSpPr>
          <p:cNvPr id="24" name="Text 22"/>
          <p:cNvSpPr/>
          <p:nvPr/>
        </p:nvSpPr>
        <p:spPr>
          <a:xfrm>
            <a:off x="4965192" y="2194560"/>
            <a:ext cx="4069080" cy="27432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Analysis 1 — Stock Performance &amp; Correlation</a:t>
            </a:r>
            <a:endParaRPr lang="en-US" sz="1100" dirty="0"/>
          </a:p>
        </p:txBody>
      </p:sp>
      <p:sp>
        <p:nvSpPr>
          <p:cNvPr id="25" name="Text 23"/>
          <p:cNvSpPr/>
          <p:nvPr/>
        </p:nvSpPr>
        <p:spPr>
          <a:xfrm>
            <a:off x="4965192" y="2450592"/>
            <a:ext cx="406908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Price trends, correlation, and volatility (2015–2026)</a:t>
            </a:r>
            <a:endParaRPr lang="en-US" sz="900" dirty="0"/>
          </a:p>
        </p:txBody>
      </p:sp>
      <p:sp>
        <p:nvSpPr>
          <p:cNvPr id="26" name="Shape 24"/>
          <p:cNvSpPr/>
          <p:nvPr/>
        </p:nvSpPr>
        <p:spPr>
          <a:xfrm>
            <a:off x="320040" y="2880360"/>
            <a:ext cx="4297680" cy="841248"/>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7" name="Shape 25"/>
          <p:cNvSpPr/>
          <p:nvPr/>
        </p:nvSpPr>
        <p:spPr>
          <a:xfrm>
            <a:off x="320040" y="2880360"/>
            <a:ext cx="91440" cy="841248"/>
          </a:xfrm>
          <a:prstGeom prst="rect">
            <a:avLst/>
          </a:prstGeom>
          <a:solidFill>
            <a:srgbClr val="1F77B4"/>
          </a:solidFill>
          <a:ln/>
        </p:spPr>
      </p:sp>
      <p:sp>
        <p:nvSpPr>
          <p:cNvPr id="28" name="Text 26"/>
          <p:cNvSpPr/>
          <p:nvPr/>
        </p:nvSpPr>
        <p:spPr>
          <a:xfrm>
            <a:off x="484632" y="2953512"/>
            <a:ext cx="457200" cy="32004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05</a:t>
            </a:r>
            <a:endParaRPr lang="en-US" sz="1600" dirty="0"/>
          </a:p>
        </p:txBody>
      </p:sp>
      <p:sp>
        <p:nvSpPr>
          <p:cNvPr id="29" name="Text 27"/>
          <p:cNvSpPr/>
          <p:nvPr/>
        </p:nvSpPr>
        <p:spPr>
          <a:xfrm>
            <a:off x="484632" y="3154680"/>
            <a:ext cx="4069080" cy="27432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Analysis 2 — Financial Fundamentals</a:t>
            </a:r>
            <a:endParaRPr lang="en-US" sz="1100" dirty="0"/>
          </a:p>
        </p:txBody>
      </p:sp>
      <p:sp>
        <p:nvSpPr>
          <p:cNvPr id="30" name="Text 28"/>
          <p:cNvSpPr/>
          <p:nvPr/>
        </p:nvSpPr>
        <p:spPr>
          <a:xfrm>
            <a:off x="484632" y="3410712"/>
            <a:ext cx="406908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Revenue, profitability margins, and cash flow</a:t>
            </a:r>
            <a:endParaRPr lang="en-US" sz="900" dirty="0"/>
          </a:p>
        </p:txBody>
      </p:sp>
      <p:sp>
        <p:nvSpPr>
          <p:cNvPr id="31" name="Shape 29"/>
          <p:cNvSpPr/>
          <p:nvPr/>
        </p:nvSpPr>
        <p:spPr>
          <a:xfrm>
            <a:off x="4800600" y="2880360"/>
            <a:ext cx="4297680" cy="841248"/>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2" name="Shape 30"/>
          <p:cNvSpPr/>
          <p:nvPr/>
        </p:nvSpPr>
        <p:spPr>
          <a:xfrm>
            <a:off x="4800600" y="2880360"/>
            <a:ext cx="91440" cy="841248"/>
          </a:xfrm>
          <a:prstGeom prst="rect">
            <a:avLst/>
          </a:prstGeom>
          <a:solidFill>
            <a:srgbClr val="FF7F0E"/>
          </a:solidFill>
          <a:ln/>
        </p:spPr>
      </p:sp>
      <p:sp>
        <p:nvSpPr>
          <p:cNvPr id="33" name="Text 31"/>
          <p:cNvSpPr/>
          <p:nvPr/>
        </p:nvSpPr>
        <p:spPr>
          <a:xfrm>
            <a:off x="4965192" y="2953512"/>
            <a:ext cx="457200" cy="32004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06</a:t>
            </a:r>
            <a:endParaRPr lang="en-US" sz="1600" dirty="0"/>
          </a:p>
        </p:txBody>
      </p:sp>
      <p:sp>
        <p:nvSpPr>
          <p:cNvPr id="34" name="Text 32"/>
          <p:cNvSpPr/>
          <p:nvPr/>
        </p:nvSpPr>
        <p:spPr>
          <a:xfrm>
            <a:off x="4965192" y="3154680"/>
            <a:ext cx="4069080" cy="27432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Analysis 3 — Macro Regression</a:t>
            </a:r>
            <a:endParaRPr lang="en-US" sz="1100" dirty="0"/>
          </a:p>
        </p:txBody>
      </p:sp>
      <p:sp>
        <p:nvSpPr>
          <p:cNvPr id="35" name="Text 33"/>
          <p:cNvSpPr/>
          <p:nvPr/>
        </p:nvSpPr>
        <p:spPr>
          <a:xfrm>
            <a:off x="4965192" y="3410712"/>
            <a:ext cx="406908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Inflation and interest rates as return predictors</a:t>
            </a:r>
            <a:endParaRPr lang="en-US" sz="900" dirty="0"/>
          </a:p>
        </p:txBody>
      </p:sp>
      <p:sp>
        <p:nvSpPr>
          <p:cNvPr id="36" name="Shape 34"/>
          <p:cNvSpPr/>
          <p:nvPr/>
        </p:nvSpPr>
        <p:spPr>
          <a:xfrm>
            <a:off x="320040" y="3840480"/>
            <a:ext cx="4297680" cy="841248"/>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7" name="Shape 35"/>
          <p:cNvSpPr/>
          <p:nvPr/>
        </p:nvSpPr>
        <p:spPr>
          <a:xfrm>
            <a:off x="320040" y="3840480"/>
            <a:ext cx="91440" cy="841248"/>
          </a:xfrm>
          <a:prstGeom prst="rect">
            <a:avLst/>
          </a:prstGeom>
          <a:solidFill>
            <a:srgbClr val="1F77B4"/>
          </a:solidFill>
          <a:ln/>
        </p:spPr>
      </p:sp>
      <p:sp>
        <p:nvSpPr>
          <p:cNvPr id="38" name="Text 36"/>
          <p:cNvSpPr/>
          <p:nvPr/>
        </p:nvSpPr>
        <p:spPr>
          <a:xfrm>
            <a:off x="484632" y="3913632"/>
            <a:ext cx="457200" cy="32004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07</a:t>
            </a:r>
            <a:endParaRPr lang="en-US" sz="1600" dirty="0"/>
          </a:p>
        </p:txBody>
      </p:sp>
      <p:sp>
        <p:nvSpPr>
          <p:cNvPr id="39" name="Text 37"/>
          <p:cNvSpPr/>
          <p:nvPr/>
        </p:nvSpPr>
        <p:spPr>
          <a:xfrm>
            <a:off x="484632" y="4114800"/>
            <a:ext cx="4069080" cy="27432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Discussion &amp; Limitations</a:t>
            </a:r>
            <a:endParaRPr lang="en-US" sz="1100" dirty="0"/>
          </a:p>
        </p:txBody>
      </p:sp>
      <p:sp>
        <p:nvSpPr>
          <p:cNvPr id="40" name="Text 38"/>
          <p:cNvSpPr/>
          <p:nvPr/>
        </p:nvSpPr>
        <p:spPr>
          <a:xfrm>
            <a:off x="484632" y="4370832"/>
            <a:ext cx="406908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Key findings, limitations, and future work</a:t>
            </a:r>
            <a:endParaRPr lang="en-US" sz="900" dirty="0"/>
          </a:p>
        </p:txBody>
      </p:sp>
      <p:sp>
        <p:nvSpPr>
          <p:cNvPr id="41" name="Shape 39"/>
          <p:cNvSpPr/>
          <p:nvPr/>
        </p:nvSpPr>
        <p:spPr>
          <a:xfrm>
            <a:off x="4800600" y="3840480"/>
            <a:ext cx="4297680" cy="841248"/>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42" name="Shape 40"/>
          <p:cNvSpPr/>
          <p:nvPr/>
        </p:nvSpPr>
        <p:spPr>
          <a:xfrm>
            <a:off x="4800600" y="3840480"/>
            <a:ext cx="91440" cy="841248"/>
          </a:xfrm>
          <a:prstGeom prst="rect">
            <a:avLst/>
          </a:prstGeom>
          <a:solidFill>
            <a:srgbClr val="FF7F0E"/>
          </a:solidFill>
          <a:ln/>
        </p:spPr>
      </p:sp>
      <p:sp>
        <p:nvSpPr>
          <p:cNvPr id="43" name="Text 41"/>
          <p:cNvSpPr/>
          <p:nvPr/>
        </p:nvSpPr>
        <p:spPr>
          <a:xfrm>
            <a:off x="4965192" y="3913632"/>
            <a:ext cx="457200" cy="32004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08</a:t>
            </a:r>
            <a:endParaRPr lang="en-US" sz="1600" dirty="0"/>
          </a:p>
        </p:txBody>
      </p:sp>
      <p:sp>
        <p:nvSpPr>
          <p:cNvPr id="44" name="Text 42"/>
          <p:cNvSpPr/>
          <p:nvPr/>
        </p:nvSpPr>
        <p:spPr>
          <a:xfrm>
            <a:off x="4965192" y="4114800"/>
            <a:ext cx="4069080" cy="27432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Team Roles &amp; References</a:t>
            </a:r>
            <a:endParaRPr lang="en-US" sz="1100" dirty="0"/>
          </a:p>
        </p:txBody>
      </p:sp>
      <p:sp>
        <p:nvSpPr>
          <p:cNvPr id="45" name="Text 43"/>
          <p:cNvSpPr/>
          <p:nvPr/>
        </p:nvSpPr>
        <p:spPr>
          <a:xfrm>
            <a:off x="4965192" y="4370832"/>
            <a:ext cx="406908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Contributions and data sources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B2A4A"/>
          </a:solidFill>
          <a:ln/>
        </p:spPr>
      </p:sp>
      <p:sp>
        <p:nvSpPr>
          <p:cNvPr id="3" name="Shape 1"/>
          <p:cNvSpPr/>
          <p:nvPr/>
        </p:nvSpPr>
        <p:spPr>
          <a:xfrm>
            <a:off x="8595360" y="146304"/>
            <a:ext cx="228600" cy="228600"/>
          </a:xfrm>
          <a:prstGeom prst="ellipse">
            <a:avLst/>
          </a:prstGeom>
          <a:solidFill>
            <a:srgbClr val="1F77B4"/>
          </a:solidFill>
          <a:ln/>
        </p:spPr>
      </p:sp>
      <p:sp>
        <p:nvSpPr>
          <p:cNvPr id="4" name="Shape 2"/>
          <p:cNvSpPr/>
          <p:nvPr/>
        </p:nvSpPr>
        <p:spPr>
          <a:xfrm>
            <a:off x="8823960" y="146304"/>
            <a:ext cx="228600" cy="228600"/>
          </a:xfrm>
          <a:prstGeom prst="ellipse">
            <a:avLst/>
          </a:prstGeom>
          <a:solidFill>
            <a:srgbClr val="FF7F0E"/>
          </a:solidFill>
          <a:ln/>
        </p:spPr>
      </p:sp>
      <p:sp>
        <p:nvSpPr>
          <p:cNvPr id="5" name="Text 3"/>
          <p:cNvSpPr/>
          <p:nvPr/>
        </p:nvSpPr>
        <p:spPr>
          <a:xfrm>
            <a:off x="365760" y="73152"/>
            <a:ext cx="8046720" cy="5943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Research Background &amp; Questions</a:t>
            </a:r>
            <a:endParaRPr lang="en-US" sz="2200" dirty="0"/>
          </a:p>
        </p:txBody>
      </p:sp>
      <p:sp>
        <p:nvSpPr>
          <p:cNvPr id="6" name="Shape 4"/>
          <p:cNvSpPr/>
          <p:nvPr/>
        </p:nvSpPr>
        <p:spPr>
          <a:xfrm>
            <a:off x="320040" y="868680"/>
            <a:ext cx="8503920" cy="9144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7" name="Shape 5"/>
          <p:cNvSpPr/>
          <p:nvPr/>
        </p:nvSpPr>
        <p:spPr>
          <a:xfrm>
            <a:off x="320040" y="868680"/>
            <a:ext cx="91440" cy="914400"/>
          </a:xfrm>
          <a:prstGeom prst="rect">
            <a:avLst/>
          </a:prstGeom>
          <a:solidFill>
            <a:srgbClr val="F0B429"/>
          </a:solidFill>
          <a:ln/>
        </p:spPr>
      </p:sp>
      <p:sp>
        <p:nvSpPr>
          <p:cNvPr id="8" name="Text 6"/>
          <p:cNvSpPr/>
          <p:nvPr/>
        </p:nvSpPr>
        <p:spPr>
          <a:xfrm>
            <a:off x="530352" y="896112"/>
            <a:ext cx="8229600" cy="27432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Research Background</a:t>
            </a:r>
            <a:endParaRPr lang="en-US" sz="1300" dirty="0"/>
          </a:p>
        </p:txBody>
      </p:sp>
      <p:sp>
        <p:nvSpPr>
          <p:cNvPr id="9" name="Text 7"/>
          <p:cNvSpPr/>
          <p:nvPr/>
        </p:nvSpPr>
        <p:spPr>
          <a:xfrm>
            <a:off x="530352" y="1170432"/>
            <a:ext cx="8229600" cy="54864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Apple and Samsung are the world's two largest smartphone vendors and fierce competitors across hardware, software, and services. Analyzing their financial and market data provides insight into how competitive rivalry, macroeconomic forces, and business model differences shape investor outcomes over a full decade.</a:t>
            </a:r>
            <a:endParaRPr lang="en-US" sz="1050" dirty="0"/>
          </a:p>
        </p:txBody>
      </p:sp>
      <p:sp>
        <p:nvSpPr>
          <p:cNvPr id="10" name="Shape 8"/>
          <p:cNvSpPr/>
          <p:nvPr/>
        </p:nvSpPr>
        <p:spPr>
          <a:xfrm>
            <a:off x="320040" y="2011680"/>
            <a:ext cx="2743200" cy="27432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1" name="Shape 9"/>
          <p:cNvSpPr/>
          <p:nvPr/>
        </p:nvSpPr>
        <p:spPr>
          <a:xfrm>
            <a:off x="320040" y="2011680"/>
            <a:ext cx="2743200" cy="109728"/>
          </a:xfrm>
          <a:prstGeom prst="rect">
            <a:avLst/>
          </a:prstGeom>
          <a:solidFill>
            <a:srgbClr val="1F77B4"/>
          </a:solidFill>
          <a:ln/>
        </p:spPr>
      </p:sp>
      <p:sp>
        <p:nvSpPr>
          <p:cNvPr id="12" name="Text 10"/>
          <p:cNvSpPr/>
          <p:nvPr/>
        </p:nvSpPr>
        <p:spPr>
          <a:xfrm>
            <a:off x="457200" y="2194560"/>
            <a:ext cx="2468880" cy="347472"/>
          </a:xfrm>
          <a:prstGeom prst="rect">
            <a:avLst/>
          </a:prstGeom>
          <a:noFill/>
          <a:ln/>
        </p:spPr>
        <p:txBody>
          <a:bodyPr wrap="square" lIns="0" tIns="0" rIns="0" bIns="0" rtlCol="0" anchor="ctr"/>
          <a:lstStyle/>
          <a:p>
            <a:pPr indent="0" marL="0">
              <a:buNone/>
            </a:pPr>
            <a:r>
              <a:rPr lang="en-US" sz="1600" b="1" dirty="0">
                <a:solidFill>
                  <a:srgbClr val="1F77B4"/>
                </a:solidFill>
                <a:latin typeface="Calibri" pitchFamily="34" charset="0"/>
                <a:ea typeface="Calibri" pitchFamily="34" charset="-122"/>
                <a:cs typeface="Calibri" pitchFamily="34" charset="-120"/>
              </a:rPr>
              <a:t>RQ 1</a:t>
            </a:r>
            <a:endParaRPr lang="en-US" sz="1600" dirty="0"/>
          </a:p>
        </p:txBody>
      </p:sp>
      <p:sp>
        <p:nvSpPr>
          <p:cNvPr id="13" name="Text 11"/>
          <p:cNvSpPr/>
          <p:nvPr/>
        </p:nvSpPr>
        <p:spPr>
          <a:xfrm>
            <a:off x="457200" y="2560320"/>
            <a:ext cx="2468880" cy="41148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Stock Performance &amp; Correlation</a:t>
            </a:r>
            <a:endParaRPr lang="en-US" sz="1200" dirty="0"/>
          </a:p>
        </p:txBody>
      </p:sp>
      <p:sp>
        <p:nvSpPr>
          <p:cNvPr id="14" name="Text 12"/>
          <p:cNvSpPr/>
          <p:nvPr/>
        </p:nvSpPr>
        <p:spPr>
          <a:xfrm>
            <a:off x="457200" y="3017520"/>
            <a:ext cx="2468880" cy="16459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How have Apple and Samsung stock prices performed and correlated over 2015–2026? Do they move together or independently?</a:t>
            </a:r>
            <a:endParaRPr lang="en-US" sz="1000" dirty="0"/>
          </a:p>
        </p:txBody>
      </p:sp>
      <p:sp>
        <p:nvSpPr>
          <p:cNvPr id="15" name="Shape 13"/>
          <p:cNvSpPr/>
          <p:nvPr/>
        </p:nvSpPr>
        <p:spPr>
          <a:xfrm>
            <a:off x="3172968" y="2011680"/>
            <a:ext cx="2743200" cy="27432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6" name="Shape 14"/>
          <p:cNvSpPr/>
          <p:nvPr/>
        </p:nvSpPr>
        <p:spPr>
          <a:xfrm>
            <a:off x="3172968" y="2011680"/>
            <a:ext cx="2743200" cy="109728"/>
          </a:xfrm>
          <a:prstGeom prst="rect">
            <a:avLst/>
          </a:prstGeom>
          <a:solidFill>
            <a:srgbClr val="FF7F0E"/>
          </a:solidFill>
          <a:ln/>
        </p:spPr>
      </p:sp>
      <p:sp>
        <p:nvSpPr>
          <p:cNvPr id="17" name="Text 15"/>
          <p:cNvSpPr/>
          <p:nvPr/>
        </p:nvSpPr>
        <p:spPr>
          <a:xfrm>
            <a:off x="3310128" y="2194560"/>
            <a:ext cx="2468880" cy="347472"/>
          </a:xfrm>
          <a:prstGeom prst="rect">
            <a:avLst/>
          </a:prstGeom>
          <a:noFill/>
          <a:ln/>
        </p:spPr>
        <p:txBody>
          <a:bodyPr wrap="square" lIns="0" tIns="0" rIns="0" bIns="0" rtlCol="0" anchor="ctr"/>
          <a:lstStyle/>
          <a:p>
            <a:pPr indent="0" marL="0">
              <a:buNone/>
            </a:pPr>
            <a:r>
              <a:rPr lang="en-US" sz="1600" b="1" dirty="0">
                <a:solidFill>
                  <a:srgbClr val="FF7F0E"/>
                </a:solidFill>
                <a:latin typeface="Calibri" pitchFamily="34" charset="0"/>
                <a:ea typeface="Calibri" pitchFamily="34" charset="-122"/>
                <a:cs typeface="Calibri" pitchFamily="34" charset="-120"/>
              </a:rPr>
              <a:t>RQ 2</a:t>
            </a:r>
            <a:endParaRPr lang="en-US" sz="1600" dirty="0"/>
          </a:p>
        </p:txBody>
      </p:sp>
      <p:sp>
        <p:nvSpPr>
          <p:cNvPr id="18" name="Text 16"/>
          <p:cNvSpPr/>
          <p:nvPr/>
        </p:nvSpPr>
        <p:spPr>
          <a:xfrm>
            <a:off x="3310128" y="2560320"/>
            <a:ext cx="2468880" cy="41148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Financial Fundamentals</a:t>
            </a:r>
            <a:endParaRPr lang="en-US" sz="1200" dirty="0"/>
          </a:p>
        </p:txBody>
      </p:sp>
      <p:sp>
        <p:nvSpPr>
          <p:cNvPr id="19" name="Text 17"/>
          <p:cNvSpPr/>
          <p:nvPr/>
        </p:nvSpPr>
        <p:spPr>
          <a:xfrm>
            <a:off x="3310128" y="3017520"/>
            <a:ext cx="2468880" cy="16459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How do Apple and Samsung compare on key financial metrics — revenue growth, profitability margins, and free cash flow?</a:t>
            </a:r>
            <a:endParaRPr lang="en-US" sz="1000" dirty="0"/>
          </a:p>
        </p:txBody>
      </p:sp>
      <p:sp>
        <p:nvSpPr>
          <p:cNvPr id="20" name="Shape 18"/>
          <p:cNvSpPr/>
          <p:nvPr/>
        </p:nvSpPr>
        <p:spPr>
          <a:xfrm>
            <a:off x="6025896" y="2011680"/>
            <a:ext cx="2743200" cy="27432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1" name="Shape 19"/>
          <p:cNvSpPr/>
          <p:nvPr/>
        </p:nvSpPr>
        <p:spPr>
          <a:xfrm>
            <a:off x="6025896" y="2011680"/>
            <a:ext cx="2743200" cy="109728"/>
          </a:xfrm>
          <a:prstGeom prst="rect">
            <a:avLst/>
          </a:prstGeom>
          <a:solidFill>
            <a:srgbClr val="6B7280"/>
          </a:solidFill>
          <a:ln/>
        </p:spPr>
      </p:sp>
      <p:sp>
        <p:nvSpPr>
          <p:cNvPr id="22" name="Text 20"/>
          <p:cNvSpPr/>
          <p:nvPr/>
        </p:nvSpPr>
        <p:spPr>
          <a:xfrm>
            <a:off x="6163056" y="2194560"/>
            <a:ext cx="2468880" cy="347472"/>
          </a:xfrm>
          <a:prstGeom prst="rect">
            <a:avLst/>
          </a:prstGeom>
          <a:noFill/>
          <a:ln/>
        </p:spPr>
        <p:txBody>
          <a:bodyPr wrap="square" lIns="0" tIns="0" rIns="0" bIns="0" rtlCol="0" anchor="ctr"/>
          <a:lstStyle/>
          <a:p>
            <a:pPr indent="0" marL="0">
              <a:buNone/>
            </a:pPr>
            <a:r>
              <a:rPr lang="en-US" sz="1600" b="1" dirty="0">
                <a:solidFill>
                  <a:srgbClr val="6B7280"/>
                </a:solidFill>
                <a:latin typeface="Calibri" pitchFamily="34" charset="0"/>
                <a:ea typeface="Calibri" pitchFamily="34" charset="-122"/>
                <a:cs typeface="Calibri" pitchFamily="34" charset="-120"/>
              </a:rPr>
              <a:t>RQ 3</a:t>
            </a:r>
            <a:endParaRPr lang="en-US" sz="1600" dirty="0"/>
          </a:p>
        </p:txBody>
      </p:sp>
      <p:sp>
        <p:nvSpPr>
          <p:cNvPr id="23" name="Text 21"/>
          <p:cNvSpPr/>
          <p:nvPr/>
        </p:nvSpPr>
        <p:spPr>
          <a:xfrm>
            <a:off x="6163056" y="2560320"/>
            <a:ext cx="2468880" cy="41148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Macro Regression</a:t>
            </a:r>
            <a:endParaRPr lang="en-US" sz="1200" dirty="0"/>
          </a:p>
        </p:txBody>
      </p:sp>
      <p:sp>
        <p:nvSpPr>
          <p:cNvPr id="24" name="Text 22"/>
          <p:cNvSpPr/>
          <p:nvPr/>
        </p:nvSpPr>
        <p:spPr>
          <a:xfrm>
            <a:off x="6163056" y="3017520"/>
            <a:ext cx="2468880" cy="16459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Can macroeconomic factors (US CPI inflation and 10-year Treasury yield changes) explain monthly stock return variations?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B2A4A"/>
          </a:solidFill>
          <a:ln/>
        </p:spPr>
      </p:sp>
      <p:sp>
        <p:nvSpPr>
          <p:cNvPr id="3" name="Shape 1"/>
          <p:cNvSpPr/>
          <p:nvPr/>
        </p:nvSpPr>
        <p:spPr>
          <a:xfrm>
            <a:off x="8595360" y="146304"/>
            <a:ext cx="228600" cy="228600"/>
          </a:xfrm>
          <a:prstGeom prst="ellipse">
            <a:avLst/>
          </a:prstGeom>
          <a:solidFill>
            <a:srgbClr val="1F77B4"/>
          </a:solidFill>
          <a:ln/>
        </p:spPr>
      </p:sp>
      <p:sp>
        <p:nvSpPr>
          <p:cNvPr id="4" name="Shape 2"/>
          <p:cNvSpPr/>
          <p:nvPr/>
        </p:nvSpPr>
        <p:spPr>
          <a:xfrm>
            <a:off x="8823960" y="146304"/>
            <a:ext cx="228600" cy="228600"/>
          </a:xfrm>
          <a:prstGeom prst="ellipse">
            <a:avLst/>
          </a:prstGeom>
          <a:solidFill>
            <a:srgbClr val="FF7F0E"/>
          </a:solidFill>
          <a:ln/>
        </p:spPr>
      </p:sp>
      <p:sp>
        <p:nvSpPr>
          <p:cNvPr id="5" name="Text 3"/>
          <p:cNvSpPr/>
          <p:nvPr/>
        </p:nvSpPr>
        <p:spPr>
          <a:xfrm>
            <a:off x="365760" y="73152"/>
            <a:ext cx="8046720" cy="5943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Significance of the Study</a:t>
            </a:r>
            <a:endParaRPr lang="en-US" sz="2200" dirty="0"/>
          </a:p>
        </p:txBody>
      </p:sp>
      <p:sp>
        <p:nvSpPr>
          <p:cNvPr id="6" name="Shape 4"/>
          <p:cNvSpPr/>
          <p:nvPr/>
        </p:nvSpPr>
        <p:spPr>
          <a:xfrm>
            <a:off x="320040" y="960120"/>
            <a:ext cx="4297680" cy="17373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7" name="Shape 5"/>
          <p:cNvSpPr/>
          <p:nvPr/>
        </p:nvSpPr>
        <p:spPr>
          <a:xfrm>
            <a:off x="502920" y="1188720"/>
            <a:ext cx="502920" cy="502920"/>
          </a:xfrm>
          <a:prstGeom prst="ellipse">
            <a:avLst/>
          </a:prstGeom>
          <a:solidFill>
            <a:srgbClr val="1F77B4"/>
          </a:solidFill>
          <a:ln/>
        </p:spPr>
      </p:sp>
      <p:sp>
        <p:nvSpPr>
          <p:cNvPr id="8" name="Text 6"/>
          <p:cNvSpPr/>
          <p:nvPr/>
        </p:nvSpPr>
        <p:spPr>
          <a:xfrm>
            <a:off x="502920" y="118872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9" name="Text 7"/>
          <p:cNvSpPr/>
          <p:nvPr/>
        </p:nvSpPr>
        <p:spPr>
          <a:xfrm>
            <a:off x="1143000" y="1161288"/>
            <a:ext cx="3291840" cy="36576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Investor Decision-Making</a:t>
            </a:r>
            <a:endParaRPr lang="en-US" sz="1300" dirty="0"/>
          </a:p>
        </p:txBody>
      </p:sp>
      <p:sp>
        <p:nvSpPr>
          <p:cNvPr id="10" name="Text 8"/>
          <p:cNvSpPr/>
          <p:nvPr/>
        </p:nvSpPr>
        <p:spPr>
          <a:xfrm>
            <a:off x="502920" y="1737360"/>
            <a:ext cx="3977640" cy="86868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Both stocks are held by millions of retail and institutional investors. Understanding their risk and return dynamics is directly actionable for portfolio construction.</a:t>
            </a:r>
            <a:endParaRPr lang="en-US" sz="1000" dirty="0"/>
          </a:p>
        </p:txBody>
      </p:sp>
      <p:sp>
        <p:nvSpPr>
          <p:cNvPr id="11" name="Shape 9"/>
          <p:cNvSpPr/>
          <p:nvPr/>
        </p:nvSpPr>
        <p:spPr>
          <a:xfrm>
            <a:off x="4800600" y="960120"/>
            <a:ext cx="4297680" cy="17373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2" name="Shape 10"/>
          <p:cNvSpPr/>
          <p:nvPr/>
        </p:nvSpPr>
        <p:spPr>
          <a:xfrm>
            <a:off x="4983480" y="1188720"/>
            <a:ext cx="502920" cy="502920"/>
          </a:xfrm>
          <a:prstGeom prst="ellipse">
            <a:avLst/>
          </a:prstGeom>
          <a:solidFill>
            <a:srgbClr val="FF7F0E"/>
          </a:solidFill>
          <a:ln/>
        </p:spPr>
      </p:sp>
      <p:sp>
        <p:nvSpPr>
          <p:cNvPr id="13" name="Text 11"/>
          <p:cNvSpPr/>
          <p:nvPr/>
        </p:nvSpPr>
        <p:spPr>
          <a:xfrm>
            <a:off x="4983480" y="118872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4" name="Text 12"/>
          <p:cNvSpPr/>
          <p:nvPr/>
        </p:nvSpPr>
        <p:spPr>
          <a:xfrm>
            <a:off x="5623560" y="1161288"/>
            <a:ext cx="3291840" cy="36576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Cross-Market Dynamics</a:t>
            </a:r>
            <a:endParaRPr lang="en-US" sz="1300" dirty="0"/>
          </a:p>
        </p:txBody>
      </p:sp>
      <p:sp>
        <p:nvSpPr>
          <p:cNvPr id="15" name="Text 13"/>
          <p:cNvSpPr/>
          <p:nvPr/>
        </p:nvSpPr>
        <p:spPr>
          <a:xfrm>
            <a:off x="4983480" y="1737360"/>
            <a:ext cx="3977640" cy="86868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Apple trades on NASDAQ (USD) and Samsung on KRX (KRW). Comparing them illuminates how U.S. and Korean markets respond differently to the same global events.</a:t>
            </a:r>
            <a:endParaRPr lang="en-US" sz="1000" dirty="0"/>
          </a:p>
        </p:txBody>
      </p:sp>
      <p:sp>
        <p:nvSpPr>
          <p:cNvPr id="16" name="Shape 14"/>
          <p:cNvSpPr/>
          <p:nvPr/>
        </p:nvSpPr>
        <p:spPr>
          <a:xfrm>
            <a:off x="320040" y="2880360"/>
            <a:ext cx="4297680" cy="17373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7" name="Shape 15"/>
          <p:cNvSpPr/>
          <p:nvPr/>
        </p:nvSpPr>
        <p:spPr>
          <a:xfrm>
            <a:off x="502920" y="3108960"/>
            <a:ext cx="502920" cy="502920"/>
          </a:xfrm>
          <a:prstGeom prst="ellipse">
            <a:avLst/>
          </a:prstGeom>
          <a:solidFill>
            <a:srgbClr val="1F77B4"/>
          </a:solidFill>
          <a:ln/>
        </p:spPr>
      </p:sp>
      <p:sp>
        <p:nvSpPr>
          <p:cNvPr id="18" name="Text 16"/>
          <p:cNvSpPr/>
          <p:nvPr/>
        </p:nvSpPr>
        <p:spPr>
          <a:xfrm>
            <a:off x="502920" y="31089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9" name="Text 17"/>
          <p:cNvSpPr/>
          <p:nvPr/>
        </p:nvSpPr>
        <p:spPr>
          <a:xfrm>
            <a:off x="1143000" y="3081528"/>
            <a:ext cx="3291840" cy="36576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Business Model Contrast</a:t>
            </a:r>
            <a:endParaRPr lang="en-US" sz="1300" dirty="0"/>
          </a:p>
        </p:txBody>
      </p:sp>
      <p:sp>
        <p:nvSpPr>
          <p:cNvPr id="20" name="Text 18"/>
          <p:cNvSpPr/>
          <p:nvPr/>
        </p:nvSpPr>
        <p:spPr>
          <a:xfrm>
            <a:off x="502920" y="3657600"/>
            <a:ext cx="3977640" cy="86868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Apple's high-margin services model versus Samsung's hardware-heavy semiconductor business makes this an ideal case study in strategic divergence.</a:t>
            </a:r>
            <a:endParaRPr lang="en-US" sz="1000" dirty="0"/>
          </a:p>
        </p:txBody>
      </p:sp>
      <p:sp>
        <p:nvSpPr>
          <p:cNvPr id="21" name="Shape 19"/>
          <p:cNvSpPr/>
          <p:nvPr/>
        </p:nvSpPr>
        <p:spPr>
          <a:xfrm>
            <a:off x="4800600" y="2880360"/>
            <a:ext cx="4297680" cy="17373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2" name="Shape 20"/>
          <p:cNvSpPr/>
          <p:nvPr/>
        </p:nvSpPr>
        <p:spPr>
          <a:xfrm>
            <a:off x="4983480" y="3108960"/>
            <a:ext cx="502920" cy="502920"/>
          </a:xfrm>
          <a:prstGeom prst="ellipse">
            <a:avLst/>
          </a:prstGeom>
          <a:solidFill>
            <a:srgbClr val="FF7F0E"/>
          </a:solidFill>
          <a:ln/>
        </p:spPr>
      </p:sp>
      <p:sp>
        <p:nvSpPr>
          <p:cNvPr id="23" name="Text 21"/>
          <p:cNvSpPr/>
          <p:nvPr/>
        </p:nvSpPr>
        <p:spPr>
          <a:xfrm>
            <a:off x="4983480" y="31089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4" name="Text 22"/>
          <p:cNvSpPr/>
          <p:nvPr/>
        </p:nvSpPr>
        <p:spPr>
          <a:xfrm>
            <a:off x="5623560" y="3081528"/>
            <a:ext cx="3291840" cy="36576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Macro Sensitivity</a:t>
            </a:r>
            <a:endParaRPr lang="en-US" sz="1300" dirty="0"/>
          </a:p>
        </p:txBody>
      </p:sp>
      <p:sp>
        <p:nvSpPr>
          <p:cNvPr id="25" name="Text 23"/>
          <p:cNvSpPr/>
          <p:nvPr/>
        </p:nvSpPr>
        <p:spPr>
          <a:xfrm>
            <a:off x="4983480" y="3657600"/>
            <a:ext cx="3977640" cy="86868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The 2022–2023 rate-hike cycle had outsized impact on tech valuations. Studying which firm was more macro-exposed informs future investment strategy.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B2A4A"/>
          </a:solidFill>
          <a:ln/>
        </p:spPr>
      </p:sp>
      <p:sp>
        <p:nvSpPr>
          <p:cNvPr id="3" name="Shape 1"/>
          <p:cNvSpPr/>
          <p:nvPr/>
        </p:nvSpPr>
        <p:spPr>
          <a:xfrm>
            <a:off x="8595360" y="146304"/>
            <a:ext cx="228600" cy="228600"/>
          </a:xfrm>
          <a:prstGeom prst="ellipse">
            <a:avLst/>
          </a:prstGeom>
          <a:solidFill>
            <a:srgbClr val="1F77B4"/>
          </a:solidFill>
          <a:ln/>
        </p:spPr>
      </p:sp>
      <p:sp>
        <p:nvSpPr>
          <p:cNvPr id="4" name="Shape 2"/>
          <p:cNvSpPr/>
          <p:nvPr/>
        </p:nvSpPr>
        <p:spPr>
          <a:xfrm>
            <a:off x="8823960" y="146304"/>
            <a:ext cx="228600" cy="228600"/>
          </a:xfrm>
          <a:prstGeom prst="ellipse">
            <a:avLst/>
          </a:prstGeom>
          <a:solidFill>
            <a:srgbClr val="FF7F0E"/>
          </a:solidFill>
          <a:ln/>
        </p:spPr>
      </p:sp>
      <p:sp>
        <p:nvSpPr>
          <p:cNvPr id="5" name="Text 3"/>
          <p:cNvSpPr/>
          <p:nvPr/>
        </p:nvSpPr>
        <p:spPr>
          <a:xfrm>
            <a:off x="365760" y="73152"/>
            <a:ext cx="8046720" cy="5943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Data Collection</a:t>
            </a:r>
            <a:endParaRPr lang="en-US" sz="2200" dirty="0"/>
          </a:p>
        </p:txBody>
      </p:sp>
      <p:sp>
        <p:nvSpPr>
          <p:cNvPr id="6" name="Shape 4"/>
          <p:cNvSpPr/>
          <p:nvPr/>
        </p:nvSpPr>
        <p:spPr>
          <a:xfrm>
            <a:off x="320040" y="914400"/>
            <a:ext cx="4160520" cy="38404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7" name="Shape 5"/>
          <p:cNvSpPr/>
          <p:nvPr/>
        </p:nvSpPr>
        <p:spPr>
          <a:xfrm>
            <a:off x="320040" y="914400"/>
            <a:ext cx="4160520" cy="109728"/>
          </a:xfrm>
          <a:prstGeom prst="rect">
            <a:avLst/>
          </a:prstGeom>
          <a:solidFill>
            <a:srgbClr val="1F77B4"/>
          </a:solidFill>
          <a:ln/>
        </p:spPr>
      </p:sp>
      <p:sp>
        <p:nvSpPr>
          <p:cNvPr id="8" name="Text 6"/>
          <p:cNvSpPr/>
          <p:nvPr/>
        </p:nvSpPr>
        <p:spPr>
          <a:xfrm>
            <a:off x="502920" y="1051560"/>
            <a:ext cx="3840480" cy="365760"/>
          </a:xfrm>
          <a:prstGeom prst="rect">
            <a:avLst/>
          </a:prstGeom>
          <a:noFill/>
          <a:ln/>
        </p:spPr>
        <p:txBody>
          <a:bodyPr wrap="square" lIns="0" tIns="0" rIns="0" bIns="0" rtlCol="0" anchor="ctr"/>
          <a:lstStyle/>
          <a:p>
            <a:pPr indent="0" marL="0">
              <a:buNone/>
            </a:pPr>
            <a:r>
              <a:rPr lang="en-US" sz="1400" b="1" dirty="0">
                <a:solidFill>
                  <a:srgbClr val="1F77B4"/>
                </a:solidFill>
                <a:latin typeface="Calibri" pitchFamily="34" charset="0"/>
                <a:ea typeface="Calibri" pitchFamily="34" charset="-122"/>
                <a:cs typeface="Calibri" pitchFamily="34" charset="-120"/>
              </a:rPr>
              <a:t>Source 1 — Yahoo Finance</a:t>
            </a:r>
            <a:endParaRPr lang="en-US" sz="1400" dirty="0"/>
          </a:p>
        </p:txBody>
      </p:sp>
      <p:sp>
        <p:nvSpPr>
          <p:cNvPr id="9" name="Text 7"/>
          <p:cNvSpPr/>
          <p:nvPr/>
        </p:nvSpPr>
        <p:spPr>
          <a:xfrm>
            <a:off x="502920" y="1417320"/>
            <a:ext cx="3840480" cy="27432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via yfinance Python library  |  https://finance.yahoo.com</a:t>
            </a:r>
            <a:endParaRPr lang="en-US" sz="950" dirty="0"/>
          </a:p>
        </p:txBody>
      </p:sp>
      <p:sp>
        <p:nvSpPr>
          <p:cNvPr id="10" name="Text 8"/>
          <p:cNvSpPr/>
          <p:nvPr/>
        </p:nvSpPr>
        <p:spPr>
          <a:xfrm>
            <a:off x="502920" y="1828800"/>
            <a:ext cx="1188720" cy="365760"/>
          </a:xfrm>
          <a:prstGeom prst="rect">
            <a:avLst/>
          </a:prstGeom>
          <a:noFill/>
          <a:ln/>
        </p:spPr>
        <p:txBody>
          <a:bodyPr wrap="square" lIns="0" tIns="0" rIns="0" bIns="0"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Tickers:</a:t>
            </a:r>
            <a:endParaRPr lang="en-US" sz="950" dirty="0"/>
          </a:p>
        </p:txBody>
      </p:sp>
      <p:sp>
        <p:nvSpPr>
          <p:cNvPr id="11" name="Text 9"/>
          <p:cNvSpPr/>
          <p:nvPr/>
        </p:nvSpPr>
        <p:spPr>
          <a:xfrm>
            <a:off x="1691640" y="1828800"/>
            <a:ext cx="2651760" cy="36576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AAPL (NASDAQ) | 005930.KS (KRX)</a:t>
            </a:r>
            <a:endParaRPr lang="en-US" sz="950" dirty="0"/>
          </a:p>
        </p:txBody>
      </p:sp>
      <p:sp>
        <p:nvSpPr>
          <p:cNvPr id="12" name="Text 10"/>
          <p:cNvSpPr/>
          <p:nvPr/>
        </p:nvSpPr>
        <p:spPr>
          <a:xfrm>
            <a:off x="502920" y="2359152"/>
            <a:ext cx="1188720" cy="365760"/>
          </a:xfrm>
          <a:prstGeom prst="rect">
            <a:avLst/>
          </a:prstGeom>
          <a:noFill/>
          <a:ln/>
        </p:spPr>
        <p:txBody>
          <a:bodyPr wrap="square" lIns="0" tIns="0" rIns="0" bIns="0"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Frequency:</a:t>
            </a:r>
            <a:endParaRPr lang="en-US" sz="950" dirty="0"/>
          </a:p>
        </p:txBody>
      </p:sp>
      <p:sp>
        <p:nvSpPr>
          <p:cNvPr id="13" name="Text 11"/>
          <p:cNvSpPr/>
          <p:nvPr/>
        </p:nvSpPr>
        <p:spPr>
          <a:xfrm>
            <a:off x="1691640" y="2359152"/>
            <a:ext cx="2651760" cy="36576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Daily OHLCV stock prices</a:t>
            </a:r>
            <a:endParaRPr lang="en-US" sz="950" dirty="0"/>
          </a:p>
        </p:txBody>
      </p:sp>
      <p:sp>
        <p:nvSpPr>
          <p:cNvPr id="14" name="Text 12"/>
          <p:cNvSpPr/>
          <p:nvPr/>
        </p:nvSpPr>
        <p:spPr>
          <a:xfrm>
            <a:off x="502920" y="2889504"/>
            <a:ext cx="1188720" cy="365760"/>
          </a:xfrm>
          <a:prstGeom prst="rect">
            <a:avLst/>
          </a:prstGeom>
          <a:noFill/>
          <a:ln/>
        </p:spPr>
        <p:txBody>
          <a:bodyPr wrap="square" lIns="0" tIns="0" rIns="0" bIns="0"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Coverage:</a:t>
            </a:r>
            <a:endParaRPr lang="en-US" sz="950" dirty="0"/>
          </a:p>
        </p:txBody>
      </p:sp>
      <p:sp>
        <p:nvSpPr>
          <p:cNvPr id="15" name="Text 13"/>
          <p:cNvSpPr/>
          <p:nvPr/>
        </p:nvSpPr>
        <p:spPr>
          <a:xfrm>
            <a:off x="1691640" y="2889504"/>
            <a:ext cx="2651760" cy="36576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Jan 1, 2015 – Apr 2026</a:t>
            </a:r>
            <a:endParaRPr lang="en-US" sz="950" dirty="0"/>
          </a:p>
        </p:txBody>
      </p:sp>
      <p:sp>
        <p:nvSpPr>
          <p:cNvPr id="16" name="Text 14"/>
          <p:cNvSpPr/>
          <p:nvPr/>
        </p:nvSpPr>
        <p:spPr>
          <a:xfrm>
            <a:off x="502920" y="3419856"/>
            <a:ext cx="1188720" cy="365760"/>
          </a:xfrm>
          <a:prstGeom prst="rect">
            <a:avLst/>
          </a:prstGeom>
          <a:noFill/>
          <a:ln/>
        </p:spPr>
        <p:txBody>
          <a:bodyPr wrap="square" lIns="0" tIns="0" rIns="0" bIns="0"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Financials:</a:t>
            </a:r>
            <a:endParaRPr lang="en-US" sz="950" dirty="0"/>
          </a:p>
        </p:txBody>
      </p:sp>
      <p:sp>
        <p:nvSpPr>
          <p:cNvPr id="17" name="Text 15"/>
          <p:cNvSpPr/>
          <p:nvPr/>
        </p:nvSpPr>
        <p:spPr>
          <a:xfrm>
            <a:off x="1691640" y="3419856"/>
            <a:ext cx="2651760" cy="36576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Annual: income stmt, balance sheet, cash flow (4–5 years)</a:t>
            </a:r>
            <a:endParaRPr lang="en-US" sz="950" dirty="0"/>
          </a:p>
        </p:txBody>
      </p:sp>
      <p:sp>
        <p:nvSpPr>
          <p:cNvPr id="18" name="Text 16"/>
          <p:cNvSpPr/>
          <p:nvPr/>
        </p:nvSpPr>
        <p:spPr>
          <a:xfrm>
            <a:off x="502920" y="3950208"/>
            <a:ext cx="1188720" cy="365760"/>
          </a:xfrm>
          <a:prstGeom prst="rect">
            <a:avLst/>
          </a:prstGeom>
          <a:noFill/>
          <a:ln/>
        </p:spPr>
        <p:txBody>
          <a:bodyPr wrap="square" lIns="0" tIns="0" rIns="0" bIns="0"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Key Vars:</a:t>
            </a:r>
            <a:endParaRPr lang="en-US" sz="950" dirty="0"/>
          </a:p>
        </p:txBody>
      </p:sp>
      <p:sp>
        <p:nvSpPr>
          <p:cNvPr id="19" name="Text 17"/>
          <p:cNvSpPr/>
          <p:nvPr/>
        </p:nvSpPr>
        <p:spPr>
          <a:xfrm>
            <a:off x="1691640" y="3950208"/>
            <a:ext cx="2651760" cy="36576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Close, Revenue, Net Income, Gross Profit, Op. Income, Free Cash Flow</a:t>
            </a:r>
            <a:endParaRPr lang="en-US" sz="950" dirty="0"/>
          </a:p>
        </p:txBody>
      </p:sp>
      <p:sp>
        <p:nvSpPr>
          <p:cNvPr id="20" name="Shape 18"/>
          <p:cNvSpPr/>
          <p:nvPr/>
        </p:nvSpPr>
        <p:spPr>
          <a:xfrm>
            <a:off x="4663440" y="914400"/>
            <a:ext cx="4160520" cy="38404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1" name="Shape 19"/>
          <p:cNvSpPr/>
          <p:nvPr/>
        </p:nvSpPr>
        <p:spPr>
          <a:xfrm>
            <a:off x="4663440" y="914400"/>
            <a:ext cx="4160520" cy="109728"/>
          </a:xfrm>
          <a:prstGeom prst="rect">
            <a:avLst/>
          </a:prstGeom>
          <a:solidFill>
            <a:srgbClr val="FF7F0E"/>
          </a:solidFill>
          <a:ln/>
        </p:spPr>
      </p:sp>
      <p:sp>
        <p:nvSpPr>
          <p:cNvPr id="22" name="Text 20"/>
          <p:cNvSpPr/>
          <p:nvPr/>
        </p:nvSpPr>
        <p:spPr>
          <a:xfrm>
            <a:off x="4846320" y="1051560"/>
            <a:ext cx="3840480" cy="365760"/>
          </a:xfrm>
          <a:prstGeom prst="rect">
            <a:avLst/>
          </a:prstGeom>
          <a:noFill/>
          <a:ln/>
        </p:spPr>
        <p:txBody>
          <a:bodyPr wrap="square" lIns="0" tIns="0" rIns="0" bIns="0" rtlCol="0" anchor="ctr"/>
          <a:lstStyle/>
          <a:p>
            <a:pPr indent="0" marL="0">
              <a:buNone/>
            </a:pPr>
            <a:r>
              <a:rPr lang="en-US" sz="1400" b="1" dirty="0">
                <a:solidFill>
                  <a:srgbClr val="FF7F0E"/>
                </a:solidFill>
                <a:latin typeface="Calibri" pitchFamily="34" charset="0"/>
                <a:ea typeface="Calibri" pitchFamily="34" charset="-122"/>
                <a:cs typeface="Calibri" pitchFamily="34" charset="-120"/>
              </a:rPr>
              <a:t>Source 2 — FRED (Federal Reserve)</a:t>
            </a:r>
            <a:endParaRPr lang="en-US" sz="1400" dirty="0"/>
          </a:p>
        </p:txBody>
      </p:sp>
      <p:sp>
        <p:nvSpPr>
          <p:cNvPr id="23" name="Text 21"/>
          <p:cNvSpPr/>
          <p:nvPr/>
        </p:nvSpPr>
        <p:spPr>
          <a:xfrm>
            <a:off x="4846320" y="1417320"/>
            <a:ext cx="3840480" cy="27432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via pandas-datareader  |  https://fred.stlouisfed.org</a:t>
            </a:r>
            <a:endParaRPr lang="en-US" sz="950" dirty="0"/>
          </a:p>
        </p:txBody>
      </p:sp>
      <p:sp>
        <p:nvSpPr>
          <p:cNvPr id="24" name="Text 22"/>
          <p:cNvSpPr/>
          <p:nvPr/>
        </p:nvSpPr>
        <p:spPr>
          <a:xfrm>
            <a:off x="4846320" y="1828800"/>
            <a:ext cx="1188720" cy="365760"/>
          </a:xfrm>
          <a:prstGeom prst="rect">
            <a:avLst/>
          </a:prstGeom>
          <a:noFill/>
          <a:ln/>
        </p:spPr>
        <p:txBody>
          <a:bodyPr wrap="square" lIns="0" tIns="0" rIns="0" bIns="0"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Series 1:</a:t>
            </a:r>
            <a:endParaRPr lang="en-US" sz="950" dirty="0"/>
          </a:p>
        </p:txBody>
      </p:sp>
      <p:sp>
        <p:nvSpPr>
          <p:cNvPr id="25" name="Text 23"/>
          <p:cNvSpPr/>
          <p:nvPr/>
        </p:nvSpPr>
        <p:spPr>
          <a:xfrm>
            <a:off x="6035040" y="1828800"/>
            <a:ext cx="2651760" cy="36576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CPIAUCSL — CPI All Urban Consumers</a:t>
            </a:r>
            <a:endParaRPr lang="en-US" sz="950" dirty="0"/>
          </a:p>
        </p:txBody>
      </p:sp>
      <p:sp>
        <p:nvSpPr>
          <p:cNvPr id="26" name="Text 24"/>
          <p:cNvSpPr/>
          <p:nvPr/>
        </p:nvSpPr>
        <p:spPr>
          <a:xfrm>
            <a:off x="4846320" y="2304288"/>
            <a:ext cx="1188720" cy="365760"/>
          </a:xfrm>
          <a:prstGeom prst="rect">
            <a:avLst/>
          </a:prstGeom>
          <a:noFill/>
          <a:ln/>
        </p:spPr>
        <p:txBody>
          <a:bodyPr wrap="square" lIns="0" tIns="0" rIns="0" bIns="0"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Frequency:</a:t>
            </a:r>
            <a:endParaRPr lang="en-US" sz="950" dirty="0"/>
          </a:p>
        </p:txBody>
      </p:sp>
      <p:sp>
        <p:nvSpPr>
          <p:cNvPr id="27" name="Text 25"/>
          <p:cNvSpPr/>
          <p:nvPr/>
        </p:nvSpPr>
        <p:spPr>
          <a:xfrm>
            <a:off x="6035040" y="2304288"/>
            <a:ext cx="2651760" cy="36576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Monthly (seasonally adjusted)</a:t>
            </a:r>
            <a:endParaRPr lang="en-US" sz="950" dirty="0"/>
          </a:p>
        </p:txBody>
      </p:sp>
      <p:sp>
        <p:nvSpPr>
          <p:cNvPr id="28" name="Text 26"/>
          <p:cNvSpPr/>
          <p:nvPr/>
        </p:nvSpPr>
        <p:spPr>
          <a:xfrm>
            <a:off x="4846320" y="2779776"/>
            <a:ext cx="1188720" cy="365760"/>
          </a:xfrm>
          <a:prstGeom prst="rect">
            <a:avLst/>
          </a:prstGeom>
          <a:noFill/>
          <a:ln/>
        </p:spPr>
        <p:txBody>
          <a:bodyPr wrap="square" lIns="0" tIns="0" rIns="0" bIns="0"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Series 2:</a:t>
            </a:r>
            <a:endParaRPr lang="en-US" sz="950" dirty="0"/>
          </a:p>
        </p:txBody>
      </p:sp>
      <p:sp>
        <p:nvSpPr>
          <p:cNvPr id="29" name="Text 27"/>
          <p:cNvSpPr/>
          <p:nvPr/>
        </p:nvSpPr>
        <p:spPr>
          <a:xfrm>
            <a:off x="6035040" y="2779776"/>
            <a:ext cx="2651760" cy="36576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DGS10 — 10-Year Treasury Rate</a:t>
            </a:r>
            <a:endParaRPr lang="en-US" sz="950" dirty="0"/>
          </a:p>
        </p:txBody>
      </p:sp>
      <p:sp>
        <p:nvSpPr>
          <p:cNvPr id="30" name="Text 28"/>
          <p:cNvSpPr/>
          <p:nvPr/>
        </p:nvSpPr>
        <p:spPr>
          <a:xfrm>
            <a:off x="4846320" y="3255264"/>
            <a:ext cx="1188720" cy="365760"/>
          </a:xfrm>
          <a:prstGeom prst="rect">
            <a:avLst/>
          </a:prstGeom>
          <a:noFill/>
          <a:ln/>
        </p:spPr>
        <p:txBody>
          <a:bodyPr wrap="square" lIns="0" tIns="0" rIns="0" bIns="0"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Frequency:</a:t>
            </a:r>
            <a:endParaRPr lang="en-US" sz="950" dirty="0"/>
          </a:p>
        </p:txBody>
      </p:sp>
      <p:sp>
        <p:nvSpPr>
          <p:cNvPr id="31" name="Text 29"/>
          <p:cNvSpPr/>
          <p:nvPr/>
        </p:nvSpPr>
        <p:spPr>
          <a:xfrm>
            <a:off x="6035040" y="3255264"/>
            <a:ext cx="2651760" cy="36576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Daily</a:t>
            </a:r>
            <a:endParaRPr lang="en-US" sz="950" dirty="0"/>
          </a:p>
        </p:txBody>
      </p:sp>
      <p:sp>
        <p:nvSpPr>
          <p:cNvPr id="32" name="Text 30"/>
          <p:cNvSpPr/>
          <p:nvPr/>
        </p:nvSpPr>
        <p:spPr>
          <a:xfrm>
            <a:off x="4846320" y="3730752"/>
            <a:ext cx="1188720" cy="365760"/>
          </a:xfrm>
          <a:prstGeom prst="rect">
            <a:avLst/>
          </a:prstGeom>
          <a:noFill/>
          <a:ln/>
        </p:spPr>
        <p:txBody>
          <a:bodyPr wrap="square" lIns="0" tIns="0" rIns="0" bIns="0"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Coverage:</a:t>
            </a:r>
            <a:endParaRPr lang="en-US" sz="950" dirty="0"/>
          </a:p>
        </p:txBody>
      </p:sp>
      <p:sp>
        <p:nvSpPr>
          <p:cNvPr id="33" name="Text 31"/>
          <p:cNvSpPr/>
          <p:nvPr/>
        </p:nvSpPr>
        <p:spPr>
          <a:xfrm>
            <a:off x="6035040" y="3730752"/>
            <a:ext cx="2651760" cy="36576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Jan 2015 – Apr 2026</a:t>
            </a:r>
            <a:endParaRPr lang="en-US" sz="950" dirty="0"/>
          </a:p>
        </p:txBody>
      </p:sp>
      <p:sp>
        <p:nvSpPr>
          <p:cNvPr id="34" name="Text 32"/>
          <p:cNvSpPr/>
          <p:nvPr/>
        </p:nvSpPr>
        <p:spPr>
          <a:xfrm>
            <a:off x="4846320" y="4206240"/>
            <a:ext cx="1188720" cy="365760"/>
          </a:xfrm>
          <a:prstGeom prst="rect">
            <a:avLst/>
          </a:prstGeom>
          <a:noFill/>
          <a:ln/>
        </p:spPr>
        <p:txBody>
          <a:bodyPr wrap="square" lIns="0" tIns="0" rIns="0" bIns="0"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Key Vars:</a:t>
            </a:r>
            <a:endParaRPr lang="en-US" sz="950" dirty="0"/>
          </a:p>
        </p:txBody>
      </p:sp>
      <p:sp>
        <p:nvSpPr>
          <p:cNvPr id="35" name="Text 33"/>
          <p:cNvSpPr/>
          <p:nvPr/>
        </p:nvSpPr>
        <p:spPr>
          <a:xfrm>
            <a:off x="6035040" y="4206240"/>
            <a:ext cx="2651760" cy="36576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CPI_US (inflation proxy), Treasury_10Y (rate level)</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B2A4A"/>
          </a:solidFill>
          <a:ln/>
        </p:spPr>
      </p:sp>
      <p:sp>
        <p:nvSpPr>
          <p:cNvPr id="3" name="Shape 1"/>
          <p:cNvSpPr/>
          <p:nvPr/>
        </p:nvSpPr>
        <p:spPr>
          <a:xfrm>
            <a:off x="8595360" y="146304"/>
            <a:ext cx="228600" cy="228600"/>
          </a:xfrm>
          <a:prstGeom prst="ellipse">
            <a:avLst/>
          </a:prstGeom>
          <a:solidFill>
            <a:srgbClr val="1F77B4"/>
          </a:solidFill>
          <a:ln/>
        </p:spPr>
      </p:sp>
      <p:sp>
        <p:nvSpPr>
          <p:cNvPr id="4" name="Shape 2"/>
          <p:cNvSpPr/>
          <p:nvPr/>
        </p:nvSpPr>
        <p:spPr>
          <a:xfrm>
            <a:off x="8823960" y="146304"/>
            <a:ext cx="228600" cy="228600"/>
          </a:xfrm>
          <a:prstGeom prst="ellipse">
            <a:avLst/>
          </a:prstGeom>
          <a:solidFill>
            <a:srgbClr val="FF7F0E"/>
          </a:solidFill>
          <a:ln/>
        </p:spPr>
      </p:sp>
      <p:sp>
        <p:nvSpPr>
          <p:cNvPr id="5" name="Text 3"/>
          <p:cNvSpPr/>
          <p:nvPr/>
        </p:nvSpPr>
        <p:spPr>
          <a:xfrm>
            <a:off x="365760" y="73152"/>
            <a:ext cx="8046720" cy="5943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Data Cleaning &amp; Manipulation Process</a:t>
            </a:r>
            <a:endParaRPr lang="en-US" sz="2200" dirty="0"/>
          </a:p>
        </p:txBody>
      </p:sp>
      <p:sp>
        <p:nvSpPr>
          <p:cNvPr id="6" name="Shape 4"/>
          <p:cNvSpPr/>
          <p:nvPr/>
        </p:nvSpPr>
        <p:spPr>
          <a:xfrm>
            <a:off x="320040" y="914400"/>
            <a:ext cx="4315968" cy="9144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7" name="Shape 5"/>
          <p:cNvSpPr/>
          <p:nvPr/>
        </p:nvSpPr>
        <p:spPr>
          <a:xfrm>
            <a:off x="457200" y="1097280"/>
            <a:ext cx="411480" cy="411480"/>
          </a:xfrm>
          <a:prstGeom prst="ellipse">
            <a:avLst/>
          </a:prstGeom>
          <a:solidFill>
            <a:srgbClr val="1F77B4"/>
          </a:solidFill>
          <a:ln/>
        </p:spPr>
      </p:sp>
      <p:sp>
        <p:nvSpPr>
          <p:cNvPr id="8" name="Text 6"/>
          <p:cNvSpPr/>
          <p:nvPr/>
        </p:nvSpPr>
        <p:spPr>
          <a:xfrm>
            <a:off x="457200" y="109728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987552" y="1005840"/>
            <a:ext cx="3474720" cy="292608"/>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Index &amp; Parsing</a:t>
            </a:r>
            <a:endParaRPr lang="en-US" sz="1100" dirty="0"/>
          </a:p>
        </p:txBody>
      </p:sp>
      <p:sp>
        <p:nvSpPr>
          <p:cNvPr id="10" name="Text 8"/>
          <p:cNvSpPr/>
          <p:nvPr/>
        </p:nvSpPr>
        <p:spPr>
          <a:xfrm>
            <a:off x="987552" y="1298448"/>
            <a:ext cx="3474720" cy="4572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Converted date strings to DatetimeIndex; set date as index for all DataFrames and sorted chronologically.</a:t>
            </a:r>
            <a:endParaRPr lang="en-US" sz="850" dirty="0"/>
          </a:p>
        </p:txBody>
      </p:sp>
      <p:sp>
        <p:nvSpPr>
          <p:cNvPr id="11" name="Shape 9"/>
          <p:cNvSpPr/>
          <p:nvPr/>
        </p:nvSpPr>
        <p:spPr>
          <a:xfrm>
            <a:off x="4800600" y="914400"/>
            <a:ext cx="4315968" cy="9144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2" name="Shape 10"/>
          <p:cNvSpPr/>
          <p:nvPr/>
        </p:nvSpPr>
        <p:spPr>
          <a:xfrm>
            <a:off x="4937760" y="1097280"/>
            <a:ext cx="411480" cy="411480"/>
          </a:xfrm>
          <a:prstGeom prst="ellipse">
            <a:avLst/>
          </a:prstGeom>
          <a:solidFill>
            <a:srgbClr val="1F77B4"/>
          </a:solidFill>
          <a:ln/>
        </p:spPr>
      </p:sp>
      <p:sp>
        <p:nvSpPr>
          <p:cNvPr id="13" name="Text 11"/>
          <p:cNvSpPr/>
          <p:nvPr/>
        </p:nvSpPr>
        <p:spPr>
          <a:xfrm>
            <a:off x="4937760" y="109728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5468112" y="1005840"/>
            <a:ext cx="3474720" cy="292608"/>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Missing Value Handling</a:t>
            </a:r>
            <a:endParaRPr lang="en-US" sz="1100" dirty="0"/>
          </a:p>
        </p:txBody>
      </p:sp>
      <p:sp>
        <p:nvSpPr>
          <p:cNvPr id="15" name="Text 13"/>
          <p:cNvSpPr/>
          <p:nvPr/>
        </p:nvSpPr>
        <p:spPr>
          <a:xfrm>
            <a:off x="5468112" y="1298448"/>
            <a:ext cx="3474720" cy="4572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Identified NaN gaps (weekends/holidays, monthly CPI vs daily treasury). Dropped rows where both close prices were missing.</a:t>
            </a:r>
            <a:endParaRPr lang="en-US" sz="850" dirty="0"/>
          </a:p>
        </p:txBody>
      </p:sp>
      <p:sp>
        <p:nvSpPr>
          <p:cNvPr id="16" name="Shape 14"/>
          <p:cNvSpPr/>
          <p:nvPr/>
        </p:nvSpPr>
        <p:spPr>
          <a:xfrm>
            <a:off x="320040" y="1938528"/>
            <a:ext cx="4315968" cy="9144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7" name="Shape 15"/>
          <p:cNvSpPr/>
          <p:nvPr/>
        </p:nvSpPr>
        <p:spPr>
          <a:xfrm>
            <a:off x="457200" y="2121408"/>
            <a:ext cx="411480" cy="411480"/>
          </a:xfrm>
          <a:prstGeom prst="ellipse">
            <a:avLst/>
          </a:prstGeom>
          <a:solidFill>
            <a:srgbClr val="1F77B4"/>
          </a:solidFill>
          <a:ln/>
        </p:spPr>
      </p:sp>
      <p:sp>
        <p:nvSpPr>
          <p:cNvPr id="18" name="Text 16"/>
          <p:cNvSpPr/>
          <p:nvPr/>
        </p:nvSpPr>
        <p:spPr>
          <a:xfrm>
            <a:off x="457200" y="212140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987552" y="2029968"/>
            <a:ext cx="3474720" cy="292608"/>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Data Type Conversion</a:t>
            </a:r>
            <a:endParaRPr lang="en-US" sz="1100" dirty="0"/>
          </a:p>
        </p:txBody>
      </p:sp>
      <p:sp>
        <p:nvSpPr>
          <p:cNvPr id="20" name="Text 18"/>
          <p:cNvSpPr/>
          <p:nvPr/>
        </p:nvSpPr>
        <p:spPr>
          <a:xfrm>
            <a:off x="987552" y="2322576"/>
            <a:ext cx="3474720" cy="4572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Cast price/volume columns to float64. Converted financial statement values to numeric using pd.to_numeric(errors='coerce').</a:t>
            </a:r>
            <a:endParaRPr lang="en-US" sz="850" dirty="0"/>
          </a:p>
        </p:txBody>
      </p:sp>
      <p:sp>
        <p:nvSpPr>
          <p:cNvPr id="21" name="Shape 19"/>
          <p:cNvSpPr/>
          <p:nvPr/>
        </p:nvSpPr>
        <p:spPr>
          <a:xfrm>
            <a:off x="4800600" y="1938528"/>
            <a:ext cx="4315968" cy="9144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2" name="Shape 20"/>
          <p:cNvSpPr/>
          <p:nvPr/>
        </p:nvSpPr>
        <p:spPr>
          <a:xfrm>
            <a:off x="4937760" y="2121408"/>
            <a:ext cx="411480" cy="411480"/>
          </a:xfrm>
          <a:prstGeom prst="ellipse">
            <a:avLst/>
          </a:prstGeom>
          <a:solidFill>
            <a:srgbClr val="1F77B4"/>
          </a:solidFill>
          <a:ln/>
        </p:spPr>
      </p:sp>
      <p:sp>
        <p:nvSpPr>
          <p:cNvPr id="23" name="Text 21"/>
          <p:cNvSpPr/>
          <p:nvPr/>
        </p:nvSpPr>
        <p:spPr>
          <a:xfrm>
            <a:off x="4937760" y="212140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2"/>
          <p:cNvSpPr/>
          <p:nvPr/>
        </p:nvSpPr>
        <p:spPr>
          <a:xfrm>
            <a:off x="5468112" y="2029968"/>
            <a:ext cx="3474720" cy="292608"/>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Subsetting &amp; Filtering</a:t>
            </a:r>
            <a:endParaRPr lang="en-US" sz="1100" dirty="0"/>
          </a:p>
        </p:txBody>
      </p:sp>
      <p:sp>
        <p:nvSpPr>
          <p:cNvPr id="25" name="Text 23"/>
          <p:cNvSpPr/>
          <p:nvPr/>
        </p:nvSpPr>
        <p:spPr>
          <a:xfrm>
            <a:off x="5468112" y="2322576"/>
            <a:ext cx="3474720" cy="4572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Extracted specific rows from financial statements (Revenue, Net Income, Gross Profit, Operating Income). Filtered to 2015–2026.</a:t>
            </a:r>
            <a:endParaRPr lang="en-US" sz="850" dirty="0"/>
          </a:p>
        </p:txBody>
      </p:sp>
      <p:sp>
        <p:nvSpPr>
          <p:cNvPr id="26" name="Shape 24"/>
          <p:cNvSpPr/>
          <p:nvPr/>
        </p:nvSpPr>
        <p:spPr>
          <a:xfrm>
            <a:off x="320040" y="2962656"/>
            <a:ext cx="4315968" cy="9144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7" name="Shape 25"/>
          <p:cNvSpPr/>
          <p:nvPr/>
        </p:nvSpPr>
        <p:spPr>
          <a:xfrm>
            <a:off x="457200" y="3145536"/>
            <a:ext cx="411480" cy="411480"/>
          </a:xfrm>
          <a:prstGeom prst="ellipse">
            <a:avLst/>
          </a:prstGeom>
          <a:solidFill>
            <a:srgbClr val="FF7F0E"/>
          </a:solidFill>
          <a:ln/>
        </p:spPr>
      </p:sp>
      <p:sp>
        <p:nvSpPr>
          <p:cNvPr id="28" name="Text 26"/>
          <p:cNvSpPr/>
          <p:nvPr/>
        </p:nvSpPr>
        <p:spPr>
          <a:xfrm>
            <a:off x="457200" y="3145536"/>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7"/>
          <p:cNvSpPr/>
          <p:nvPr/>
        </p:nvSpPr>
        <p:spPr>
          <a:xfrm>
            <a:off x="987552" y="3054096"/>
            <a:ext cx="3474720" cy="292608"/>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New Column Generation</a:t>
            </a:r>
            <a:endParaRPr lang="en-US" sz="1100" dirty="0"/>
          </a:p>
        </p:txBody>
      </p:sp>
      <p:sp>
        <p:nvSpPr>
          <p:cNvPr id="30" name="Text 28"/>
          <p:cNvSpPr/>
          <p:nvPr/>
        </p:nvSpPr>
        <p:spPr>
          <a:xfrm>
            <a:off x="987552" y="3346704"/>
            <a:ext cx="3474720" cy="4572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Computed daily returns (pct_change), profit margins, normalized prices (base=100), and annualized volatility (std × √252).</a:t>
            </a:r>
            <a:endParaRPr lang="en-US" sz="850" dirty="0"/>
          </a:p>
        </p:txBody>
      </p:sp>
      <p:sp>
        <p:nvSpPr>
          <p:cNvPr id="31" name="Shape 29"/>
          <p:cNvSpPr/>
          <p:nvPr/>
        </p:nvSpPr>
        <p:spPr>
          <a:xfrm>
            <a:off x="4800600" y="2962656"/>
            <a:ext cx="4315968" cy="9144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2" name="Shape 30"/>
          <p:cNvSpPr/>
          <p:nvPr/>
        </p:nvSpPr>
        <p:spPr>
          <a:xfrm>
            <a:off x="4937760" y="3145536"/>
            <a:ext cx="411480" cy="411480"/>
          </a:xfrm>
          <a:prstGeom prst="ellipse">
            <a:avLst/>
          </a:prstGeom>
          <a:solidFill>
            <a:srgbClr val="FF7F0E"/>
          </a:solidFill>
          <a:ln/>
        </p:spPr>
      </p:sp>
      <p:sp>
        <p:nvSpPr>
          <p:cNvPr id="33" name="Text 31"/>
          <p:cNvSpPr/>
          <p:nvPr/>
        </p:nvSpPr>
        <p:spPr>
          <a:xfrm>
            <a:off x="4937760" y="3145536"/>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4" name="Text 32"/>
          <p:cNvSpPr/>
          <p:nvPr/>
        </p:nvSpPr>
        <p:spPr>
          <a:xfrm>
            <a:off x="5468112" y="3054096"/>
            <a:ext cx="3474720" cy="292608"/>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Merging &amp; Resampling</a:t>
            </a:r>
            <a:endParaRPr lang="en-US" sz="1100" dirty="0"/>
          </a:p>
        </p:txBody>
      </p:sp>
      <p:sp>
        <p:nvSpPr>
          <p:cNvPr id="35" name="Text 33"/>
          <p:cNvSpPr/>
          <p:nvPr/>
        </p:nvSpPr>
        <p:spPr>
          <a:xfrm>
            <a:off x="5468112" y="3346704"/>
            <a:ext cx="3474720" cy="4572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Resampled daily prices to monthly (last day). Merged stock returns, CPI changes, and treasury yield changes via inner join on date.</a:t>
            </a:r>
            <a:endParaRPr lang="en-US" sz="850" dirty="0"/>
          </a:p>
        </p:txBody>
      </p:sp>
      <p:sp>
        <p:nvSpPr>
          <p:cNvPr id="36" name="Shape 34"/>
          <p:cNvSpPr/>
          <p:nvPr/>
        </p:nvSpPr>
        <p:spPr>
          <a:xfrm>
            <a:off x="320040" y="3986784"/>
            <a:ext cx="4315968" cy="9144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7" name="Shape 35"/>
          <p:cNvSpPr/>
          <p:nvPr/>
        </p:nvSpPr>
        <p:spPr>
          <a:xfrm>
            <a:off x="457200" y="4169664"/>
            <a:ext cx="411480" cy="411480"/>
          </a:xfrm>
          <a:prstGeom prst="ellipse">
            <a:avLst/>
          </a:prstGeom>
          <a:solidFill>
            <a:srgbClr val="FF7F0E"/>
          </a:solidFill>
          <a:ln/>
        </p:spPr>
      </p:sp>
      <p:sp>
        <p:nvSpPr>
          <p:cNvPr id="38" name="Text 36"/>
          <p:cNvSpPr/>
          <p:nvPr/>
        </p:nvSpPr>
        <p:spPr>
          <a:xfrm>
            <a:off x="457200" y="4169664"/>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9" name="Text 37"/>
          <p:cNvSpPr/>
          <p:nvPr/>
        </p:nvSpPr>
        <p:spPr>
          <a:xfrm>
            <a:off x="987552" y="4078224"/>
            <a:ext cx="3474720" cy="292608"/>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Aggregation</a:t>
            </a:r>
            <a:endParaRPr lang="en-US" sz="1100" dirty="0"/>
          </a:p>
        </p:txBody>
      </p:sp>
      <p:sp>
        <p:nvSpPr>
          <p:cNvPr id="40" name="Text 38"/>
          <p:cNvSpPr/>
          <p:nvPr/>
        </p:nvSpPr>
        <p:spPr>
          <a:xfrm>
            <a:off x="987552" y="4370832"/>
            <a:ext cx="3474720" cy="4572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Computed mean, median, min/max. Applied groupby on year for annual correlations. Calculated 90-day and 252-day rolling correlations.</a:t>
            </a:r>
            <a:endParaRPr lang="en-US" sz="850" dirty="0"/>
          </a:p>
        </p:txBody>
      </p:sp>
      <p:sp>
        <p:nvSpPr>
          <p:cNvPr id="41" name="Shape 39"/>
          <p:cNvSpPr/>
          <p:nvPr/>
        </p:nvSpPr>
        <p:spPr>
          <a:xfrm>
            <a:off x="4800600" y="3986784"/>
            <a:ext cx="4315968" cy="9144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42" name="Shape 40"/>
          <p:cNvSpPr/>
          <p:nvPr/>
        </p:nvSpPr>
        <p:spPr>
          <a:xfrm>
            <a:off x="4937760" y="4169664"/>
            <a:ext cx="411480" cy="411480"/>
          </a:xfrm>
          <a:prstGeom prst="ellipse">
            <a:avLst/>
          </a:prstGeom>
          <a:solidFill>
            <a:srgbClr val="FF7F0E"/>
          </a:solidFill>
          <a:ln/>
        </p:spPr>
      </p:sp>
      <p:sp>
        <p:nvSpPr>
          <p:cNvPr id="43" name="Text 41"/>
          <p:cNvSpPr/>
          <p:nvPr/>
        </p:nvSpPr>
        <p:spPr>
          <a:xfrm>
            <a:off x="4937760" y="4169664"/>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44" name="Text 42"/>
          <p:cNvSpPr/>
          <p:nvPr/>
        </p:nvSpPr>
        <p:spPr>
          <a:xfrm>
            <a:off x="5468112" y="4078224"/>
            <a:ext cx="3474720" cy="292608"/>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Scaling</a:t>
            </a:r>
            <a:endParaRPr lang="en-US" sz="1100" dirty="0"/>
          </a:p>
        </p:txBody>
      </p:sp>
      <p:sp>
        <p:nvSpPr>
          <p:cNvPr id="45" name="Text 43"/>
          <p:cNvSpPr/>
          <p:nvPr/>
        </p:nvSpPr>
        <p:spPr>
          <a:xfrm>
            <a:off x="5468112" y="4370832"/>
            <a:ext cx="3474720" cy="4572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Scaled Apple financials to USD billions (÷1e9), Samsung to KRW trillions (÷1e12) for readability in charts and tables.</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1F77B4"/>
          </a:solidFill>
          <a:ln/>
        </p:spPr>
      </p:sp>
      <p:sp>
        <p:nvSpPr>
          <p:cNvPr id="3" name="Shape 1"/>
          <p:cNvSpPr/>
          <p:nvPr/>
        </p:nvSpPr>
        <p:spPr>
          <a:xfrm>
            <a:off x="228600" y="0"/>
            <a:ext cx="54864" cy="5143500"/>
          </a:xfrm>
          <a:prstGeom prst="rect">
            <a:avLst/>
          </a:prstGeom>
          <a:solidFill>
            <a:srgbClr val="FF7F0E"/>
          </a:solidFill>
          <a:ln/>
        </p:spPr>
      </p:sp>
      <p:sp>
        <p:nvSpPr>
          <p:cNvPr id="4" name="Text 2"/>
          <p:cNvSpPr/>
          <p:nvPr/>
        </p:nvSpPr>
        <p:spPr>
          <a:xfrm>
            <a:off x="640080" y="1645920"/>
            <a:ext cx="7772400" cy="109728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Analysis 1</a:t>
            </a:r>
            <a:endParaRPr lang="en-US" sz="4000" dirty="0"/>
          </a:p>
        </p:txBody>
      </p:sp>
      <p:sp>
        <p:nvSpPr>
          <p:cNvPr id="5" name="Text 3"/>
          <p:cNvSpPr/>
          <p:nvPr/>
        </p:nvSpPr>
        <p:spPr>
          <a:xfrm>
            <a:off x="640080" y="2834640"/>
            <a:ext cx="7772400" cy="73152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Stock Price Performance &amp; Correlation</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B2A4A"/>
          </a:solidFill>
          <a:ln/>
        </p:spPr>
      </p:sp>
      <p:sp>
        <p:nvSpPr>
          <p:cNvPr id="3" name="Shape 1"/>
          <p:cNvSpPr/>
          <p:nvPr/>
        </p:nvSpPr>
        <p:spPr>
          <a:xfrm>
            <a:off x="8595360" y="146304"/>
            <a:ext cx="228600" cy="228600"/>
          </a:xfrm>
          <a:prstGeom prst="ellipse">
            <a:avLst/>
          </a:prstGeom>
          <a:solidFill>
            <a:srgbClr val="1F77B4"/>
          </a:solidFill>
          <a:ln/>
        </p:spPr>
      </p:sp>
      <p:sp>
        <p:nvSpPr>
          <p:cNvPr id="4" name="Shape 2"/>
          <p:cNvSpPr/>
          <p:nvPr/>
        </p:nvSpPr>
        <p:spPr>
          <a:xfrm>
            <a:off x="8823960" y="146304"/>
            <a:ext cx="228600" cy="228600"/>
          </a:xfrm>
          <a:prstGeom prst="ellipse">
            <a:avLst/>
          </a:prstGeom>
          <a:solidFill>
            <a:srgbClr val="FF7F0E"/>
          </a:solidFill>
          <a:ln/>
        </p:spPr>
      </p:sp>
      <p:sp>
        <p:nvSpPr>
          <p:cNvPr id="5" name="Text 3"/>
          <p:cNvSpPr/>
          <p:nvPr/>
        </p:nvSpPr>
        <p:spPr>
          <a:xfrm>
            <a:off x="365760" y="73152"/>
            <a:ext cx="8046720" cy="5943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RQ 1 — Normalized Stock Price Performance (2015–2026)</a:t>
            </a:r>
            <a:endParaRPr lang="en-US" sz="2200" dirty="0"/>
          </a:p>
        </p:txBody>
      </p:sp>
      <p:pic>
        <p:nvPicPr>
          <p:cNvPr id="6" name="Image 0" descr="/sessions/zealous-optimistic-turing/mnt/Apple-vs-samsung---competitive-Financial-Market-analysis/plot1_normalized_prices.png">    </p:cNvPr>
          <p:cNvPicPr>
            <a:picLocks noChangeAspect="1"/>
          </p:cNvPicPr>
          <p:nvPr/>
        </p:nvPicPr>
        <p:blipFill>
          <a:blip r:embed="rId1"/>
          <a:srcRect l="0" r="0" t="0" b="0"/>
          <a:stretch/>
        </p:blipFill>
        <p:spPr>
          <a:xfrm>
            <a:off x="320040" y="822960"/>
            <a:ext cx="8503920" cy="4114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B2A4A"/>
          </a:solidFill>
          <a:ln/>
        </p:spPr>
      </p:sp>
      <p:sp>
        <p:nvSpPr>
          <p:cNvPr id="3" name="Shape 1"/>
          <p:cNvSpPr/>
          <p:nvPr/>
        </p:nvSpPr>
        <p:spPr>
          <a:xfrm>
            <a:off x="8595360" y="146304"/>
            <a:ext cx="228600" cy="228600"/>
          </a:xfrm>
          <a:prstGeom prst="ellipse">
            <a:avLst/>
          </a:prstGeom>
          <a:solidFill>
            <a:srgbClr val="1F77B4"/>
          </a:solidFill>
          <a:ln/>
        </p:spPr>
      </p:sp>
      <p:sp>
        <p:nvSpPr>
          <p:cNvPr id="4" name="Shape 2"/>
          <p:cNvSpPr/>
          <p:nvPr/>
        </p:nvSpPr>
        <p:spPr>
          <a:xfrm>
            <a:off x="8823960" y="146304"/>
            <a:ext cx="228600" cy="228600"/>
          </a:xfrm>
          <a:prstGeom prst="ellipse">
            <a:avLst/>
          </a:prstGeom>
          <a:solidFill>
            <a:srgbClr val="FF7F0E"/>
          </a:solidFill>
          <a:ln/>
        </p:spPr>
      </p:sp>
      <p:sp>
        <p:nvSpPr>
          <p:cNvPr id="5" name="Text 3"/>
          <p:cNvSpPr/>
          <p:nvPr/>
        </p:nvSpPr>
        <p:spPr>
          <a:xfrm>
            <a:off x="365760" y="73152"/>
            <a:ext cx="8046720" cy="5943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RQ 1 — Return Correlation: Rolling &amp; Annual Breakdown</a:t>
            </a:r>
            <a:endParaRPr lang="en-US" sz="2200" dirty="0"/>
          </a:p>
        </p:txBody>
      </p:sp>
      <p:pic>
        <p:nvPicPr>
          <p:cNvPr id="6" name="Image 0" descr="/sessions/zealous-optimistic-turing/mnt/Apple-vs-samsung---competitive-Financial-Market-analysis/plot2_rolling_correlation.png">    </p:cNvPr>
          <p:cNvPicPr>
            <a:picLocks noChangeAspect="1"/>
          </p:cNvPicPr>
          <p:nvPr/>
        </p:nvPicPr>
        <p:blipFill>
          <a:blip r:embed="rId1"/>
          <a:srcRect l="0" r="0" t="-4000" b="-4000"/>
          <a:stretch/>
        </p:blipFill>
        <p:spPr>
          <a:xfrm>
            <a:off x="320040" y="822960"/>
            <a:ext cx="5120640" cy="2468880"/>
          </a:xfrm>
          <a:prstGeom prst="rect">
            <a:avLst/>
          </a:prstGeom>
        </p:spPr>
      </p:pic>
      <p:pic>
        <p:nvPicPr>
          <p:cNvPr id="7" name="Image 1" descr="/sessions/zealous-optimistic-turing/mnt/Apple-vs-samsung---competitive-Financial-Market-analysis/plot3_scatter_annual_corr.png">    </p:cNvPr>
          <p:cNvPicPr>
            <a:picLocks noChangeAspect="1"/>
          </p:cNvPicPr>
          <p:nvPr/>
        </p:nvPicPr>
        <p:blipFill>
          <a:blip r:embed="rId2"/>
          <a:srcRect l="-7143" r="-7143" t="0" b="0"/>
          <a:stretch/>
        </p:blipFill>
        <p:spPr>
          <a:xfrm>
            <a:off x="320040" y="3200400"/>
            <a:ext cx="5120640" cy="1600200"/>
          </a:xfrm>
          <a:prstGeom prst="rect">
            <a:avLst/>
          </a:prstGeom>
        </p:spPr>
      </p:pic>
      <p:sp>
        <p:nvSpPr>
          <p:cNvPr id="8" name="Shape 4"/>
          <p:cNvSpPr/>
          <p:nvPr/>
        </p:nvSpPr>
        <p:spPr>
          <a:xfrm>
            <a:off x="5623560" y="822960"/>
            <a:ext cx="3200400" cy="41148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9" name="Shape 5"/>
          <p:cNvSpPr/>
          <p:nvPr/>
        </p:nvSpPr>
        <p:spPr>
          <a:xfrm>
            <a:off x="5623560" y="822960"/>
            <a:ext cx="3200400" cy="109728"/>
          </a:xfrm>
          <a:prstGeom prst="rect">
            <a:avLst/>
          </a:prstGeom>
          <a:solidFill>
            <a:srgbClr val="1F77B4"/>
          </a:solidFill>
          <a:ln/>
        </p:spPr>
      </p:sp>
      <p:sp>
        <p:nvSpPr>
          <p:cNvPr id="10" name="Text 6"/>
          <p:cNvSpPr/>
          <p:nvPr/>
        </p:nvSpPr>
        <p:spPr>
          <a:xfrm>
            <a:off x="5760720" y="960120"/>
            <a:ext cx="2926080" cy="36576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Key Findings</a:t>
            </a:r>
            <a:endParaRPr lang="en-US" sz="1300" dirty="0"/>
          </a:p>
        </p:txBody>
      </p:sp>
      <p:sp>
        <p:nvSpPr>
          <p:cNvPr id="11" name="Shape 7"/>
          <p:cNvSpPr/>
          <p:nvPr/>
        </p:nvSpPr>
        <p:spPr>
          <a:xfrm>
            <a:off x="5715000" y="1417320"/>
            <a:ext cx="2926080" cy="329184"/>
          </a:xfrm>
          <a:prstGeom prst="rect">
            <a:avLst/>
          </a:prstGeom>
          <a:solidFill>
            <a:srgbClr val="F0F4FF"/>
          </a:solidFill>
          <a:ln/>
        </p:spPr>
      </p:sp>
      <p:sp>
        <p:nvSpPr>
          <p:cNvPr id="12" name="Text 8"/>
          <p:cNvSpPr/>
          <p:nvPr/>
        </p:nvSpPr>
        <p:spPr>
          <a:xfrm>
            <a:off x="5779008" y="1463040"/>
            <a:ext cx="155448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Overall r</a:t>
            </a:r>
            <a:endParaRPr lang="en-US" sz="950" dirty="0"/>
          </a:p>
        </p:txBody>
      </p:sp>
      <p:sp>
        <p:nvSpPr>
          <p:cNvPr id="13" name="Text 9"/>
          <p:cNvSpPr/>
          <p:nvPr/>
        </p:nvSpPr>
        <p:spPr>
          <a:xfrm>
            <a:off x="7315200" y="1463040"/>
            <a:ext cx="1188720" cy="256032"/>
          </a:xfrm>
          <a:prstGeom prst="rect">
            <a:avLst/>
          </a:prstGeom>
          <a:noFill/>
          <a:ln/>
        </p:spPr>
        <p:txBody>
          <a:bodyPr wrap="square" lIns="0" tIns="0" rIns="0" bIns="0" rtlCol="0" anchor="ctr"/>
          <a:lstStyle/>
          <a:p>
            <a:pPr algn="r" indent="0" marL="0">
              <a:buNone/>
            </a:pPr>
            <a:r>
              <a:rPr lang="en-US" sz="950" b="1" dirty="0">
                <a:solidFill>
                  <a:srgbClr val="1B2A4A"/>
                </a:solidFill>
                <a:latin typeface="Calibri" pitchFamily="34" charset="0"/>
                <a:ea typeface="Calibri" pitchFamily="34" charset="-122"/>
                <a:cs typeface="Calibri" pitchFamily="34" charset="-120"/>
              </a:rPr>
              <a:t>0.068 (very low)</a:t>
            </a:r>
            <a:endParaRPr lang="en-US" sz="950" dirty="0"/>
          </a:p>
        </p:txBody>
      </p:sp>
      <p:sp>
        <p:nvSpPr>
          <p:cNvPr id="14" name="Shape 10"/>
          <p:cNvSpPr/>
          <p:nvPr/>
        </p:nvSpPr>
        <p:spPr>
          <a:xfrm>
            <a:off x="5715000" y="1810512"/>
            <a:ext cx="2926080" cy="329184"/>
          </a:xfrm>
          <a:prstGeom prst="rect">
            <a:avLst/>
          </a:prstGeom>
          <a:solidFill>
            <a:srgbClr val="FFFFFF"/>
          </a:solidFill>
          <a:ln/>
        </p:spPr>
      </p:sp>
      <p:sp>
        <p:nvSpPr>
          <p:cNvPr id="15" name="Text 11"/>
          <p:cNvSpPr/>
          <p:nvPr/>
        </p:nvSpPr>
        <p:spPr>
          <a:xfrm>
            <a:off x="5779008" y="1856232"/>
            <a:ext cx="155448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Peak corr.</a:t>
            </a:r>
            <a:endParaRPr lang="en-US" sz="950" dirty="0"/>
          </a:p>
        </p:txBody>
      </p:sp>
      <p:sp>
        <p:nvSpPr>
          <p:cNvPr id="16" name="Text 12"/>
          <p:cNvSpPr/>
          <p:nvPr/>
        </p:nvSpPr>
        <p:spPr>
          <a:xfrm>
            <a:off x="7315200" y="1856232"/>
            <a:ext cx="1188720" cy="256032"/>
          </a:xfrm>
          <a:prstGeom prst="rect">
            <a:avLst/>
          </a:prstGeom>
          <a:noFill/>
          <a:ln/>
        </p:spPr>
        <p:txBody>
          <a:bodyPr wrap="square" lIns="0" tIns="0" rIns="0" bIns="0" rtlCol="0" anchor="ctr"/>
          <a:lstStyle/>
          <a:p>
            <a:pPr algn="r" indent="0" marL="0">
              <a:buNone/>
            </a:pPr>
            <a:r>
              <a:rPr lang="en-US" sz="950" b="1" dirty="0">
                <a:solidFill>
                  <a:srgbClr val="1B2A4A"/>
                </a:solidFill>
                <a:latin typeface="Calibri" pitchFamily="34" charset="0"/>
                <a:ea typeface="Calibri" pitchFamily="34" charset="-122"/>
                <a:cs typeface="Calibri" pitchFamily="34" charset="-120"/>
              </a:rPr>
              <a:t>~0.45 (COVID 2020)</a:t>
            </a:r>
            <a:endParaRPr lang="en-US" sz="950" dirty="0"/>
          </a:p>
        </p:txBody>
      </p:sp>
      <p:sp>
        <p:nvSpPr>
          <p:cNvPr id="17" name="Shape 13"/>
          <p:cNvSpPr/>
          <p:nvPr/>
        </p:nvSpPr>
        <p:spPr>
          <a:xfrm>
            <a:off x="5715000" y="2203704"/>
            <a:ext cx="2926080" cy="329184"/>
          </a:xfrm>
          <a:prstGeom prst="rect">
            <a:avLst/>
          </a:prstGeom>
          <a:solidFill>
            <a:srgbClr val="F0F4FF"/>
          </a:solidFill>
          <a:ln/>
        </p:spPr>
      </p:sp>
      <p:sp>
        <p:nvSpPr>
          <p:cNvPr id="18" name="Text 14"/>
          <p:cNvSpPr/>
          <p:nvPr/>
        </p:nvSpPr>
        <p:spPr>
          <a:xfrm>
            <a:off x="5779008" y="2249424"/>
            <a:ext cx="155448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Best year</a:t>
            </a:r>
            <a:endParaRPr lang="en-US" sz="950" dirty="0"/>
          </a:p>
        </p:txBody>
      </p:sp>
      <p:sp>
        <p:nvSpPr>
          <p:cNvPr id="19" name="Text 15"/>
          <p:cNvSpPr/>
          <p:nvPr/>
        </p:nvSpPr>
        <p:spPr>
          <a:xfrm>
            <a:off x="7315200" y="2249424"/>
            <a:ext cx="1188720" cy="256032"/>
          </a:xfrm>
          <a:prstGeom prst="rect">
            <a:avLst/>
          </a:prstGeom>
          <a:noFill/>
          <a:ln/>
        </p:spPr>
        <p:txBody>
          <a:bodyPr wrap="square" lIns="0" tIns="0" rIns="0" bIns="0" rtlCol="0" anchor="ctr"/>
          <a:lstStyle/>
          <a:p>
            <a:pPr algn="r" indent="0" marL="0">
              <a:buNone/>
            </a:pPr>
            <a:r>
              <a:rPr lang="en-US" sz="950" b="1" dirty="0">
                <a:solidFill>
                  <a:srgbClr val="1B2A4A"/>
                </a:solidFill>
                <a:latin typeface="Calibri" pitchFamily="34" charset="0"/>
                <a:ea typeface="Calibri" pitchFamily="34" charset="-122"/>
                <a:cs typeface="Calibri" pitchFamily="34" charset="-120"/>
              </a:rPr>
              <a:t>2020: r = 0.44</a:t>
            </a:r>
            <a:endParaRPr lang="en-US" sz="950" dirty="0"/>
          </a:p>
        </p:txBody>
      </p:sp>
      <p:sp>
        <p:nvSpPr>
          <p:cNvPr id="20" name="Shape 16"/>
          <p:cNvSpPr/>
          <p:nvPr/>
        </p:nvSpPr>
        <p:spPr>
          <a:xfrm>
            <a:off x="5715000" y="2596896"/>
            <a:ext cx="2926080" cy="329184"/>
          </a:xfrm>
          <a:prstGeom prst="rect">
            <a:avLst/>
          </a:prstGeom>
          <a:solidFill>
            <a:srgbClr val="FFFFFF"/>
          </a:solidFill>
          <a:ln/>
        </p:spPr>
      </p:sp>
      <p:sp>
        <p:nvSpPr>
          <p:cNvPr id="21" name="Text 17"/>
          <p:cNvSpPr/>
          <p:nvPr/>
        </p:nvSpPr>
        <p:spPr>
          <a:xfrm>
            <a:off x="5779008" y="2642616"/>
            <a:ext cx="155448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Apple CAGR</a:t>
            </a:r>
            <a:endParaRPr lang="en-US" sz="950" dirty="0"/>
          </a:p>
        </p:txBody>
      </p:sp>
      <p:sp>
        <p:nvSpPr>
          <p:cNvPr id="22" name="Text 18"/>
          <p:cNvSpPr/>
          <p:nvPr/>
        </p:nvSpPr>
        <p:spPr>
          <a:xfrm>
            <a:off x="7315200" y="2642616"/>
            <a:ext cx="1188720" cy="256032"/>
          </a:xfrm>
          <a:prstGeom prst="rect">
            <a:avLst/>
          </a:prstGeom>
          <a:noFill/>
          <a:ln/>
        </p:spPr>
        <p:txBody>
          <a:bodyPr wrap="square" lIns="0" tIns="0" rIns="0" bIns="0" rtlCol="0" anchor="ctr"/>
          <a:lstStyle/>
          <a:p>
            <a:pPr algn="r" indent="0" marL="0">
              <a:buNone/>
            </a:pPr>
            <a:r>
              <a:rPr lang="en-US" sz="950" b="1" dirty="0">
                <a:solidFill>
                  <a:srgbClr val="1B2A4A"/>
                </a:solidFill>
                <a:latin typeface="Calibri" pitchFamily="34" charset="0"/>
                <a:ea typeface="Calibri" pitchFamily="34" charset="-122"/>
                <a:cs typeface="Calibri" pitchFamily="34" charset="-120"/>
              </a:rPr>
              <a:t>31.0% annualized</a:t>
            </a:r>
            <a:endParaRPr lang="en-US" sz="950" dirty="0"/>
          </a:p>
        </p:txBody>
      </p:sp>
      <p:sp>
        <p:nvSpPr>
          <p:cNvPr id="23" name="Shape 19"/>
          <p:cNvSpPr/>
          <p:nvPr/>
        </p:nvSpPr>
        <p:spPr>
          <a:xfrm>
            <a:off x="5715000" y="2990088"/>
            <a:ext cx="2926080" cy="329184"/>
          </a:xfrm>
          <a:prstGeom prst="rect">
            <a:avLst/>
          </a:prstGeom>
          <a:solidFill>
            <a:srgbClr val="F0F4FF"/>
          </a:solidFill>
          <a:ln/>
        </p:spPr>
      </p:sp>
      <p:sp>
        <p:nvSpPr>
          <p:cNvPr id="24" name="Text 20"/>
          <p:cNvSpPr/>
          <p:nvPr/>
        </p:nvSpPr>
        <p:spPr>
          <a:xfrm>
            <a:off x="5779008" y="3035808"/>
            <a:ext cx="155448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Samsung CAGR</a:t>
            </a:r>
            <a:endParaRPr lang="en-US" sz="950" dirty="0"/>
          </a:p>
        </p:txBody>
      </p:sp>
      <p:sp>
        <p:nvSpPr>
          <p:cNvPr id="25" name="Text 21"/>
          <p:cNvSpPr/>
          <p:nvPr/>
        </p:nvSpPr>
        <p:spPr>
          <a:xfrm>
            <a:off x="7315200" y="3035808"/>
            <a:ext cx="1188720" cy="256032"/>
          </a:xfrm>
          <a:prstGeom prst="rect">
            <a:avLst/>
          </a:prstGeom>
          <a:noFill/>
          <a:ln/>
        </p:spPr>
        <p:txBody>
          <a:bodyPr wrap="square" lIns="0" tIns="0" rIns="0" bIns="0" rtlCol="0" anchor="ctr"/>
          <a:lstStyle/>
          <a:p>
            <a:pPr algn="r" indent="0" marL="0">
              <a:buNone/>
            </a:pPr>
            <a:r>
              <a:rPr lang="en-US" sz="950" b="1" dirty="0">
                <a:solidFill>
                  <a:srgbClr val="1B2A4A"/>
                </a:solidFill>
                <a:latin typeface="Calibri" pitchFamily="34" charset="0"/>
                <a:ea typeface="Calibri" pitchFamily="34" charset="-122"/>
                <a:cs typeface="Calibri" pitchFamily="34" charset="-120"/>
              </a:rPr>
              <a:t>30.5% annualized</a:t>
            </a:r>
            <a:endParaRPr lang="en-US" sz="950" dirty="0"/>
          </a:p>
        </p:txBody>
      </p:sp>
      <p:sp>
        <p:nvSpPr>
          <p:cNvPr id="26" name="Shape 22"/>
          <p:cNvSpPr/>
          <p:nvPr/>
        </p:nvSpPr>
        <p:spPr>
          <a:xfrm>
            <a:off x="5715000" y="3383280"/>
            <a:ext cx="2926080" cy="329184"/>
          </a:xfrm>
          <a:prstGeom prst="rect">
            <a:avLst/>
          </a:prstGeom>
          <a:solidFill>
            <a:srgbClr val="FFFFFF"/>
          </a:solidFill>
          <a:ln/>
        </p:spPr>
      </p:sp>
      <p:sp>
        <p:nvSpPr>
          <p:cNvPr id="27" name="Text 23"/>
          <p:cNvSpPr/>
          <p:nvPr/>
        </p:nvSpPr>
        <p:spPr>
          <a:xfrm>
            <a:off x="5779008" y="3429000"/>
            <a:ext cx="155448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Apple vol.</a:t>
            </a:r>
            <a:endParaRPr lang="en-US" sz="950" dirty="0"/>
          </a:p>
        </p:txBody>
      </p:sp>
      <p:sp>
        <p:nvSpPr>
          <p:cNvPr id="28" name="Text 24"/>
          <p:cNvSpPr/>
          <p:nvPr/>
        </p:nvSpPr>
        <p:spPr>
          <a:xfrm>
            <a:off x="7315200" y="3429000"/>
            <a:ext cx="1188720" cy="256032"/>
          </a:xfrm>
          <a:prstGeom prst="rect">
            <a:avLst/>
          </a:prstGeom>
          <a:noFill/>
          <a:ln/>
        </p:spPr>
        <p:txBody>
          <a:bodyPr wrap="square" lIns="0" tIns="0" rIns="0" bIns="0" rtlCol="0" anchor="ctr"/>
          <a:lstStyle/>
          <a:p>
            <a:pPr algn="r" indent="0" marL="0">
              <a:buNone/>
            </a:pPr>
            <a:r>
              <a:rPr lang="en-US" sz="950" b="1" dirty="0">
                <a:solidFill>
                  <a:srgbClr val="1B2A4A"/>
                </a:solidFill>
                <a:latin typeface="Calibri" pitchFamily="34" charset="0"/>
                <a:ea typeface="Calibri" pitchFamily="34" charset="-122"/>
                <a:cs typeface="Calibri" pitchFamily="34" charset="-120"/>
              </a:rPr>
              <a:t>29.4% annualized</a:t>
            </a:r>
            <a:endParaRPr lang="en-US" sz="950" dirty="0"/>
          </a:p>
        </p:txBody>
      </p:sp>
      <p:sp>
        <p:nvSpPr>
          <p:cNvPr id="29" name="Shape 25"/>
          <p:cNvSpPr/>
          <p:nvPr/>
        </p:nvSpPr>
        <p:spPr>
          <a:xfrm>
            <a:off x="5715000" y="3776472"/>
            <a:ext cx="2926080" cy="329184"/>
          </a:xfrm>
          <a:prstGeom prst="rect">
            <a:avLst/>
          </a:prstGeom>
          <a:solidFill>
            <a:srgbClr val="F0F4FF"/>
          </a:solidFill>
          <a:ln/>
        </p:spPr>
      </p:sp>
      <p:sp>
        <p:nvSpPr>
          <p:cNvPr id="30" name="Text 26"/>
          <p:cNvSpPr/>
          <p:nvPr/>
        </p:nvSpPr>
        <p:spPr>
          <a:xfrm>
            <a:off x="5779008" y="3822192"/>
            <a:ext cx="155448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Samsung vol.</a:t>
            </a:r>
            <a:endParaRPr lang="en-US" sz="950" dirty="0"/>
          </a:p>
        </p:txBody>
      </p:sp>
      <p:sp>
        <p:nvSpPr>
          <p:cNvPr id="31" name="Text 27"/>
          <p:cNvSpPr/>
          <p:nvPr/>
        </p:nvSpPr>
        <p:spPr>
          <a:xfrm>
            <a:off x="7315200" y="3822192"/>
            <a:ext cx="1188720" cy="256032"/>
          </a:xfrm>
          <a:prstGeom prst="rect">
            <a:avLst/>
          </a:prstGeom>
          <a:noFill/>
          <a:ln/>
        </p:spPr>
        <p:txBody>
          <a:bodyPr wrap="square" lIns="0" tIns="0" rIns="0" bIns="0" rtlCol="0" anchor="ctr"/>
          <a:lstStyle/>
          <a:p>
            <a:pPr algn="r" indent="0" marL="0">
              <a:buNone/>
            </a:pPr>
            <a:r>
              <a:rPr lang="en-US" sz="950" b="1" dirty="0">
                <a:solidFill>
                  <a:srgbClr val="1B2A4A"/>
                </a:solidFill>
                <a:latin typeface="Calibri" pitchFamily="34" charset="0"/>
                <a:ea typeface="Calibri" pitchFamily="34" charset="-122"/>
                <a:cs typeface="Calibri" pitchFamily="34" charset="-120"/>
              </a:rPr>
              <a:t>29.9% annualized</a:t>
            </a:r>
            <a:endParaRPr lang="en-US" sz="950" dirty="0"/>
          </a:p>
        </p:txBody>
      </p:sp>
      <p:sp>
        <p:nvSpPr>
          <p:cNvPr id="32" name="Shape 28"/>
          <p:cNvSpPr/>
          <p:nvPr/>
        </p:nvSpPr>
        <p:spPr>
          <a:xfrm>
            <a:off x="5715000" y="4169664"/>
            <a:ext cx="2926080" cy="329184"/>
          </a:xfrm>
          <a:prstGeom prst="rect">
            <a:avLst/>
          </a:prstGeom>
          <a:solidFill>
            <a:srgbClr val="FFFFFF"/>
          </a:solidFill>
          <a:ln/>
        </p:spPr>
      </p:sp>
      <p:sp>
        <p:nvSpPr>
          <p:cNvPr id="33" name="Text 29"/>
          <p:cNvSpPr/>
          <p:nvPr/>
        </p:nvSpPr>
        <p:spPr>
          <a:xfrm>
            <a:off x="5779008" y="4215384"/>
            <a:ext cx="155448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Apple Sharpe</a:t>
            </a:r>
            <a:endParaRPr lang="en-US" sz="950" dirty="0"/>
          </a:p>
        </p:txBody>
      </p:sp>
      <p:sp>
        <p:nvSpPr>
          <p:cNvPr id="34" name="Text 30"/>
          <p:cNvSpPr/>
          <p:nvPr/>
        </p:nvSpPr>
        <p:spPr>
          <a:xfrm>
            <a:off x="7315200" y="4215384"/>
            <a:ext cx="1188720" cy="256032"/>
          </a:xfrm>
          <a:prstGeom prst="rect">
            <a:avLst/>
          </a:prstGeom>
          <a:noFill/>
          <a:ln/>
        </p:spPr>
        <p:txBody>
          <a:bodyPr wrap="square" lIns="0" tIns="0" rIns="0" bIns="0" rtlCol="0" anchor="ctr"/>
          <a:lstStyle/>
          <a:p>
            <a:pPr algn="r" indent="0" marL="0">
              <a:buNone/>
            </a:pPr>
            <a:r>
              <a:rPr lang="en-US" sz="950" b="1" dirty="0">
                <a:solidFill>
                  <a:srgbClr val="1B2A4A"/>
                </a:solidFill>
                <a:latin typeface="Calibri" pitchFamily="34" charset="0"/>
                <a:ea typeface="Calibri" pitchFamily="34" charset="-122"/>
                <a:cs typeface="Calibri" pitchFamily="34" charset="-120"/>
              </a:rPr>
              <a:t>1.05</a:t>
            </a:r>
            <a:endParaRPr lang="en-US" sz="950" dirty="0"/>
          </a:p>
        </p:txBody>
      </p:sp>
      <p:sp>
        <p:nvSpPr>
          <p:cNvPr id="35" name="Shape 31"/>
          <p:cNvSpPr/>
          <p:nvPr/>
        </p:nvSpPr>
        <p:spPr>
          <a:xfrm>
            <a:off x="5715000" y="4562856"/>
            <a:ext cx="2926080" cy="329184"/>
          </a:xfrm>
          <a:prstGeom prst="rect">
            <a:avLst/>
          </a:prstGeom>
          <a:solidFill>
            <a:srgbClr val="F0F4FF"/>
          </a:solidFill>
          <a:ln/>
        </p:spPr>
      </p:sp>
      <p:sp>
        <p:nvSpPr>
          <p:cNvPr id="36" name="Text 32"/>
          <p:cNvSpPr/>
          <p:nvPr/>
        </p:nvSpPr>
        <p:spPr>
          <a:xfrm>
            <a:off x="5779008" y="4608576"/>
            <a:ext cx="155448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Samsung Sharpe</a:t>
            </a:r>
            <a:endParaRPr lang="en-US" sz="950" dirty="0"/>
          </a:p>
        </p:txBody>
      </p:sp>
      <p:sp>
        <p:nvSpPr>
          <p:cNvPr id="37" name="Text 33"/>
          <p:cNvSpPr/>
          <p:nvPr/>
        </p:nvSpPr>
        <p:spPr>
          <a:xfrm>
            <a:off x="7315200" y="4608576"/>
            <a:ext cx="1188720" cy="256032"/>
          </a:xfrm>
          <a:prstGeom prst="rect">
            <a:avLst/>
          </a:prstGeom>
          <a:noFill/>
          <a:ln/>
        </p:spPr>
        <p:txBody>
          <a:bodyPr wrap="square" lIns="0" tIns="0" rIns="0" bIns="0" rtlCol="0" anchor="ctr"/>
          <a:lstStyle/>
          <a:p>
            <a:pPr algn="r" indent="0" marL="0">
              <a:buNone/>
            </a:pPr>
            <a:r>
              <a:rPr lang="en-US" sz="950" b="1" dirty="0">
                <a:solidFill>
                  <a:srgbClr val="1B2A4A"/>
                </a:solidFill>
                <a:latin typeface="Calibri" pitchFamily="34" charset="0"/>
                <a:ea typeface="Calibri" pitchFamily="34" charset="-122"/>
                <a:cs typeface="Calibri" pitchFamily="34" charset="-120"/>
              </a:rPr>
              <a:t>1.02</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B2A4A"/>
          </a:solidFill>
          <a:ln/>
        </p:spPr>
      </p:sp>
      <p:sp>
        <p:nvSpPr>
          <p:cNvPr id="3" name="Shape 1"/>
          <p:cNvSpPr/>
          <p:nvPr/>
        </p:nvSpPr>
        <p:spPr>
          <a:xfrm>
            <a:off x="8595360" y="146304"/>
            <a:ext cx="228600" cy="228600"/>
          </a:xfrm>
          <a:prstGeom prst="ellipse">
            <a:avLst/>
          </a:prstGeom>
          <a:solidFill>
            <a:srgbClr val="1F77B4"/>
          </a:solidFill>
          <a:ln/>
        </p:spPr>
      </p:sp>
      <p:sp>
        <p:nvSpPr>
          <p:cNvPr id="4" name="Shape 2"/>
          <p:cNvSpPr/>
          <p:nvPr/>
        </p:nvSpPr>
        <p:spPr>
          <a:xfrm>
            <a:off x="8823960" y="146304"/>
            <a:ext cx="228600" cy="228600"/>
          </a:xfrm>
          <a:prstGeom prst="ellipse">
            <a:avLst/>
          </a:prstGeom>
          <a:solidFill>
            <a:srgbClr val="FF7F0E"/>
          </a:solidFill>
          <a:ln/>
        </p:spPr>
      </p:sp>
      <p:sp>
        <p:nvSpPr>
          <p:cNvPr id="5" name="Text 3"/>
          <p:cNvSpPr/>
          <p:nvPr/>
        </p:nvSpPr>
        <p:spPr>
          <a:xfrm>
            <a:off x="365760" y="73152"/>
            <a:ext cx="8046720" cy="5943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RQ 1 — Rolling Annualized Volatility</a:t>
            </a:r>
            <a:endParaRPr lang="en-US" sz="2200" dirty="0"/>
          </a:p>
        </p:txBody>
      </p:sp>
      <p:pic>
        <p:nvPicPr>
          <p:cNvPr id="6" name="Image 0" descr="/sessions/zealous-optimistic-turing/mnt/Apple-vs-samsung---competitive-Financial-Market-analysis/plot11_volatility.png">    </p:cNvPr>
          <p:cNvPicPr>
            <a:picLocks noChangeAspect="1"/>
          </p:cNvPicPr>
          <p:nvPr/>
        </p:nvPicPr>
        <p:blipFill>
          <a:blip r:embed="rId1"/>
          <a:srcRect l="0" r="0" t="0" b="0"/>
          <a:stretch/>
        </p:blipFill>
        <p:spPr>
          <a:xfrm>
            <a:off x="320040" y="822960"/>
            <a:ext cx="8503920" cy="3474720"/>
          </a:xfrm>
          <a:prstGeom prst="rect">
            <a:avLst/>
          </a:prstGeom>
        </p:spPr>
      </p:pic>
      <p:sp>
        <p:nvSpPr>
          <p:cNvPr id="7" name="Shape 4"/>
          <p:cNvSpPr/>
          <p:nvPr/>
        </p:nvSpPr>
        <p:spPr>
          <a:xfrm>
            <a:off x="320040" y="4407408"/>
            <a:ext cx="8503920" cy="5943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8" name="Text 5"/>
          <p:cNvSpPr/>
          <p:nvPr/>
        </p:nvSpPr>
        <p:spPr>
          <a:xfrm>
            <a:off x="457200" y="4462272"/>
            <a:ext cx="8229600" cy="45720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Both stocks maintain similar annualized volatility (~29–30%), with synchronized spikes during COVID-19 (March 2020) and the 2022 rate-hike cycle. Samsung shows slightly higher peak volatility during the 2023 semiconductor downturn.</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1F77B4"/>
          </a:solidFill>
          <a:ln/>
        </p:spPr>
      </p:sp>
      <p:sp>
        <p:nvSpPr>
          <p:cNvPr id="3" name="Shape 1"/>
          <p:cNvSpPr/>
          <p:nvPr/>
        </p:nvSpPr>
        <p:spPr>
          <a:xfrm>
            <a:off x="228600" y="0"/>
            <a:ext cx="54864" cy="5143500"/>
          </a:xfrm>
          <a:prstGeom prst="rect">
            <a:avLst/>
          </a:prstGeom>
          <a:solidFill>
            <a:srgbClr val="FF7F0E"/>
          </a:solidFill>
          <a:ln/>
        </p:spPr>
      </p:sp>
      <p:sp>
        <p:nvSpPr>
          <p:cNvPr id="4" name="Text 2"/>
          <p:cNvSpPr/>
          <p:nvPr/>
        </p:nvSpPr>
        <p:spPr>
          <a:xfrm>
            <a:off x="640080" y="1645920"/>
            <a:ext cx="7772400" cy="109728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Analysis 2</a:t>
            </a:r>
            <a:endParaRPr lang="en-US" sz="4000" dirty="0"/>
          </a:p>
        </p:txBody>
      </p:sp>
      <p:sp>
        <p:nvSpPr>
          <p:cNvPr id="5" name="Text 3"/>
          <p:cNvSpPr/>
          <p:nvPr/>
        </p:nvSpPr>
        <p:spPr>
          <a:xfrm>
            <a:off x="640080" y="2834640"/>
            <a:ext cx="7772400" cy="73152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Financial Fundamentals Comparison</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B2A4A"/>
          </a:solidFill>
          <a:ln/>
        </p:spPr>
      </p:sp>
      <p:sp>
        <p:nvSpPr>
          <p:cNvPr id="3" name="Shape 1"/>
          <p:cNvSpPr/>
          <p:nvPr/>
        </p:nvSpPr>
        <p:spPr>
          <a:xfrm>
            <a:off x="8595360" y="146304"/>
            <a:ext cx="228600" cy="228600"/>
          </a:xfrm>
          <a:prstGeom prst="ellipse">
            <a:avLst/>
          </a:prstGeom>
          <a:solidFill>
            <a:srgbClr val="1F77B4"/>
          </a:solidFill>
          <a:ln/>
        </p:spPr>
      </p:sp>
      <p:sp>
        <p:nvSpPr>
          <p:cNvPr id="4" name="Shape 2"/>
          <p:cNvSpPr/>
          <p:nvPr/>
        </p:nvSpPr>
        <p:spPr>
          <a:xfrm>
            <a:off x="8823960" y="146304"/>
            <a:ext cx="228600" cy="228600"/>
          </a:xfrm>
          <a:prstGeom prst="ellipse">
            <a:avLst/>
          </a:prstGeom>
          <a:solidFill>
            <a:srgbClr val="FF7F0E"/>
          </a:solidFill>
          <a:ln/>
        </p:spPr>
      </p:sp>
      <p:sp>
        <p:nvSpPr>
          <p:cNvPr id="5" name="Text 3"/>
          <p:cNvSpPr/>
          <p:nvPr/>
        </p:nvSpPr>
        <p:spPr>
          <a:xfrm>
            <a:off x="365760" y="73152"/>
            <a:ext cx="8046720" cy="5943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RQ 2 — Revenue &amp; Net Income (2022–2025)</a:t>
            </a:r>
            <a:endParaRPr lang="en-US" sz="2200" dirty="0"/>
          </a:p>
        </p:txBody>
      </p:sp>
      <p:pic>
        <p:nvPicPr>
          <p:cNvPr id="6" name="Image 0" descr="/sessions/zealous-optimistic-turing/mnt/Apple-vs-samsung---competitive-Financial-Market-analysis/plot4_revenue_netincome.png">    </p:cNvPr>
          <p:cNvPicPr>
            <a:picLocks noChangeAspect="1"/>
          </p:cNvPicPr>
          <p:nvPr/>
        </p:nvPicPr>
        <p:blipFill>
          <a:blip r:embed="rId1"/>
          <a:srcRect l="0" r="0" t="0" b="0"/>
          <a:stretch/>
        </p:blipFill>
        <p:spPr>
          <a:xfrm>
            <a:off x="320040" y="822960"/>
            <a:ext cx="8503920" cy="3657600"/>
          </a:xfrm>
          <a:prstGeom prst="rect">
            <a:avLst/>
          </a:prstGeom>
        </p:spPr>
      </p:pic>
      <p:sp>
        <p:nvSpPr>
          <p:cNvPr id="7" name="Shape 4"/>
          <p:cNvSpPr/>
          <p:nvPr/>
        </p:nvSpPr>
        <p:spPr>
          <a:xfrm>
            <a:off x="320040" y="4572000"/>
            <a:ext cx="4114800" cy="457200"/>
          </a:xfrm>
          <a:prstGeom prst="rect">
            <a:avLst/>
          </a:prstGeom>
          <a:solidFill>
            <a:srgbClr val="E8F0FF"/>
          </a:solidFill>
          <a:ln/>
        </p:spPr>
      </p:sp>
      <p:sp>
        <p:nvSpPr>
          <p:cNvPr id="8" name="Text 5"/>
          <p:cNvSpPr/>
          <p:nvPr/>
        </p:nvSpPr>
        <p:spPr>
          <a:xfrm>
            <a:off x="457200" y="4599432"/>
            <a:ext cx="3931920" cy="36576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Apple: Revenue stable ~$383–416B USD. Strong net income ~$94–112B.</a:t>
            </a:r>
            <a:endParaRPr lang="en-US" sz="900" dirty="0"/>
          </a:p>
        </p:txBody>
      </p:sp>
      <p:sp>
        <p:nvSpPr>
          <p:cNvPr id="9" name="Shape 6"/>
          <p:cNvSpPr/>
          <p:nvPr/>
        </p:nvSpPr>
        <p:spPr>
          <a:xfrm>
            <a:off x="4709160" y="4572000"/>
            <a:ext cx="4114800" cy="457200"/>
          </a:xfrm>
          <a:prstGeom prst="rect">
            <a:avLst/>
          </a:prstGeom>
          <a:solidFill>
            <a:srgbClr val="FFF3E8"/>
          </a:solidFill>
          <a:ln/>
        </p:spPr>
      </p:sp>
      <p:sp>
        <p:nvSpPr>
          <p:cNvPr id="10" name="Text 7"/>
          <p:cNvSpPr/>
          <p:nvPr/>
        </p:nvSpPr>
        <p:spPr>
          <a:xfrm>
            <a:off x="4846320" y="4599432"/>
            <a:ext cx="3931920" cy="36576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Samsung: Revenue dipped in 2023 (chip downturn) but recovered strongly to KRW 334T by 2025.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B2A4A"/>
          </a:solidFill>
          <a:ln/>
        </p:spPr>
      </p:sp>
      <p:sp>
        <p:nvSpPr>
          <p:cNvPr id="3" name="Shape 1"/>
          <p:cNvSpPr/>
          <p:nvPr/>
        </p:nvSpPr>
        <p:spPr>
          <a:xfrm>
            <a:off x="8595360" y="146304"/>
            <a:ext cx="228600" cy="228600"/>
          </a:xfrm>
          <a:prstGeom prst="ellipse">
            <a:avLst/>
          </a:prstGeom>
          <a:solidFill>
            <a:srgbClr val="1F77B4"/>
          </a:solidFill>
          <a:ln/>
        </p:spPr>
      </p:sp>
      <p:sp>
        <p:nvSpPr>
          <p:cNvPr id="4" name="Shape 2"/>
          <p:cNvSpPr/>
          <p:nvPr/>
        </p:nvSpPr>
        <p:spPr>
          <a:xfrm>
            <a:off x="8823960" y="146304"/>
            <a:ext cx="228600" cy="228600"/>
          </a:xfrm>
          <a:prstGeom prst="ellipse">
            <a:avLst/>
          </a:prstGeom>
          <a:solidFill>
            <a:srgbClr val="FF7F0E"/>
          </a:solidFill>
          <a:ln/>
        </p:spPr>
      </p:sp>
      <p:sp>
        <p:nvSpPr>
          <p:cNvPr id="5" name="Text 3"/>
          <p:cNvSpPr/>
          <p:nvPr/>
        </p:nvSpPr>
        <p:spPr>
          <a:xfrm>
            <a:off x="365760" y="73152"/>
            <a:ext cx="8046720" cy="5943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RQ 2 — Profit Margin Comparison</a:t>
            </a:r>
            <a:endParaRPr lang="en-US" sz="2200" dirty="0"/>
          </a:p>
        </p:txBody>
      </p:sp>
      <p:pic>
        <p:nvPicPr>
          <p:cNvPr id="6" name="Image 0" descr="/sessions/zealous-optimistic-turing/mnt/Apple-vs-samsung---competitive-Financial-Market-analysis/plot5_profit_margins.png">    </p:cNvPr>
          <p:cNvPicPr>
            <a:picLocks noChangeAspect="1"/>
          </p:cNvPicPr>
          <p:nvPr/>
        </p:nvPicPr>
        <p:blipFill>
          <a:blip r:embed="rId1"/>
          <a:srcRect l="0" r="0" t="-2778" b="-2778"/>
          <a:stretch/>
        </p:blipFill>
        <p:spPr>
          <a:xfrm>
            <a:off x="320040" y="822960"/>
            <a:ext cx="8503920" cy="3474720"/>
          </a:xfrm>
          <a:prstGeom prst="rect">
            <a:avLst/>
          </a:prstGeom>
        </p:spPr>
      </p:pic>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20040" y="4206240"/>
          <a:ext cx="8503920" cy="822960"/>
        </p:xfrm>
        <a:graphic>
          <a:graphicData uri="http://schemas.openxmlformats.org/drawingml/2006/table">
            <a:tbl>
              <a:tblPr/>
              <a:tblGrid>
                <a:gridCol w="2125980"/>
                <a:gridCol w="2125980"/>
                <a:gridCol w="2125980"/>
                <a:gridCol w="2125980"/>
              </a:tblGrid>
              <a:tr h="20574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Metric</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B2A4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Apple Avg</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F77B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Samsung Avg</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7F0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Advantage</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B2A4A"/>
                    </a:solidFill>
                  </a:tcPr>
                </a:tc>
              </a:tr>
              <a:tr h="20574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Gross Margin</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~47%</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~37%</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b="1" dirty="0">
                          <a:solidFill>
                            <a:srgbClr val="1F77B4"/>
                          </a:solidFill>
                          <a:latin typeface="Calibri" pitchFamily="34" charset="0"/>
                          <a:ea typeface="Calibri" pitchFamily="34" charset="-122"/>
                          <a:cs typeface="Calibri" pitchFamily="34" charset="-120"/>
                        </a:rPr>
                        <a:t>Apple</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20574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Operating Margin</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~31%</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b="1" dirty="0">
                          <a:solidFill>
                            <a:srgbClr val="1F77B4"/>
                          </a:solidFill>
                          <a:latin typeface="Calibri" pitchFamily="34" charset="0"/>
                          <a:ea typeface="Calibri" pitchFamily="34" charset="-122"/>
                          <a:cs typeface="Calibri" pitchFamily="34" charset="-120"/>
                        </a:rPr>
                        <a:t>Apple</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20574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Net Margin</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~25%</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b="1" dirty="0">
                          <a:solidFill>
                            <a:srgbClr val="1F77B4"/>
                          </a:solidFill>
                          <a:latin typeface="Calibri" pitchFamily="34" charset="0"/>
                          <a:ea typeface="Calibri" pitchFamily="34" charset="-122"/>
                          <a:cs typeface="Calibri" pitchFamily="34" charset="-120"/>
                        </a:rPr>
                        <a:t>Apple</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B2A4A"/>
          </a:solidFill>
          <a:ln/>
        </p:spPr>
      </p:sp>
      <p:sp>
        <p:nvSpPr>
          <p:cNvPr id="3" name="Shape 1"/>
          <p:cNvSpPr/>
          <p:nvPr/>
        </p:nvSpPr>
        <p:spPr>
          <a:xfrm>
            <a:off x="8595360" y="146304"/>
            <a:ext cx="228600" cy="228600"/>
          </a:xfrm>
          <a:prstGeom prst="ellipse">
            <a:avLst/>
          </a:prstGeom>
          <a:solidFill>
            <a:srgbClr val="1F77B4"/>
          </a:solidFill>
          <a:ln/>
        </p:spPr>
      </p:sp>
      <p:sp>
        <p:nvSpPr>
          <p:cNvPr id="4" name="Shape 2"/>
          <p:cNvSpPr/>
          <p:nvPr/>
        </p:nvSpPr>
        <p:spPr>
          <a:xfrm>
            <a:off x="8823960" y="146304"/>
            <a:ext cx="228600" cy="228600"/>
          </a:xfrm>
          <a:prstGeom prst="ellipse">
            <a:avLst/>
          </a:prstGeom>
          <a:solidFill>
            <a:srgbClr val="FF7F0E"/>
          </a:solidFill>
          <a:ln/>
        </p:spPr>
      </p:sp>
      <p:sp>
        <p:nvSpPr>
          <p:cNvPr id="5" name="Text 3"/>
          <p:cNvSpPr/>
          <p:nvPr/>
        </p:nvSpPr>
        <p:spPr>
          <a:xfrm>
            <a:off x="365760" y="73152"/>
            <a:ext cx="8046720" cy="5943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RQ 2 — Cash Flow Comparison</a:t>
            </a:r>
            <a:endParaRPr lang="en-US" sz="2200" dirty="0"/>
          </a:p>
        </p:txBody>
      </p:sp>
      <p:pic>
        <p:nvPicPr>
          <p:cNvPr id="6" name="Image 0" descr="/sessions/zealous-optimistic-turing/mnt/Apple-vs-samsung---competitive-Financial-Market-analysis/plot6_cashflow.png">    </p:cNvPr>
          <p:cNvPicPr>
            <a:picLocks noChangeAspect="1"/>
          </p:cNvPicPr>
          <p:nvPr/>
        </p:nvPicPr>
        <p:blipFill>
          <a:blip r:embed="rId1"/>
          <a:srcRect l="0" r="0" t="0" b="0"/>
          <a:stretch/>
        </p:blipFill>
        <p:spPr>
          <a:xfrm>
            <a:off x="320040" y="822960"/>
            <a:ext cx="8503920" cy="3291840"/>
          </a:xfrm>
          <a:prstGeom prst="rect">
            <a:avLst/>
          </a:prstGeom>
        </p:spPr>
      </p:pic>
      <p:sp>
        <p:nvSpPr>
          <p:cNvPr id="7" name="Shape 4"/>
          <p:cNvSpPr/>
          <p:nvPr/>
        </p:nvSpPr>
        <p:spPr>
          <a:xfrm>
            <a:off x="320040" y="4224528"/>
            <a:ext cx="4206240" cy="80467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8" name="Shape 5"/>
          <p:cNvSpPr/>
          <p:nvPr/>
        </p:nvSpPr>
        <p:spPr>
          <a:xfrm>
            <a:off x="320040" y="4224528"/>
            <a:ext cx="91440" cy="804672"/>
          </a:xfrm>
          <a:prstGeom prst="rect">
            <a:avLst/>
          </a:prstGeom>
          <a:solidFill>
            <a:srgbClr val="1F77B4"/>
          </a:solidFill>
          <a:ln/>
        </p:spPr>
      </p:sp>
      <p:sp>
        <p:nvSpPr>
          <p:cNvPr id="9" name="Text 6"/>
          <p:cNvSpPr/>
          <p:nvPr/>
        </p:nvSpPr>
        <p:spPr>
          <a:xfrm>
            <a:off x="502920" y="4251960"/>
            <a:ext cx="3840480" cy="256032"/>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Apple FCF</a:t>
            </a:r>
            <a:endParaRPr lang="en-US" sz="1100" dirty="0"/>
          </a:p>
        </p:txBody>
      </p:sp>
      <p:sp>
        <p:nvSpPr>
          <p:cNvPr id="10" name="Text 7"/>
          <p:cNvSpPr/>
          <p:nvPr/>
        </p:nvSpPr>
        <p:spPr>
          <a:xfrm>
            <a:off x="502920" y="4507992"/>
            <a:ext cx="3840480" cy="45720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~$100B/year consistently. Returns capital via buybacks ($90B+/yr). World-class cash generation relative to revenue.</a:t>
            </a:r>
            <a:endParaRPr lang="en-US" sz="900" dirty="0"/>
          </a:p>
        </p:txBody>
      </p:sp>
      <p:sp>
        <p:nvSpPr>
          <p:cNvPr id="11" name="Shape 8"/>
          <p:cNvSpPr/>
          <p:nvPr/>
        </p:nvSpPr>
        <p:spPr>
          <a:xfrm>
            <a:off x="4754880" y="4224528"/>
            <a:ext cx="4206240" cy="80467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2" name="Shape 9"/>
          <p:cNvSpPr/>
          <p:nvPr/>
        </p:nvSpPr>
        <p:spPr>
          <a:xfrm>
            <a:off x="4754880" y="4224528"/>
            <a:ext cx="91440" cy="804672"/>
          </a:xfrm>
          <a:prstGeom prst="rect">
            <a:avLst/>
          </a:prstGeom>
          <a:solidFill>
            <a:srgbClr val="FF7F0E"/>
          </a:solidFill>
          <a:ln/>
        </p:spPr>
      </p:sp>
      <p:sp>
        <p:nvSpPr>
          <p:cNvPr id="13" name="Text 10"/>
          <p:cNvSpPr/>
          <p:nvPr/>
        </p:nvSpPr>
        <p:spPr>
          <a:xfrm>
            <a:off x="4937760" y="4251960"/>
            <a:ext cx="3840480" cy="256032"/>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Samsung FCF</a:t>
            </a:r>
            <a:endParaRPr lang="en-US" sz="1100" dirty="0"/>
          </a:p>
        </p:txBody>
      </p:sp>
      <p:sp>
        <p:nvSpPr>
          <p:cNvPr id="14" name="Text 11"/>
          <p:cNvSpPr/>
          <p:nvPr/>
        </p:nvSpPr>
        <p:spPr>
          <a:xfrm>
            <a:off x="4937760" y="4507992"/>
            <a:ext cx="3840480" cy="45720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Highly volatile. Turned negative in 2023 due to massive chip fab investment. Recovered sharply to positive in 2025.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1F77B4"/>
          </a:solidFill>
          <a:ln/>
        </p:spPr>
      </p:sp>
      <p:sp>
        <p:nvSpPr>
          <p:cNvPr id="3" name="Shape 1"/>
          <p:cNvSpPr/>
          <p:nvPr/>
        </p:nvSpPr>
        <p:spPr>
          <a:xfrm>
            <a:off x="228600" y="0"/>
            <a:ext cx="54864" cy="5143500"/>
          </a:xfrm>
          <a:prstGeom prst="rect">
            <a:avLst/>
          </a:prstGeom>
          <a:solidFill>
            <a:srgbClr val="FF7F0E"/>
          </a:solidFill>
          <a:ln/>
        </p:spPr>
      </p:sp>
      <p:sp>
        <p:nvSpPr>
          <p:cNvPr id="4" name="Text 2"/>
          <p:cNvSpPr/>
          <p:nvPr/>
        </p:nvSpPr>
        <p:spPr>
          <a:xfrm>
            <a:off x="640080" y="1645920"/>
            <a:ext cx="7772400" cy="109728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Analysis 3</a:t>
            </a:r>
            <a:endParaRPr lang="en-US" sz="4000" dirty="0"/>
          </a:p>
        </p:txBody>
      </p:sp>
      <p:sp>
        <p:nvSpPr>
          <p:cNvPr id="5" name="Text 3"/>
          <p:cNvSpPr/>
          <p:nvPr/>
        </p:nvSpPr>
        <p:spPr>
          <a:xfrm>
            <a:off x="640080" y="2834640"/>
            <a:ext cx="7772400" cy="73152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Macroeconomic Regression Analysis</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B2A4A"/>
          </a:solidFill>
          <a:ln/>
        </p:spPr>
      </p:sp>
      <p:sp>
        <p:nvSpPr>
          <p:cNvPr id="3" name="Shape 1"/>
          <p:cNvSpPr/>
          <p:nvPr/>
        </p:nvSpPr>
        <p:spPr>
          <a:xfrm>
            <a:off x="8595360" y="146304"/>
            <a:ext cx="228600" cy="228600"/>
          </a:xfrm>
          <a:prstGeom prst="ellipse">
            <a:avLst/>
          </a:prstGeom>
          <a:solidFill>
            <a:srgbClr val="1F77B4"/>
          </a:solidFill>
          <a:ln/>
        </p:spPr>
      </p:sp>
      <p:sp>
        <p:nvSpPr>
          <p:cNvPr id="4" name="Shape 2"/>
          <p:cNvSpPr/>
          <p:nvPr/>
        </p:nvSpPr>
        <p:spPr>
          <a:xfrm>
            <a:off x="8823960" y="146304"/>
            <a:ext cx="228600" cy="228600"/>
          </a:xfrm>
          <a:prstGeom prst="ellipse">
            <a:avLst/>
          </a:prstGeom>
          <a:solidFill>
            <a:srgbClr val="FF7F0E"/>
          </a:solidFill>
          <a:ln/>
        </p:spPr>
      </p:sp>
      <p:sp>
        <p:nvSpPr>
          <p:cNvPr id="5" name="Text 3"/>
          <p:cNvSpPr/>
          <p:nvPr/>
        </p:nvSpPr>
        <p:spPr>
          <a:xfrm>
            <a:off x="365760" y="73152"/>
            <a:ext cx="8046720" cy="5943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RQ 3 — US Macroeconomic Environment (2015–2026)</a:t>
            </a:r>
            <a:endParaRPr lang="en-US" sz="2200" dirty="0"/>
          </a:p>
        </p:txBody>
      </p:sp>
      <p:pic>
        <p:nvPicPr>
          <p:cNvPr id="6" name="Image 0" descr="/sessions/zealous-optimistic-turing/mnt/Apple-vs-samsung---competitive-Financial-Market-analysis/plot7_macro.png">    </p:cNvPr>
          <p:cNvPicPr>
            <a:picLocks noChangeAspect="1"/>
          </p:cNvPicPr>
          <p:nvPr/>
        </p:nvPicPr>
        <p:blipFill>
          <a:blip r:embed="rId1"/>
          <a:srcRect l="0" r="0" t="0" b="0"/>
          <a:stretch/>
        </p:blipFill>
        <p:spPr>
          <a:xfrm>
            <a:off x="320040" y="822960"/>
            <a:ext cx="5486400" cy="4114800"/>
          </a:xfrm>
          <a:prstGeom prst="rect">
            <a:avLst/>
          </a:prstGeom>
        </p:spPr>
      </p:pic>
      <p:sp>
        <p:nvSpPr>
          <p:cNvPr id="7" name="Shape 4"/>
          <p:cNvSpPr/>
          <p:nvPr/>
        </p:nvSpPr>
        <p:spPr>
          <a:xfrm>
            <a:off x="5989320" y="822960"/>
            <a:ext cx="2834640" cy="41148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8" name="Shape 5"/>
          <p:cNvSpPr/>
          <p:nvPr/>
        </p:nvSpPr>
        <p:spPr>
          <a:xfrm>
            <a:off x="5989320" y="822960"/>
            <a:ext cx="2834640" cy="109728"/>
          </a:xfrm>
          <a:prstGeom prst="rect">
            <a:avLst/>
          </a:prstGeom>
          <a:solidFill>
            <a:srgbClr val="9467BD"/>
          </a:solidFill>
          <a:ln/>
        </p:spPr>
      </p:sp>
      <p:sp>
        <p:nvSpPr>
          <p:cNvPr id="9" name="Text 6"/>
          <p:cNvSpPr/>
          <p:nvPr/>
        </p:nvSpPr>
        <p:spPr>
          <a:xfrm>
            <a:off x="6126480" y="960120"/>
            <a:ext cx="2560320" cy="347472"/>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Macro Context</a:t>
            </a:r>
            <a:endParaRPr lang="en-US" sz="1300" dirty="0"/>
          </a:p>
        </p:txBody>
      </p:sp>
      <p:sp>
        <p:nvSpPr>
          <p:cNvPr id="10" name="Text 7"/>
          <p:cNvSpPr/>
          <p:nvPr/>
        </p:nvSpPr>
        <p:spPr>
          <a:xfrm>
            <a:off x="6126480" y="1389888"/>
            <a:ext cx="2560320" cy="182880"/>
          </a:xfrm>
          <a:prstGeom prst="rect">
            <a:avLst/>
          </a:prstGeom>
          <a:noFill/>
          <a:ln/>
        </p:spPr>
        <p:txBody>
          <a:bodyPr wrap="square" lIns="0" tIns="0" rIns="0" bIns="0" rtlCol="0" anchor="ctr"/>
          <a:lstStyle/>
          <a:p>
            <a:pPr indent="0" marL="0">
              <a:buNone/>
            </a:pPr>
            <a:r>
              <a:rPr lang="en-US" sz="950" b="1" dirty="0">
                <a:solidFill>
                  <a:srgbClr val="9467BD"/>
                </a:solidFill>
                <a:latin typeface="Calibri" pitchFamily="34" charset="0"/>
                <a:ea typeface="Calibri" pitchFamily="34" charset="-122"/>
                <a:cs typeface="Calibri" pitchFamily="34" charset="-120"/>
              </a:rPr>
              <a:t>2015–2019</a:t>
            </a:r>
            <a:endParaRPr lang="en-US" sz="950" dirty="0"/>
          </a:p>
        </p:txBody>
      </p:sp>
      <p:sp>
        <p:nvSpPr>
          <p:cNvPr id="11" name="Text 8"/>
          <p:cNvSpPr/>
          <p:nvPr/>
        </p:nvSpPr>
        <p:spPr>
          <a:xfrm>
            <a:off x="6126480" y="1572768"/>
            <a:ext cx="2560320" cy="320040"/>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Low inflation (~1–2%), gradual Fed normalization. Favorable for tech.</a:t>
            </a:r>
            <a:endParaRPr lang="en-US" sz="850" dirty="0"/>
          </a:p>
        </p:txBody>
      </p:sp>
      <p:sp>
        <p:nvSpPr>
          <p:cNvPr id="12" name="Text 9"/>
          <p:cNvSpPr/>
          <p:nvPr/>
        </p:nvSpPr>
        <p:spPr>
          <a:xfrm>
            <a:off x="6126480" y="1938528"/>
            <a:ext cx="2560320" cy="182880"/>
          </a:xfrm>
          <a:prstGeom prst="rect">
            <a:avLst/>
          </a:prstGeom>
          <a:noFill/>
          <a:ln/>
        </p:spPr>
        <p:txBody>
          <a:bodyPr wrap="square" lIns="0" tIns="0" rIns="0" bIns="0" rtlCol="0" anchor="ctr"/>
          <a:lstStyle/>
          <a:p>
            <a:pPr indent="0" marL="0">
              <a:buNone/>
            </a:pPr>
            <a:r>
              <a:rPr lang="en-US" sz="950" b="1" dirty="0">
                <a:solidFill>
                  <a:srgbClr val="9467BD"/>
                </a:solidFill>
                <a:latin typeface="Calibri" pitchFamily="34" charset="0"/>
                <a:ea typeface="Calibri" pitchFamily="34" charset="-122"/>
                <a:cs typeface="Calibri" pitchFamily="34" charset="-120"/>
              </a:rPr>
              <a:t>2020</a:t>
            </a:r>
            <a:endParaRPr lang="en-US" sz="950" dirty="0"/>
          </a:p>
        </p:txBody>
      </p:sp>
      <p:sp>
        <p:nvSpPr>
          <p:cNvPr id="13" name="Text 10"/>
          <p:cNvSpPr/>
          <p:nvPr/>
        </p:nvSpPr>
        <p:spPr>
          <a:xfrm>
            <a:off x="6126480" y="2121408"/>
            <a:ext cx="2560320" cy="320040"/>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COVID: Fed cuts to 0%. CPI initially dipped then surged with stimulus.</a:t>
            </a:r>
            <a:endParaRPr lang="en-US" sz="850" dirty="0"/>
          </a:p>
        </p:txBody>
      </p:sp>
      <p:sp>
        <p:nvSpPr>
          <p:cNvPr id="14" name="Text 11"/>
          <p:cNvSpPr/>
          <p:nvPr/>
        </p:nvSpPr>
        <p:spPr>
          <a:xfrm>
            <a:off x="6126480" y="2487168"/>
            <a:ext cx="2560320" cy="182880"/>
          </a:xfrm>
          <a:prstGeom prst="rect">
            <a:avLst/>
          </a:prstGeom>
          <a:noFill/>
          <a:ln/>
        </p:spPr>
        <p:txBody>
          <a:bodyPr wrap="square" lIns="0" tIns="0" rIns="0" bIns="0" rtlCol="0" anchor="ctr"/>
          <a:lstStyle/>
          <a:p>
            <a:pPr indent="0" marL="0">
              <a:buNone/>
            </a:pPr>
            <a:r>
              <a:rPr lang="en-US" sz="950" b="1" dirty="0">
                <a:solidFill>
                  <a:srgbClr val="9467BD"/>
                </a:solidFill>
                <a:latin typeface="Calibri" pitchFamily="34" charset="0"/>
                <a:ea typeface="Calibri" pitchFamily="34" charset="-122"/>
                <a:cs typeface="Calibri" pitchFamily="34" charset="-120"/>
              </a:rPr>
              <a:t>2021–2022</a:t>
            </a:r>
            <a:endParaRPr lang="en-US" sz="950" dirty="0"/>
          </a:p>
        </p:txBody>
      </p:sp>
      <p:sp>
        <p:nvSpPr>
          <p:cNvPr id="15" name="Text 12"/>
          <p:cNvSpPr/>
          <p:nvPr/>
        </p:nvSpPr>
        <p:spPr>
          <a:xfrm>
            <a:off x="6126480" y="2670048"/>
            <a:ext cx="2560320" cy="320040"/>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Inflation peaked at 9%. Fed raised rates 525bps — tech repriced sharply.</a:t>
            </a:r>
            <a:endParaRPr lang="en-US" sz="850" dirty="0"/>
          </a:p>
        </p:txBody>
      </p:sp>
      <p:sp>
        <p:nvSpPr>
          <p:cNvPr id="16" name="Text 13"/>
          <p:cNvSpPr/>
          <p:nvPr/>
        </p:nvSpPr>
        <p:spPr>
          <a:xfrm>
            <a:off x="6126480" y="3035808"/>
            <a:ext cx="2560320" cy="182880"/>
          </a:xfrm>
          <a:prstGeom prst="rect">
            <a:avLst/>
          </a:prstGeom>
          <a:noFill/>
          <a:ln/>
        </p:spPr>
        <p:txBody>
          <a:bodyPr wrap="square" lIns="0" tIns="0" rIns="0" bIns="0" rtlCol="0" anchor="ctr"/>
          <a:lstStyle/>
          <a:p>
            <a:pPr indent="0" marL="0">
              <a:buNone/>
            </a:pPr>
            <a:r>
              <a:rPr lang="en-US" sz="950" b="1" dirty="0">
                <a:solidFill>
                  <a:srgbClr val="9467BD"/>
                </a:solidFill>
                <a:latin typeface="Calibri" pitchFamily="34" charset="0"/>
                <a:ea typeface="Calibri" pitchFamily="34" charset="-122"/>
                <a:cs typeface="Calibri" pitchFamily="34" charset="-120"/>
              </a:rPr>
              <a:t>2023–2024</a:t>
            </a:r>
            <a:endParaRPr lang="en-US" sz="950" dirty="0"/>
          </a:p>
        </p:txBody>
      </p:sp>
      <p:sp>
        <p:nvSpPr>
          <p:cNvPr id="17" name="Text 14"/>
          <p:cNvSpPr/>
          <p:nvPr/>
        </p:nvSpPr>
        <p:spPr>
          <a:xfrm>
            <a:off x="6126480" y="3218688"/>
            <a:ext cx="2560320" cy="320040"/>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Inflation cooling. Fed pivot discussions. Tech stocks rebounded.</a:t>
            </a:r>
            <a:endParaRPr lang="en-US" sz="850" dirty="0"/>
          </a:p>
        </p:txBody>
      </p:sp>
      <p:sp>
        <p:nvSpPr>
          <p:cNvPr id="18" name="Text 15"/>
          <p:cNvSpPr/>
          <p:nvPr/>
        </p:nvSpPr>
        <p:spPr>
          <a:xfrm>
            <a:off x="6126480" y="3584448"/>
            <a:ext cx="2560320" cy="182880"/>
          </a:xfrm>
          <a:prstGeom prst="rect">
            <a:avLst/>
          </a:prstGeom>
          <a:noFill/>
          <a:ln/>
        </p:spPr>
        <p:txBody>
          <a:bodyPr wrap="square" lIns="0" tIns="0" rIns="0" bIns="0" rtlCol="0" anchor="ctr"/>
          <a:lstStyle/>
          <a:p>
            <a:pPr indent="0" marL="0">
              <a:buNone/>
            </a:pPr>
            <a:r>
              <a:rPr lang="en-US" sz="950" b="1" dirty="0">
                <a:solidFill>
                  <a:srgbClr val="9467BD"/>
                </a:solidFill>
                <a:latin typeface="Calibri" pitchFamily="34" charset="0"/>
                <a:ea typeface="Calibri" pitchFamily="34" charset="-122"/>
                <a:cs typeface="Calibri" pitchFamily="34" charset="-120"/>
              </a:rPr>
              <a:t>2025–2026</a:t>
            </a:r>
            <a:endParaRPr lang="en-US" sz="950" dirty="0"/>
          </a:p>
        </p:txBody>
      </p:sp>
      <p:sp>
        <p:nvSpPr>
          <p:cNvPr id="19" name="Text 16"/>
          <p:cNvSpPr/>
          <p:nvPr/>
        </p:nvSpPr>
        <p:spPr>
          <a:xfrm>
            <a:off x="6126480" y="3767328"/>
            <a:ext cx="2560320" cy="320040"/>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CPI near 3% target. Stable rates. Both stocks near all-time highs.</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B2A4A"/>
          </a:solidFill>
          <a:ln/>
        </p:spPr>
      </p:sp>
      <p:sp>
        <p:nvSpPr>
          <p:cNvPr id="3" name="Shape 1"/>
          <p:cNvSpPr/>
          <p:nvPr/>
        </p:nvSpPr>
        <p:spPr>
          <a:xfrm>
            <a:off x="8595360" y="146304"/>
            <a:ext cx="228600" cy="228600"/>
          </a:xfrm>
          <a:prstGeom prst="ellipse">
            <a:avLst/>
          </a:prstGeom>
          <a:solidFill>
            <a:srgbClr val="1F77B4"/>
          </a:solidFill>
          <a:ln/>
        </p:spPr>
      </p:sp>
      <p:sp>
        <p:nvSpPr>
          <p:cNvPr id="4" name="Shape 2"/>
          <p:cNvSpPr/>
          <p:nvPr/>
        </p:nvSpPr>
        <p:spPr>
          <a:xfrm>
            <a:off x="8823960" y="146304"/>
            <a:ext cx="228600" cy="228600"/>
          </a:xfrm>
          <a:prstGeom prst="ellipse">
            <a:avLst/>
          </a:prstGeom>
          <a:solidFill>
            <a:srgbClr val="FF7F0E"/>
          </a:solidFill>
          <a:ln/>
        </p:spPr>
      </p:sp>
      <p:sp>
        <p:nvSpPr>
          <p:cNvPr id="5" name="Text 3"/>
          <p:cNvSpPr/>
          <p:nvPr/>
        </p:nvSpPr>
        <p:spPr>
          <a:xfrm>
            <a:off x="365760" y="73152"/>
            <a:ext cx="8046720" cy="5943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RQ 3 — Correlation Heatmap &amp; Regression Setup</a:t>
            </a:r>
            <a:endParaRPr lang="en-US" sz="2200" dirty="0"/>
          </a:p>
        </p:txBody>
      </p:sp>
      <p:pic>
        <p:nvPicPr>
          <p:cNvPr id="6" name="Image 0" descr="/sessions/zealous-optimistic-turing/mnt/Apple-vs-samsung---competitive-Financial-Market-analysis/plot10_corr_heatmap.png">    </p:cNvPr>
          <p:cNvPicPr>
            <a:picLocks noChangeAspect="1"/>
          </p:cNvPicPr>
          <p:nvPr/>
        </p:nvPicPr>
        <p:blipFill>
          <a:blip r:embed="rId1"/>
          <a:srcRect l="0" r="0" t="0" b="0"/>
          <a:stretch/>
        </p:blipFill>
        <p:spPr>
          <a:xfrm>
            <a:off x="320040" y="822960"/>
            <a:ext cx="4023360" cy="3657600"/>
          </a:xfrm>
          <a:prstGeom prst="rect">
            <a:avLst/>
          </a:prstGeom>
        </p:spPr>
      </p:pic>
      <p:sp>
        <p:nvSpPr>
          <p:cNvPr id="7" name="Shape 4"/>
          <p:cNvSpPr/>
          <p:nvPr/>
        </p:nvSpPr>
        <p:spPr>
          <a:xfrm>
            <a:off x="4572000" y="822960"/>
            <a:ext cx="4251960" cy="41148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8" name="Shape 5"/>
          <p:cNvSpPr/>
          <p:nvPr/>
        </p:nvSpPr>
        <p:spPr>
          <a:xfrm>
            <a:off x="4572000" y="822960"/>
            <a:ext cx="4251960" cy="109728"/>
          </a:xfrm>
          <a:prstGeom prst="rect">
            <a:avLst/>
          </a:prstGeom>
          <a:solidFill>
            <a:srgbClr val="FF7F0E"/>
          </a:solidFill>
          <a:ln/>
        </p:spPr>
      </p:sp>
      <p:sp>
        <p:nvSpPr>
          <p:cNvPr id="9" name="Text 6"/>
          <p:cNvSpPr/>
          <p:nvPr/>
        </p:nvSpPr>
        <p:spPr>
          <a:xfrm>
            <a:off x="4709160" y="960120"/>
            <a:ext cx="3931920" cy="347472"/>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OLS Regression Setup</a:t>
            </a:r>
            <a:endParaRPr lang="en-US" sz="1300" dirty="0"/>
          </a:p>
        </p:txBody>
      </p:sp>
      <p:sp>
        <p:nvSpPr>
          <p:cNvPr id="10" name="Text 7"/>
          <p:cNvSpPr/>
          <p:nvPr/>
        </p:nvSpPr>
        <p:spPr>
          <a:xfrm>
            <a:off x="4709160" y="1371600"/>
            <a:ext cx="3931920" cy="365760"/>
          </a:xfrm>
          <a:prstGeom prst="rect">
            <a:avLst/>
          </a:prstGeom>
          <a:noFill/>
          <a:ln/>
        </p:spPr>
        <p:txBody>
          <a:bodyPr wrap="square" lIns="0" tIns="0" rIns="0" bIns="0" rtlCol="0" anchor="ctr"/>
          <a:lstStyle/>
          <a:p>
            <a:pPr indent="0" marL="0">
              <a:buNone/>
            </a:pPr>
            <a:r>
              <a:rPr lang="en-US" sz="1000" i="1" dirty="0">
                <a:solidFill>
                  <a:srgbClr val="1E293B"/>
                </a:solidFill>
                <a:latin typeface="Calibri" pitchFamily="34" charset="0"/>
                <a:ea typeface="Calibri" pitchFamily="34" charset="-122"/>
                <a:cs typeface="Calibri" pitchFamily="34" charset="-120"/>
              </a:rPr>
              <a:t>Monthly Return = α + β₁ × CPI_Chg + β₂ × ΔT10Y + ε</a:t>
            </a:r>
            <a:endParaRPr lang="en-US" sz="1000" dirty="0"/>
          </a:p>
        </p:txBody>
      </p:sp>
      <p:sp>
        <p:nvSpPr>
          <p:cNvPr id="11" name="Shape 8"/>
          <p:cNvSpPr/>
          <p:nvPr/>
        </p:nvSpPr>
        <p:spPr>
          <a:xfrm>
            <a:off x="4663440" y="1828800"/>
            <a:ext cx="4023360" cy="384048"/>
          </a:xfrm>
          <a:prstGeom prst="rect">
            <a:avLst/>
          </a:prstGeom>
          <a:solidFill>
            <a:srgbClr val="F0F7FF"/>
          </a:solidFill>
          <a:ln/>
        </p:spPr>
      </p:sp>
      <p:sp>
        <p:nvSpPr>
          <p:cNvPr id="12" name="Text 9"/>
          <p:cNvSpPr/>
          <p:nvPr/>
        </p:nvSpPr>
        <p:spPr>
          <a:xfrm>
            <a:off x="4736592" y="1892808"/>
            <a:ext cx="1005840" cy="274320"/>
          </a:xfrm>
          <a:prstGeom prst="rect">
            <a:avLst/>
          </a:prstGeom>
          <a:noFill/>
          <a:ln/>
        </p:spPr>
        <p:txBody>
          <a:bodyPr wrap="square" lIns="0" tIns="0" rIns="0" bIns="0" rtlCol="0" anchor="ctr"/>
          <a:lstStyle/>
          <a:p>
            <a:pPr indent="0" marL="0">
              <a:buNone/>
            </a:pPr>
            <a:r>
              <a:rPr lang="en-US" sz="900" b="1" dirty="0">
                <a:solidFill>
                  <a:srgbClr val="1B2A4A"/>
                </a:solidFill>
                <a:latin typeface="Calibri" pitchFamily="34" charset="0"/>
                <a:ea typeface="Calibri" pitchFamily="34" charset="-122"/>
                <a:cs typeface="Calibri" pitchFamily="34" charset="-120"/>
              </a:rPr>
              <a:t>Dep. Var:</a:t>
            </a:r>
            <a:endParaRPr lang="en-US" sz="900" dirty="0"/>
          </a:p>
        </p:txBody>
      </p:sp>
      <p:sp>
        <p:nvSpPr>
          <p:cNvPr id="13" name="Text 10"/>
          <p:cNvSpPr/>
          <p:nvPr/>
        </p:nvSpPr>
        <p:spPr>
          <a:xfrm>
            <a:off x="5760720" y="1892808"/>
            <a:ext cx="2834640" cy="27432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Monthly stock return (Apple or Samsung)</a:t>
            </a:r>
            <a:endParaRPr lang="en-US" sz="900" dirty="0"/>
          </a:p>
        </p:txBody>
      </p:sp>
      <p:sp>
        <p:nvSpPr>
          <p:cNvPr id="14" name="Shape 11"/>
          <p:cNvSpPr/>
          <p:nvPr/>
        </p:nvSpPr>
        <p:spPr>
          <a:xfrm>
            <a:off x="4663440" y="2286000"/>
            <a:ext cx="4023360" cy="384048"/>
          </a:xfrm>
          <a:prstGeom prst="rect">
            <a:avLst/>
          </a:prstGeom>
          <a:solidFill>
            <a:srgbClr val="FFFFFF"/>
          </a:solidFill>
          <a:ln/>
        </p:spPr>
      </p:sp>
      <p:sp>
        <p:nvSpPr>
          <p:cNvPr id="15" name="Text 12"/>
          <p:cNvSpPr/>
          <p:nvPr/>
        </p:nvSpPr>
        <p:spPr>
          <a:xfrm>
            <a:off x="4736592" y="2350008"/>
            <a:ext cx="1005840" cy="274320"/>
          </a:xfrm>
          <a:prstGeom prst="rect">
            <a:avLst/>
          </a:prstGeom>
          <a:noFill/>
          <a:ln/>
        </p:spPr>
        <p:txBody>
          <a:bodyPr wrap="square" lIns="0" tIns="0" rIns="0" bIns="0" rtlCol="0" anchor="ctr"/>
          <a:lstStyle/>
          <a:p>
            <a:pPr indent="0" marL="0">
              <a:buNone/>
            </a:pPr>
            <a:r>
              <a:rPr lang="en-US" sz="900" b="1" dirty="0">
                <a:solidFill>
                  <a:srgbClr val="1B2A4A"/>
                </a:solidFill>
                <a:latin typeface="Calibri" pitchFamily="34" charset="0"/>
                <a:ea typeface="Calibri" pitchFamily="34" charset="-122"/>
                <a:cs typeface="Calibri" pitchFamily="34" charset="-120"/>
              </a:rPr>
              <a:t>CPI_Chg:</a:t>
            </a:r>
            <a:endParaRPr lang="en-US" sz="900" dirty="0"/>
          </a:p>
        </p:txBody>
      </p:sp>
      <p:sp>
        <p:nvSpPr>
          <p:cNvPr id="16" name="Text 13"/>
          <p:cNvSpPr/>
          <p:nvPr/>
        </p:nvSpPr>
        <p:spPr>
          <a:xfrm>
            <a:off x="5760720" y="2350008"/>
            <a:ext cx="2834640" cy="27432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Monthly % change in US CPI</a:t>
            </a:r>
            <a:endParaRPr lang="en-US" sz="900" dirty="0"/>
          </a:p>
        </p:txBody>
      </p:sp>
      <p:sp>
        <p:nvSpPr>
          <p:cNvPr id="17" name="Shape 14"/>
          <p:cNvSpPr/>
          <p:nvPr/>
        </p:nvSpPr>
        <p:spPr>
          <a:xfrm>
            <a:off x="4663440" y="2743200"/>
            <a:ext cx="4023360" cy="384048"/>
          </a:xfrm>
          <a:prstGeom prst="rect">
            <a:avLst/>
          </a:prstGeom>
          <a:solidFill>
            <a:srgbClr val="F0F7FF"/>
          </a:solidFill>
          <a:ln/>
        </p:spPr>
      </p:sp>
      <p:sp>
        <p:nvSpPr>
          <p:cNvPr id="18" name="Text 15"/>
          <p:cNvSpPr/>
          <p:nvPr/>
        </p:nvSpPr>
        <p:spPr>
          <a:xfrm>
            <a:off x="4736592" y="2807208"/>
            <a:ext cx="1005840" cy="274320"/>
          </a:xfrm>
          <a:prstGeom prst="rect">
            <a:avLst/>
          </a:prstGeom>
          <a:noFill/>
          <a:ln/>
        </p:spPr>
        <p:txBody>
          <a:bodyPr wrap="square" lIns="0" tIns="0" rIns="0" bIns="0" rtlCol="0" anchor="ctr"/>
          <a:lstStyle/>
          <a:p>
            <a:pPr indent="0" marL="0">
              <a:buNone/>
            </a:pPr>
            <a:r>
              <a:rPr lang="en-US" sz="900" b="1" dirty="0">
                <a:solidFill>
                  <a:srgbClr val="1B2A4A"/>
                </a:solidFill>
                <a:latin typeface="Calibri" pitchFamily="34" charset="0"/>
                <a:ea typeface="Calibri" pitchFamily="34" charset="-122"/>
                <a:cs typeface="Calibri" pitchFamily="34" charset="-120"/>
              </a:rPr>
              <a:t>ΔT10Y:</a:t>
            </a:r>
            <a:endParaRPr lang="en-US" sz="900" dirty="0"/>
          </a:p>
        </p:txBody>
      </p:sp>
      <p:sp>
        <p:nvSpPr>
          <p:cNvPr id="19" name="Text 16"/>
          <p:cNvSpPr/>
          <p:nvPr/>
        </p:nvSpPr>
        <p:spPr>
          <a:xfrm>
            <a:off x="5760720" y="2807208"/>
            <a:ext cx="2834640" cy="27432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Monthly change in 10-yr Treasury (pp)</a:t>
            </a:r>
            <a:endParaRPr lang="en-US" sz="900" dirty="0"/>
          </a:p>
        </p:txBody>
      </p:sp>
      <p:sp>
        <p:nvSpPr>
          <p:cNvPr id="20" name="Shape 17"/>
          <p:cNvSpPr/>
          <p:nvPr/>
        </p:nvSpPr>
        <p:spPr>
          <a:xfrm>
            <a:off x="4663440" y="3200400"/>
            <a:ext cx="4023360" cy="384048"/>
          </a:xfrm>
          <a:prstGeom prst="rect">
            <a:avLst/>
          </a:prstGeom>
          <a:solidFill>
            <a:srgbClr val="FFFFFF"/>
          </a:solidFill>
          <a:ln/>
        </p:spPr>
      </p:sp>
      <p:sp>
        <p:nvSpPr>
          <p:cNvPr id="21" name="Text 18"/>
          <p:cNvSpPr/>
          <p:nvPr/>
        </p:nvSpPr>
        <p:spPr>
          <a:xfrm>
            <a:off x="4736592" y="3264408"/>
            <a:ext cx="1005840" cy="274320"/>
          </a:xfrm>
          <a:prstGeom prst="rect">
            <a:avLst/>
          </a:prstGeom>
          <a:noFill/>
          <a:ln/>
        </p:spPr>
        <p:txBody>
          <a:bodyPr wrap="square" lIns="0" tIns="0" rIns="0" bIns="0" rtlCol="0" anchor="ctr"/>
          <a:lstStyle/>
          <a:p>
            <a:pPr indent="0" marL="0">
              <a:buNone/>
            </a:pPr>
            <a:r>
              <a:rPr lang="en-US" sz="900" b="1" dirty="0">
                <a:solidFill>
                  <a:srgbClr val="1B2A4A"/>
                </a:solidFill>
                <a:latin typeface="Calibri" pitchFamily="34" charset="0"/>
                <a:ea typeface="Calibri" pitchFamily="34" charset="-122"/>
                <a:cs typeface="Calibri" pitchFamily="34" charset="-120"/>
              </a:rPr>
              <a:t>N:</a:t>
            </a:r>
            <a:endParaRPr lang="en-US" sz="900" dirty="0"/>
          </a:p>
        </p:txBody>
      </p:sp>
      <p:sp>
        <p:nvSpPr>
          <p:cNvPr id="22" name="Text 19"/>
          <p:cNvSpPr/>
          <p:nvPr/>
        </p:nvSpPr>
        <p:spPr>
          <a:xfrm>
            <a:off x="5760720" y="3264408"/>
            <a:ext cx="2834640" cy="27432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134 monthly observations (2015–2025)</a:t>
            </a:r>
            <a:endParaRPr lang="en-US" sz="900" dirty="0"/>
          </a:p>
        </p:txBody>
      </p:sp>
      <p:sp>
        <p:nvSpPr>
          <p:cNvPr id="23" name="Shape 20"/>
          <p:cNvSpPr/>
          <p:nvPr/>
        </p:nvSpPr>
        <p:spPr>
          <a:xfrm>
            <a:off x="4663440" y="3657600"/>
            <a:ext cx="4023360" cy="384048"/>
          </a:xfrm>
          <a:prstGeom prst="rect">
            <a:avLst/>
          </a:prstGeom>
          <a:solidFill>
            <a:srgbClr val="F0F7FF"/>
          </a:solidFill>
          <a:ln/>
        </p:spPr>
      </p:sp>
      <p:sp>
        <p:nvSpPr>
          <p:cNvPr id="24" name="Text 21"/>
          <p:cNvSpPr/>
          <p:nvPr/>
        </p:nvSpPr>
        <p:spPr>
          <a:xfrm>
            <a:off x="4736592" y="3721608"/>
            <a:ext cx="1005840" cy="274320"/>
          </a:xfrm>
          <a:prstGeom prst="rect">
            <a:avLst/>
          </a:prstGeom>
          <a:noFill/>
          <a:ln/>
        </p:spPr>
        <p:txBody>
          <a:bodyPr wrap="square" lIns="0" tIns="0" rIns="0" bIns="0" rtlCol="0" anchor="ctr"/>
          <a:lstStyle/>
          <a:p>
            <a:pPr indent="0" marL="0">
              <a:buNone/>
            </a:pPr>
            <a:r>
              <a:rPr lang="en-US" sz="900" b="1" dirty="0">
                <a:solidFill>
                  <a:srgbClr val="1B2A4A"/>
                </a:solidFill>
                <a:latin typeface="Calibri" pitchFamily="34" charset="0"/>
                <a:ea typeface="Calibri" pitchFamily="34" charset="-122"/>
                <a:cs typeface="Calibri" pitchFamily="34" charset="-120"/>
              </a:rPr>
              <a:t>Method:</a:t>
            </a:r>
            <a:endParaRPr lang="en-US" sz="900" dirty="0"/>
          </a:p>
        </p:txBody>
      </p:sp>
      <p:sp>
        <p:nvSpPr>
          <p:cNvPr id="25" name="Text 22"/>
          <p:cNvSpPr/>
          <p:nvPr/>
        </p:nvSpPr>
        <p:spPr>
          <a:xfrm>
            <a:off x="5760720" y="3721608"/>
            <a:ext cx="2834640" cy="27432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OLS via statsmodels (Python)</a:t>
            </a:r>
            <a:endParaRPr lang="en-US" sz="900" dirty="0"/>
          </a:p>
        </p:txBody>
      </p:sp>
      <p:sp>
        <p:nvSpPr>
          <p:cNvPr id="26" name="Shape 23"/>
          <p:cNvSpPr/>
          <p:nvPr/>
        </p:nvSpPr>
        <p:spPr>
          <a:xfrm>
            <a:off x="4663440" y="4114800"/>
            <a:ext cx="4023360" cy="384048"/>
          </a:xfrm>
          <a:prstGeom prst="rect">
            <a:avLst/>
          </a:prstGeom>
          <a:solidFill>
            <a:srgbClr val="FFFFFF"/>
          </a:solidFill>
          <a:ln/>
        </p:spPr>
      </p:sp>
      <p:sp>
        <p:nvSpPr>
          <p:cNvPr id="27" name="Text 24"/>
          <p:cNvSpPr/>
          <p:nvPr/>
        </p:nvSpPr>
        <p:spPr>
          <a:xfrm>
            <a:off x="4736592" y="4178808"/>
            <a:ext cx="1005840" cy="274320"/>
          </a:xfrm>
          <a:prstGeom prst="rect">
            <a:avLst/>
          </a:prstGeom>
          <a:noFill/>
          <a:ln/>
        </p:spPr>
        <p:txBody>
          <a:bodyPr wrap="square" lIns="0" tIns="0" rIns="0" bIns="0" rtlCol="0" anchor="ctr"/>
          <a:lstStyle/>
          <a:p>
            <a:pPr indent="0" marL="0">
              <a:buNone/>
            </a:pPr>
            <a:r>
              <a:rPr lang="en-US" sz="900" b="1" dirty="0">
                <a:solidFill>
                  <a:srgbClr val="1B2A4A"/>
                </a:solidFill>
                <a:latin typeface="Calibri" pitchFamily="34" charset="0"/>
                <a:ea typeface="Calibri" pitchFamily="34" charset="-122"/>
                <a:cs typeface="Calibri" pitchFamily="34" charset="-120"/>
              </a:rPr>
              <a:t>Hypothesis:</a:t>
            </a:r>
            <a:endParaRPr lang="en-US" sz="900" dirty="0"/>
          </a:p>
        </p:txBody>
      </p:sp>
      <p:sp>
        <p:nvSpPr>
          <p:cNvPr id="28" name="Text 25"/>
          <p:cNvSpPr/>
          <p:nvPr/>
        </p:nvSpPr>
        <p:spPr>
          <a:xfrm>
            <a:off x="5760720" y="4178808"/>
            <a:ext cx="2834640" cy="27432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Rising inflation/rates reduce growth stock returns</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B2A4A"/>
          </a:solidFill>
          <a:ln/>
        </p:spPr>
      </p:sp>
      <p:sp>
        <p:nvSpPr>
          <p:cNvPr id="3" name="Shape 1"/>
          <p:cNvSpPr/>
          <p:nvPr/>
        </p:nvSpPr>
        <p:spPr>
          <a:xfrm>
            <a:off x="8595360" y="146304"/>
            <a:ext cx="228600" cy="228600"/>
          </a:xfrm>
          <a:prstGeom prst="ellipse">
            <a:avLst/>
          </a:prstGeom>
          <a:solidFill>
            <a:srgbClr val="1F77B4"/>
          </a:solidFill>
          <a:ln/>
        </p:spPr>
      </p:sp>
      <p:sp>
        <p:nvSpPr>
          <p:cNvPr id="4" name="Shape 2"/>
          <p:cNvSpPr/>
          <p:nvPr/>
        </p:nvSpPr>
        <p:spPr>
          <a:xfrm>
            <a:off x="8823960" y="146304"/>
            <a:ext cx="228600" cy="228600"/>
          </a:xfrm>
          <a:prstGeom prst="ellipse">
            <a:avLst/>
          </a:prstGeom>
          <a:solidFill>
            <a:srgbClr val="FF7F0E"/>
          </a:solidFill>
          <a:ln/>
        </p:spPr>
      </p:sp>
      <p:sp>
        <p:nvSpPr>
          <p:cNvPr id="5" name="Text 3"/>
          <p:cNvSpPr/>
          <p:nvPr/>
        </p:nvSpPr>
        <p:spPr>
          <a:xfrm>
            <a:off x="365760" y="73152"/>
            <a:ext cx="8046720" cy="5943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RQ 3 — Regression Results</a:t>
            </a:r>
            <a:endParaRPr lang="en-US" sz="2200" dirty="0"/>
          </a:p>
        </p:txBody>
      </p:sp>
      <p:pic>
        <p:nvPicPr>
          <p:cNvPr id="6" name="Image 0" descr="/sessions/zealous-optimistic-turing/mnt/Apple-vs-samsung---competitive-Financial-Market-analysis/plot9_coefficients.png">    </p:cNvPr>
          <p:cNvPicPr>
            <a:picLocks noChangeAspect="1"/>
          </p:cNvPicPr>
          <p:nvPr/>
        </p:nvPicPr>
        <p:blipFill>
          <a:blip r:embed="rId1"/>
          <a:srcRect l="0" r="0" t="-4808" b="-4808"/>
          <a:stretch/>
        </p:blipFill>
        <p:spPr>
          <a:xfrm>
            <a:off x="320040" y="822960"/>
            <a:ext cx="5029200" cy="2606040"/>
          </a:xfrm>
          <a:prstGeom prst="rect">
            <a:avLst/>
          </a:prstGeom>
        </p:spPr>
      </p:pic>
      <p:pic>
        <p:nvPicPr>
          <p:cNvPr id="7" name="Image 1" descr="/sessions/zealous-optimistic-turing/mnt/Apple-vs-samsung---competitive-Financial-Market-analysis/plot8_regression.png">    </p:cNvPr>
          <p:cNvPicPr>
            <a:picLocks noChangeAspect="1"/>
          </p:cNvPicPr>
          <p:nvPr/>
        </p:nvPicPr>
        <p:blipFill>
          <a:blip r:embed="rId2"/>
          <a:srcRect l="-7576" r="-7576" t="0" b="0"/>
          <a:stretch/>
        </p:blipFill>
        <p:spPr>
          <a:xfrm>
            <a:off x="320040" y="3273552"/>
            <a:ext cx="5029200" cy="1508760"/>
          </a:xfrm>
          <a:prstGeom prst="rect">
            <a:avLst/>
          </a:prstGeom>
        </p:spPr>
      </p:pic>
      <p:sp>
        <p:nvSpPr>
          <p:cNvPr id="8" name="Shape 4"/>
          <p:cNvSpPr/>
          <p:nvPr/>
        </p:nvSpPr>
        <p:spPr>
          <a:xfrm>
            <a:off x="5532120" y="822960"/>
            <a:ext cx="3291840" cy="42062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9" name="Shape 5"/>
          <p:cNvSpPr/>
          <p:nvPr/>
        </p:nvSpPr>
        <p:spPr>
          <a:xfrm>
            <a:off x="5532120" y="822960"/>
            <a:ext cx="3291840" cy="109728"/>
          </a:xfrm>
          <a:prstGeom prst="rect">
            <a:avLst/>
          </a:prstGeom>
          <a:solidFill>
            <a:srgbClr val="1F77B4"/>
          </a:solidFill>
          <a:ln/>
        </p:spPr>
      </p:sp>
      <p:sp>
        <p:nvSpPr>
          <p:cNvPr id="10" name="Text 6"/>
          <p:cNvSpPr/>
          <p:nvPr/>
        </p:nvSpPr>
        <p:spPr>
          <a:xfrm>
            <a:off x="5669280" y="960120"/>
            <a:ext cx="3017520" cy="320040"/>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Regression Summary</a:t>
            </a:r>
            <a:endParaRPr lang="en-US" sz="1200" dirty="0"/>
          </a:p>
        </p:txBody>
      </p:sp>
      <p:sp>
        <p:nvSpPr>
          <p:cNvPr id="11" name="Shape 7"/>
          <p:cNvSpPr/>
          <p:nvPr/>
        </p:nvSpPr>
        <p:spPr>
          <a:xfrm>
            <a:off x="5623560" y="1389888"/>
            <a:ext cx="3063240" cy="1298448"/>
          </a:xfrm>
          <a:prstGeom prst="rect">
            <a:avLst/>
          </a:prstGeom>
          <a:solidFill>
            <a:srgbClr val="F0F7FF"/>
          </a:solidFill>
          <a:ln/>
        </p:spPr>
      </p:sp>
      <p:sp>
        <p:nvSpPr>
          <p:cNvPr id="12" name="Shape 8"/>
          <p:cNvSpPr/>
          <p:nvPr/>
        </p:nvSpPr>
        <p:spPr>
          <a:xfrm>
            <a:off x="5623560" y="1389888"/>
            <a:ext cx="73152" cy="1298448"/>
          </a:xfrm>
          <a:prstGeom prst="rect">
            <a:avLst/>
          </a:prstGeom>
          <a:solidFill>
            <a:srgbClr val="1F77B4"/>
          </a:solidFill>
          <a:ln/>
        </p:spPr>
      </p:sp>
      <p:sp>
        <p:nvSpPr>
          <p:cNvPr id="13" name="Text 9"/>
          <p:cNvSpPr/>
          <p:nvPr/>
        </p:nvSpPr>
        <p:spPr>
          <a:xfrm>
            <a:off x="5779008" y="1435608"/>
            <a:ext cx="2743200" cy="274320"/>
          </a:xfrm>
          <a:prstGeom prst="rect">
            <a:avLst/>
          </a:prstGeom>
          <a:noFill/>
          <a:ln/>
        </p:spPr>
        <p:txBody>
          <a:bodyPr wrap="square" lIns="0" tIns="0" rIns="0" bIns="0" rtlCol="0" anchor="ctr"/>
          <a:lstStyle/>
          <a:p>
            <a:pPr indent="0" marL="0">
              <a:buNone/>
            </a:pPr>
            <a:r>
              <a:rPr lang="en-US" sz="1200" b="1" dirty="0">
                <a:solidFill>
                  <a:srgbClr val="1F77B4"/>
                </a:solidFill>
                <a:latin typeface="Calibri" pitchFamily="34" charset="0"/>
                <a:ea typeface="Calibri" pitchFamily="34" charset="-122"/>
                <a:cs typeface="Calibri" pitchFamily="34" charset="-120"/>
              </a:rPr>
              <a:t>Apple</a:t>
            </a:r>
            <a:endParaRPr lang="en-US" sz="1200" dirty="0"/>
          </a:p>
        </p:txBody>
      </p:sp>
      <p:sp>
        <p:nvSpPr>
          <p:cNvPr id="14" name="Text 10"/>
          <p:cNvSpPr/>
          <p:nvPr/>
        </p:nvSpPr>
        <p:spPr>
          <a:xfrm>
            <a:off x="5779008" y="1737360"/>
            <a:ext cx="1097280" cy="18288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R²:</a:t>
            </a:r>
            <a:endParaRPr lang="en-US" sz="850" dirty="0"/>
          </a:p>
        </p:txBody>
      </p:sp>
      <p:sp>
        <p:nvSpPr>
          <p:cNvPr id="15" name="Text 11"/>
          <p:cNvSpPr/>
          <p:nvPr/>
        </p:nvSpPr>
        <p:spPr>
          <a:xfrm>
            <a:off x="6903720" y="1737360"/>
            <a:ext cx="1645920" cy="182880"/>
          </a:xfrm>
          <a:prstGeom prst="rect">
            <a:avLst/>
          </a:prstGeom>
          <a:noFill/>
          <a:ln/>
        </p:spPr>
        <p:txBody>
          <a:bodyPr wrap="square" lIns="0" tIns="0" rIns="0" bIns="0" rtlCol="0" anchor="ctr"/>
          <a:lstStyle/>
          <a:p>
            <a:pPr indent="0" marL="0">
              <a:buNone/>
            </a:pPr>
            <a:r>
              <a:rPr lang="en-US" sz="850" b="1" dirty="0">
                <a:solidFill>
                  <a:srgbClr val="1E293B"/>
                </a:solidFill>
                <a:latin typeface="Calibri" pitchFamily="34" charset="0"/>
                <a:ea typeface="Calibri" pitchFamily="34" charset="-122"/>
                <a:cs typeface="Calibri" pitchFamily="34" charset="-120"/>
              </a:rPr>
              <a:t>0.016</a:t>
            </a:r>
            <a:endParaRPr lang="en-US" sz="850" dirty="0"/>
          </a:p>
        </p:txBody>
      </p:sp>
      <p:sp>
        <p:nvSpPr>
          <p:cNvPr id="16" name="Text 12"/>
          <p:cNvSpPr/>
          <p:nvPr/>
        </p:nvSpPr>
        <p:spPr>
          <a:xfrm>
            <a:off x="5779008" y="1956816"/>
            <a:ext cx="1097280" cy="18288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F-stat p:</a:t>
            </a:r>
            <a:endParaRPr lang="en-US" sz="850" dirty="0"/>
          </a:p>
        </p:txBody>
      </p:sp>
      <p:sp>
        <p:nvSpPr>
          <p:cNvPr id="17" name="Text 13"/>
          <p:cNvSpPr/>
          <p:nvPr/>
        </p:nvSpPr>
        <p:spPr>
          <a:xfrm>
            <a:off x="6903720" y="1956816"/>
            <a:ext cx="1645920" cy="182880"/>
          </a:xfrm>
          <a:prstGeom prst="rect">
            <a:avLst/>
          </a:prstGeom>
          <a:noFill/>
          <a:ln/>
        </p:spPr>
        <p:txBody>
          <a:bodyPr wrap="square" lIns="0" tIns="0" rIns="0" bIns="0" rtlCol="0" anchor="ctr"/>
          <a:lstStyle/>
          <a:p>
            <a:pPr indent="0" marL="0">
              <a:buNone/>
            </a:pPr>
            <a:r>
              <a:rPr lang="en-US" sz="850" b="1" dirty="0">
                <a:solidFill>
                  <a:srgbClr val="1E293B"/>
                </a:solidFill>
                <a:latin typeface="Calibri" pitchFamily="34" charset="0"/>
                <a:ea typeface="Calibri" pitchFamily="34" charset="-122"/>
                <a:cs typeface="Calibri" pitchFamily="34" charset="-120"/>
              </a:rPr>
              <a:t>0.351</a:t>
            </a:r>
            <a:endParaRPr lang="en-US" sz="850" dirty="0"/>
          </a:p>
        </p:txBody>
      </p:sp>
      <p:sp>
        <p:nvSpPr>
          <p:cNvPr id="18" name="Text 14"/>
          <p:cNvSpPr/>
          <p:nvPr/>
        </p:nvSpPr>
        <p:spPr>
          <a:xfrm>
            <a:off x="5779008" y="2176272"/>
            <a:ext cx="1097280" cy="18288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CPI coef:</a:t>
            </a:r>
            <a:endParaRPr lang="en-US" sz="850" dirty="0"/>
          </a:p>
        </p:txBody>
      </p:sp>
      <p:sp>
        <p:nvSpPr>
          <p:cNvPr id="19" name="Text 15"/>
          <p:cNvSpPr/>
          <p:nvPr/>
        </p:nvSpPr>
        <p:spPr>
          <a:xfrm>
            <a:off x="6903720" y="2176272"/>
            <a:ext cx="1645920" cy="182880"/>
          </a:xfrm>
          <a:prstGeom prst="rect">
            <a:avLst/>
          </a:prstGeom>
          <a:noFill/>
          <a:ln/>
        </p:spPr>
        <p:txBody>
          <a:bodyPr wrap="square" lIns="0" tIns="0" rIns="0" bIns="0" rtlCol="0" anchor="ctr"/>
          <a:lstStyle/>
          <a:p>
            <a:pPr indent="0" marL="0">
              <a:buNone/>
            </a:pPr>
            <a:r>
              <a:rPr lang="en-US" sz="850" b="1" dirty="0">
                <a:solidFill>
                  <a:srgbClr val="1E293B"/>
                </a:solidFill>
                <a:latin typeface="Calibri" pitchFamily="34" charset="0"/>
                <a:ea typeface="Calibri" pitchFamily="34" charset="-122"/>
                <a:cs typeface="Calibri" pitchFamily="34" charset="-120"/>
              </a:rPr>
              <a:t>+2.08 (p=0.45)</a:t>
            </a:r>
            <a:endParaRPr lang="en-US" sz="850" dirty="0"/>
          </a:p>
        </p:txBody>
      </p:sp>
      <p:sp>
        <p:nvSpPr>
          <p:cNvPr id="20" name="Text 16"/>
          <p:cNvSpPr/>
          <p:nvPr/>
        </p:nvSpPr>
        <p:spPr>
          <a:xfrm>
            <a:off x="5779008" y="2395728"/>
            <a:ext cx="1097280" cy="18288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10Y coef:</a:t>
            </a:r>
            <a:endParaRPr lang="en-US" sz="850" dirty="0"/>
          </a:p>
        </p:txBody>
      </p:sp>
      <p:sp>
        <p:nvSpPr>
          <p:cNvPr id="21" name="Text 17"/>
          <p:cNvSpPr/>
          <p:nvPr/>
        </p:nvSpPr>
        <p:spPr>
          <a:xfrm>
            <a:off x="6903720" y="2395728"/>
            <a:ext cx="1645920" cy="182880"/>
          </a:xfrm>
          <a:prstGeom prst="rect">
            <a:avLst/>
          </a:prstGeom>
          <a:noFill/>
          <a:ln/>
        </p:spPr>
        <p:txBody>
          <a:bodyPr wrap="square" lIns="0" tIns="0" rIns="0" bIns="0" rtlCol="0" anchor="ctr"/>
          <a:lstStyle/>
          <a:p>
            <a:pPr indent="0" marL="0">
              <a:buNone/>
            </a:pPr>
            <a:r>
              <a:rPr lang="en-US" sz="850" b="1" dirty="0">
                <a:solidFill>
                  <a:srgbClr val="1E293B"/>
                </a:solidFill>
                <a:latin typeface="Calibri" pitchFamily="34" charset="0"/>
                <a:ea typeface="Calibri" pitchFamily="34" charset="-122"/>
                <a:cs typeface="Calibri" pitchFamily="34" charset="-120"/>
              </a:rPr>
              <a:t>–0.054 (p=0.15)</a:t>
            </a:r>
            <a:endParaRPr lang="en-US" sz="850" dirty="0"/>
          </a:p>
        </p:txBody>
      </p:sp>
      <p:sp>
        <p:nvSpPr>
          <p:cNvPr id="22" name="Shape 18"/>
          <p:cNvSpPr/>
          <p:nvPr/>
        </p:nvSpPr>
        <p:spPr>
          <a:xfrm>
            <a:off x="5623560" y="2807208"/>
            <a:ext cx="3063240" cy="1298448"/>
          </a:xfrm>
          <a:prstGeom prst="rect">
            <a:avLst/>
          </a:prstGeom>
          <a:solidFill>
            <a:srgbClr val="FFF5F0"/>
          </a:solidFill>
          <a:ln/>
        </p:spPr>
      </p:sp>
      <p:sp>
        <p:nvSpPr>
          <p:cNvPr id="23" name="Shape 19"/>
          <p:cNvSpPr/>
          <p:nvPr/>
        </p:nvSpPr>
        <p:spPr>
          <a:xfrm>
            <a:off x="5623560" y="2807208"/>
            <a:ext cx="73152" cy="1298448"/>
          </a:xfrm>
          <a:prstGeom prst="rect">
            <a:avLst/>
          </a:prstGeom>
          <a:solidFill>
            <a:srgbClr val="FF7F0E"/>
          </a:solidFill>
          <a:ln/>
        </p:spPr>
      </p:sp>
      <p:sp>
        <p:nvSpPr>
          <p:cNvPr id="24" name="Text 20"/>
          <p:cNvSpPr/>
          <p:nvPr/>
        </p:nvSpPr>
        <p:spPr>
          <a:xfrm>
            <a:off x="5779008" y="2852928"/>
            <a:ext cx="2743200" cy="274320"/>
          </a:xfrm>
          <a:prstGeom prst="rect">
            <a:avLst/>
          </a:prstGeom>
          <a:noFill/>
          <a:ln/>
        </p:spPr>
        <p:txBody>
          <a:bodyPr wrap="square" lIns="0" tIns="0" rIns="0" bIns="0" rtlCol="0" anchor="ctr"/>
          <a:lstStyle/>
          <a:p>
            <a:pPr indent="0" marL="0">
              <a:buNone/>
            </a:pPr>
            <a:r>
              <a:rPr lang="en-US" sz="1200" b="1" dirty="0">
                <a:solidFill>
                  <a:srgbClr val="FF7F0E"/>
                </a:solidFill>
                <a:latin typeface="Calibri" pitchFamily="34" charset="0"/>
                <a:ea typeface="Calibri" pitchFamily="34" charset="-122"/>
                <a:cs typeface="Calibri" pitchFamily="34" charset="-120"/>
              </a:rPr>
              <a:t>Samsung</a:t>
            </a:r>
            <a:endParaRPr lang="en-US" sz="1200" dirty="0"/>
          </a:p>
        </p:txBody>
      </p:sp>
      <p:sp>
        <p:nvSpPr>
          <p:cNvPr id="25" name="Text 21"/>
          <p:cNvSpPr/>
          <p:nvPr/>
        </p:nvSpPr>
        <p:spPr>
          <a:xfrm>
            <a:off x="5779008" y="3154680"/>
            <a:ext cx="1097280" cy="18288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R²:</a:t>
            </a:r>
            <a:endParaRPr lang="en-US" sz="850" dirty="0"/>
          </a:p>
        </p:txBody>
      </p:sp>
      <p:sp>
        <p:nvSpPr>
          <p:cNvPr id="26" name="Text 22"/>
          <p:cNvSpPr/>
          <p:nvPr/>
        </p:nvSpPr>
        <p:spPr>
          <a:xfrm>
            <a:off x="6903720" y="3154680"/>
            <a:ext cx="1645920" cy="182880"/>
          </a:xfrm>
          <a:prstGeom prst="rect">
            <a:avLst/>
          </a:prstGeom>
          <a:noFill/>
          <a:ln/>
        </p:spPr>
        <p:txBody>
          <a:bodyPr wrap="square" lIns="0" tIns="0" rIns="0" bIns="0" rtlCol="0" anchor="ctr"/>
          <a:lstStyle/>
          <a:p>
            <a:pPr indent="0" marL="0">
              <a:buNone/>
            </a:pPr>
            <a:r>
              <a:rPr lang="en-US" sz="850" b="1" dirty="0">
                <a:solidFill>
                  <a:srgbClr val="1E293B"/>
                </a:solidFill>
                <a:latin typeface="Calibri" pitchFamily="34" charset="0"/>
                <a:ea typeface="Calibri" pitchFamily="34" charset="-122"/>
                <a:cs typeface="Calibri" pitchFamily="34" charset="-120"/>
              </a:rPr>
              <a:t>0.023</a:t>
            </a:r>
            <a:endParaRPr lang="en-US" sz="850" dirty="0"/>
          </a:p>
        </p:txBody>
      </p:sp>
      <p:sp>
        <p:nvSpPr>
          <p:cNvPr id="27" name="Text 23"/>
          <p:cNvSpPr/>
          <p:nvPr/>
        </p:nvSpPr>
        <p:spPr>
          <a:xfrm>
            <a:off x="5779008" y="3374136"/>
            <a:ext cx="1097280" cy="18288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F-stat p:</a:t>
            </a:r>
            <a:endParaRPr lang="en-US" sz="850" dirty="0"/>
          </a:p>
        </p:txBody>
      </p:sp>
      <p:sp>
        <p:nvSpPr>
          <p:cNvPr id="28" name="Text 24"/>
          <p:cNvSpPr/>
          <p:nvPr/>
        </p:nvSpPr>
        <p:spPr>
          <a:xfrm>
            <a:off x="6903720" y="3374136"/>
            <a:ext cx="1645920" cy="182880"/>
          </a:xfrm>
          <a:prstGeom prst="rect">
            <a:avLst/>
          </a:prstGeom>
          <a:noFill/>
          <a:ln/>
        </p:spPr>
        <p:txBody>
          <a:bodyPr wrap="square" lIns="0" tIns="0" rIns="0" bIns="0" rtlCol="0" anchor="ctr"/>
          <a:lstStyle/>
          <a:p>
            <a:pPr indent="0" marL="0">
              <a:buNone/>
            </a:pPr>
            <a:r>
              <a:rPr lang="en-US" sz="850" b="1" dirty="0">
                <a:solidFill>
                  <a:srgbClr val="1E293B"/>
                </a:solidFill>
                <a:latin typeface="Calibri" pitchFamily="34" charset="0"/>
                <a:ea typeface="Calibri" pitchFamily="34" charset="-122"/>
                <a:cs typeface="Calibri" pitchFamily="34" charset="-120"/>
              </a:rPr>
              <a:t>0.211</a:t>
            </a:r>
            <a:endParaRPr lang="en-US" sz="850" dirty="0"/>
          </a:p>
        </p:txBody>
      </p:sp>
      <p:sp>
        <p:nvSpPr>
          <p:cNvPr id="29" name="Text 25"/>
          <p:cNvSpPr/>
          <p:nvPr/>
        </p:nvSpPr>
        <p:spPr>
          <a:xfrm>
            <a:off x="5779008" y="3593592"/>
            <a:ext cx="1097280" cy="18288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CPI coef:</a:t>
            </a:r>
            <a:endParaRPr lang="en-US" sz="850" dirty="0"/>
          </a:p>
        </p:txBody>
      </p:sp>
      <p:sp>
        <p:nvSpPr>
          <p:cNvPr id="30" name="Text 26"/>
          <p:cNvSpPr/>
          <p:nvPr/>
        </p:nvSpPr>
        <p:spPr>
          <a:xfrm>
            <a:off x="6903720" y="3593592"/>
            <a:ext cx="1645920" cy="182880"/>
          </a:xfrm>
          <a:prstGeom prst="rect">
            <a:avLst/>
          </a:prstGeom>
          <a:noFill/>
          <a:ln/>
        </p:spPr>
        <p:txBody>
          <a:bodyPr wrap="square" lIns="0" tIns="0" rIns="0" bIns="0" rtlCol="0" anchor="ctr"/>
          <a:lstStyle/>
          <a:p>
            <a:pPr indent="0" marL="0">
              <a:buNone/>
            </a:pPr>
            <a:r>
              <a:rPr lang="en-US" sz="850" b="1" dirty="0">
                <a:solidFill>
                  <a:srgbClr val="1E293B"/>
                </a:solidFill>
                <a:latin typeface="Calibri" pitchFamily="34" charset="0"/>
                <a:ea typeface="Calibri" pitchFamily="34" charset="-122"/>
                <a:cs typeface="Calibri" pitchFamily="34" charset="-120"/>
              </a:rPr>
              <a:t>–3.36 (p=0.30)</a:t>
            </a:r>
            <a:endParaRPr lang="en-US" sz="850" dirty="0"/>
          </a:p>
        </p:txBody>
      </p:sp>
      <p:sp>
        <p:nvSpPr>
          <p:cNvPr id="31" name="Text 27"/>
          <p:cNvSpPr/>
          <p:nvPr/>
        </p:nvSpPr>
        <p:spPr>
          <a:xfrm>
            <a:off x="5779008" y="3813048"/>
            <a:ext cx="1097280" cy="18288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10Y coef:</a:t>
            </a:r>
            <a:endParaRPr lang="en-US" sz="850" dirty="0"/>
          </a:p>
        </p:txBody>
      </p:sp>
      <p:sp>
        <p:nvSpPr>
          <p:cNvPr id="32" name="Text 28"/>
          <p:cNvSpPr/>
          <p:nvPr/>
        </p:nvSpPr>
        <p:spPr>
          <a:xfrm>
            <a:off x="6903720" y="3813048"/>
            <a:ext cx="1645920" cy="182880"/>
          </a:xfrm>
          <a:prstGeom prst="rect">
            <a:avLst/>
          </a:prstGeom>
          <a:noFill/>
          <a:ln/>
        </p:spPr>
        <p:txBody>
          <a:bodyPr wrap="square" lIns="0" tIns="0" rIns="0" bIns="0" rtlCol="0" anchor="ctr"/>
          <a:lstStyle/>
          <a:p>
            <a:pPr indent="0" marL="0">
              <a:buNone/>
            </a:pPr>
            <a:r>
              <a:rPr lang="en-US" sz="850" b="1" dirty="0">
                <a:solidFill>
                  <a:srgbClr val="1E293B"/>
                </a:solidFill>
                <a:latin typeface="Calibri" pitchFamily="34" charset="0"/>
                <a:ea typeface="Calibri" pitchFamily="34" charset="-122"/>
                <a:cs typeface="Calibri" pitchFamily="34" charset="-120"/>
              </a:rPr>
              <a:t>–0.040 (p=0.37)</a:t>
            </a:r>
            <a:endParaRPr lang="en-US" sz="850" dirty="0"/>
          </a:p>
        </p:txBody>
      </p:sp>
      <p:sp>
        <p:nvSpPr>
          <p:cNvPr id="33" name="Shape 29"/>
          <p:cNvSpPr/>
          <p:nvPr/>
        </p:nvSpPr>
        <p:spPr>
          <a:xfrm>
            <a:off x="5623560" y="4224528"/>
            <a:ext cx="3063240" cy="685800"/>
          </a:xfrm>
          <a:prstGeom prst="rect">
            <a:avLst/>
          </a:prstGeom>
          <a:solidFill>
            <a:srgbClr val="FFFBF0"/>
          </a:solidFill>
          <a:ln/>
        </p:spPr>
      </p:sp>
      <p:sp>
        <p:nvSpPr>
          <p:cNvPr id="34" name="Shape 30"/>
          <p:cNvSpPr/>
          <p:nvPr/>
        </p:nvSpPr>
        <p:spPr>
          <a:xfrm>
            <a:off x="5623560" y="4224528"/>
            <a:ext cx="73152" cy="685800"/>
          </a:xfrm>
          <a:prstGeom prst="rect">
            <a:avLst/>
          </a:prstGeom>
          <a:solidFill>
            <a:srgbClr val="F0B429"/>
          </a:solidFill>
          <a:ln/>
        </p:spPr>
      </p:sp>
      <p:sp>
        <p:nvSpPr>
          <p:cNvPr id="35" name="Text 31"/>
          <p:cNvSpPr/>
          <p:nvPr/>
        </p:nvSpPr>
        <p:spPr>
          <a:xfrm>
            <a:off x="5779008" y="4270248"/>
            <a:ext cx="2834640" cy="566928"/>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Low R² and non-significant F-stats confirm macro factors alone weakly predict returns. Firm-specific events dominate.</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B2A4A"/>
          </a:solidFill>
          <a:ln/>
        </p:spPr>
      </p:sp>
      <p:sp>
        <p:nvSpPr>
          <p:cNvPr id="3" name="Shape 1"/>
          <p:cNvSpPr/>
          <p:nvPr/>
        </p:nvSpPr>
        <p:spPr>
          <a:xfrm>
            <a:off x="8595360" y="146304"/>
            <a:ext cx="228600" cy="228600"/>
          </a:xfrm>
          <a:prstGeom prst="ellipse">
            <a:avLst/>
          </a:prstGeom>
          <a:solidFill>
            <a:srgbClr val="1F77B4"/>
          </a:solidFill>
          <a:ln/>
        </p:spPr>
      </p:sp>
      <p:sp>
        <p:nvSpPr>
          <p:cNvPr id="4" name="Shape 2"/>
          <p:cNvSpPr/>
          <p:nvPr/>
        </p:nvSpPr>
        <p:spPr>
          <a:xfrm>
            <a:off x="8823960" y="146304"/>
            <a:ext cx="228600" cy="228600"/>
          </a:xfrm>
          <a:prstGeom prst="ellipse">
            <a:avLst/>
          </a:prstGeom>
          <a:solidFill>
            <a:srgbClr val="FF7F0E"/>
          </a:solidFill>
          <a:ln/>
        </p:spPr>
      </p:sp>
      <p:sp>
        <p:nvSpPr>
          <p:cNvPr id="5" name="Text 3"/>
          <p:cNvSpPr/>
          <p:nvPr/>
        </p:nvSpPr>
        <p:spPr>
          <a:xfrm>
            <a:off x="365760" y="73152"/>
            <a:ext cx="8046720" cy="5943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Discussion &amp; Key Conclusions</a:t>
            </a:r>
            <a:endParaRPr lang="en-US" sz="2200" dirty="0"/>
          </a:p>
        </p:txBody>
      </p:sp>
      <p:sp>
        <p:nvSpPr>
          <p:cNvPr id="6" name="Shape 4"/>
          <p:cNvSpPr/>
          <p:nvPr/>
        </p:nvSpPr>
        <p:spPr>
          <a:xfrm>
            <a:off x="320040" y="914400"/>
            <a:ext cx="2743200" cy="41148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7" name="Shape 5"/>
          <p:cNvSpPr/>
          <p:nvPr/>
        </p:nvSpPr>
        <p:spPr>
          <a:xfrm>
            <a:off x="320040" y="914400"/>
            <a:ext cx="2743200" cy="109728"/>
          </a:xfrm>
          <a:prstGeom prst="rect">
            <a:avLst/>
          </a:prstGeom>
          <a:solidFill>
            <a:srgbClr val="1F77B4"/>
          </a:solidFill>
          <a:ln/>
        </p:spPr>
      </p:sp>
      <p:sp>
        <p:nvSpPr>
          <p:cNvPr id="8" name="Text 6"/>
          <p:cNvSpPr/>
          <p:nvPr/>
        </p:nvSpPr>
        <p:spPr>
          <a:xfrm>
            <a:off x="457200" y="1078992"/>
            <a:ext cx="2468880" cy="41148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RQ 1 — Stock Performance</a:t>
            </a:r>
            <a:endParaRPr lang="en-US" sz="1100" dirty="0"/>
          </a:p>
        </p:txBody>
      </p:sp>
      <p:sp>
        <p:nvSpPr>
          <p:cNvPr id="9" name="Shape 7"/>
          <p:cNvSpPr/>
          <p:nvPr/>
        </p:nvSpPr>
        <p:spPr>
          <a:xfrm>
            <a:off x="457200" y="1618488"/>
            <a:ext cx="128016" cy="128016"/>
          </a:xfrm>
          <a:prstGeom prst="ellipse">
            <a:avLst/>
          </a:prstGeom>
          <a:solidFill>
            <a:srgbClr val="1F77B4"/>
          </a:solidFill>
          <a:ln/>
        </p:spPr>
      </p:sp>
      <p:sp>
        <p:nvSpPr>
          <p:cNvPr id="10" name="Text 8"/>
          <p:cNvSpPr/>
          <p:nvPr/>
        </p:nvSpPr>
        <p:spPr>
          <a:xfrm>
            <a:off x="640080" y="1572768"/>
            <a:ext cx="2331720" cy="59436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Both stocks: ~1,000% total return (2015–2026)</a:t>
            </a:r>
            <a:endParaRPr lang="en-US" sz="900" dirty="0"/>
          </a:p>
        </p:txBody>
      </p:sp>
      <p:sp>
        <p:nvSpPr>
          <p:cNvPr id="11" name="Shape 9"/>
          <p:cNvSpPr/>
          <p:nvPr/>
        </p:nvSpPr>
        <p:spPr>
          <a:xfrm>
            <a:off x="457200" y="2286000"/>
            <a:ext cx="128016" cy="128016"/>
          </a:xfrm>
          <a:prstGeom prst="ellipse">
            <a:avLst/>
          </a:prstGeom>
          <a:solidFill>
            <a:srgbClr val="1F77B4"/>
          </a:solidFill>
          <a:ln/>
        </p:spPr>
      </p:sp>
      <p:sp>
        <p:nvSpPr>
          <p:cNvPr id="12" name="Text 10"/>
          <p:cNvSpPr/>
          <p:nvPr/>
        </p:nvSpPr>
        <p:spPr>
          <a:xfrm>
            <a:off x="640080" y="2240280"/>
            <a:ext cx="2331720" cy="59436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Apple: 31.0% CAGR | Samsung: 30.5% — near-identical risk-adjusted returns</a:t>
            </a:r>
            <a:endParaRPr lang="en-US" sz="900" dirty="0"/>
          </a:p>
        </p:txBody>
      </p:sp>
      <p:sp>
        <p:nvSpPr>
          <p:cNvPr id="13" name="Shape 11"/>
          <p:cNvSpPr/>
          <p:nvPr/>
        </p:nvSpPr>
        <p:spPr>
          <a:xfrm>
            <a:off x="457200" y="2953512"/>
            <a:ext cx="128016" cy="128016"/>
          </a:xfrm>
          <a:prstGeom prst="ellipse">
            <a:avLst/>
          </a:prstGeom>
          <a:solidFill>
            <a:srgbClr val="1F77B4"/>
          </a:solidFill>
          <a:ln/>
        </p:spPr>
      </p:sp>
      <p:sp>
        <p:nvSpPr>
          <p:cNvPr id="14" name="Text 12"/>
          <p:cNvSpPr/>
          <p:nvPr/>
        </p:nvSpPr>
        <p:spPr>
          <a:xfrm>
            <a:off x="640080" y="2907792"/>
            <a:ext cx="2331720" cy="59436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Daily return correlation very low (r=0.068) despite being direct competitors</a:t>
            </a:r>
            <a:endParaRPr lang="en-US" sz="900" dirty="0"/>
          </a:p>
        </p:txBody>
      </p:sp>
      <p:sp>
        <p:nvSpPr>
          <p:cNvPr id="15" name="Shape 13"/>
          <p:cNvSpPr/>
          <p:nvPr/>
        </p:nvSpPr>
        <p:spPr>
          <a:xfrm>
            <a:off x="457200" y="3621024"/>
            <a:ext cx="128016" cy="128016"/>
          </a:xfrm>
          <a:prstGeom prst="ellipse">
            <a:avLst/>
          </a:prstGeom>
          <a:solidFill>
            <a:srgbClr val="1F77B4"/>
          </a:solidFill>
          <a:ln/>
        </p:spPr>
      </p:sp>
      <p:sp>
        <p:nvSpPr>
          <p:cNvPr id="16" name="Text 14"/>
          <p:cNvSpPr/>
          <p:nvPr/>
        </p:nvSpPr>
        <p:spPr>
          <a:xfrm>
            <a:off x="640080" y="3575304"/>
            <a:ext cx="2331720" cy="59436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Correlation rises during crises (COVID 2020) but time-varying</a:t>
            </a:r>
            <a:endParaRPr lang="en-US" sz="900" dirty="0"/>
          </a:p>
        </p:txBody>
      </p:sp>
      <p:sp>
        <p:nvSpPr>
          <p:cNvPr id="17" name="Shape 15"/>
          <p:cNvSpPr/>
          <p:nvPr/>
        </p:nvSpPr>
        <p:spPr>
          <a:xfrm>
            <a:off x="457200" y="4288536"/>
            <a:ext cx="128016" cy="128016"/>
          </a:xfrm>
          <a:prstGeom prst="ellipse">
            <a:avLst/>
          </a:prstGeom>
          <a:solidFill>
            <a:srgbClr val="1F77B4"/>
          </a:solidFill>
          <a:ln/>
        </p:spPr>
      </p:sp>
      <p:sp>
        <p:nvSpPr>
          <p:cNvPr id="18" name="Text 16"/>
          <p:cNvSpPr/>
          <p:nvPr/>
        </p:nvSpPr>
        <p:spPr>
          <a:xfrm>
            <a:off x="640080" y="4242816"/>
            <a:ext cx="2331720" cy="59436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Similar volatility (~29–30%), driven by different events</a:t>
            </a:r>
            <a:endParaRPr lang="en-US" sz="900" dirty="0"/>
          </a:p>
        </p:txBody>
      </p:sp>
      <p:sp>
        <p:nvSpPr>
          <p:cNvPr id="19" name="Shape 17"/>
          <p:cNvSpPr/>
          <p:nvPr/>
        </p:nvSpPr>
        <p:spPr>
          <a:xfrm>
            <a:off x="3172968" y="914400"/>
            <a:ext cx="2743200" cy="41148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0" name="Shape 18"/>
          <p:cNvSpPr/>
          <p:nvPr/>
        </p:nvSpPr>
        <p:spPr>
          <a:xfrm>
            <a:off x="3172968" y="914400"/>
            <a:ext cx="2743200" cy="109728"/>
          </a:xfrm>
          <a:prstGeom prst="rect">
            <a:avLst/>
          </a:prstGeom>
          <a:solidFill>
            <a:srgbClr val="FF7F0E"/>
          </a:solidFill>
          <a:ln/>
        </p:spPr>
      </p:sp>
      <p:sp>
        <p:nvSpPr>
          <p:cNvPr id="21" name="Text 19"/>
          <p:cNvSpPr/>
          <p:nvPr/>
        </p:nvSpPr>
        <p:spPr>
          <a:xfrm>
            <a:off x="3310128" y="1078992"/>
            <a:ext cx="2468880" cy="41148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RQ 2 — Financial Fundamentals</a:t>
            </a:r>
            <a:endParaRPr lang="en-US" sz="1100" dirty="0"/>
          </a:p>
        </p:txBody>
      </p:sp>
      <p:sp>
        <p:nvSpPr>
          <p:cNvPr id="22" name="Shape 20"/>
          <p:cNvSpPr/>
          <p:nvPr/>
        </p:nvSpPr>
        <p:spPr>
          <a:xfrm>
            <a:off x="3310128" y="1618488"/>
            <a:ext cx="128016" cy="128016"/>
          </a:xfrm>
          <a:prstGeom prst="ellipse">
            <a:avLst/>
          </a:prstGeom>
          <a:solidFill>
            <a:srgbClr val="FF7F0E"/>
          </a:solidFill>
          <a:ln/>
        </p:spPr>
      </p:sp>
      <p:sp>
        <p:nvSpPr>
          <p:cNvPr id="23" name="Text 21"/>
          <p:cNvSpPr/>
          <p:nvPr/>
        </p:nvSpPr>
        <p:spPr>
          <a:xfrm>
            <a:off x="3493008" y="1572768"/>
            <a:ext cx="2331720" cy="59436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Apple outperforms on all margin metrics (gross ~47% vs Samsung ~37%)</a:t>
            </a:r>
            <a:endParaRPr lang="en-US" sz="900" dirty="0"/>
          </a:p>
        </p:txBody>
      </p:sp>
      <p:sp>
        <p:nvSpPr>
          <p:cNvPr id="24" name="Shape 22"/>
          <p:cNvSpPr/>
          <p:nvPr/>
        </p:nvSpPr>
        <p:spPr>
          <a:xfrm>
            <a:off x="3310128" y="2286000"/>
            <a:ext cx="128016" cy="128016"/>
          </a:xfrm>
          <a:prstGeom prst="ellipse">
            <a:avLst/>
          </a:prstGeom>
          <a:solidFill>
            <a:srgbClr val="FF7F0E"/>
          </a:solidFill>
          <a:ln/>
        </p:spPr>
      </p:sp>
      <p:sp>
        <p:nvSpPr>
          <p:cNvPr id="25" name="Text 23"/>
          <p:cNvSpPr/>
          <p:nvPr/>
        </p:nvSpPr>
        <p:spPr>
          <a:xfrm>
            <a:off x="3493008" y="2240280"/>
            <a:ext cx="2331720" cy="59436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Apple's services segment boosts margin quality and reduces cyclicality</a:t>
            </a:r>
            <a:endParaRPr lang="en-US" sz="900" dirty="0"/>
          </a:p>
        </p:txBody>
      </p:sp>
      <p:sp>
        <p:nvSpPr>
          <p:cNvPr id="26" name="Shape 24"/>
          <p:cNvSpPr/>
          <p:nvPr/>
        </p:nvSpPr>
        <p:spPr>
          <a:xfrm>
            <a:off x="3310128" y="2953512"/>
            <a:ext cx="128016" cy="128016"/>
          </a:xfrm>
          <a:prstGeom prst="ellipse">
            <a:avLst/>
          </a:prstGeom>
          <a:solidFill>
            <a:srgbClr val="FF7F0E"/>
          </a:solidFill>
          <a:ln/>
        </p:spPr>
      </p:sp>
      <p:sp>
        <p:nvSpPr>
          <p:cNvPr id="27" name="Text 25"/>
          <p:cNvSpPr/>
          <p:nvPr/>
        </p:nvSpPr>
        <p:spPr>
          <a:xfrm>
            <a:off x="3493008" y="2907792"/>
            <a:ext cx="2331720" cy="59436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Samsung driven by semiconductor cycles — sharp 2023 downturn, strong 2025 recovery</a:t>
            </a:r>
            <a:endParaRPr lang="en-US" sz="900" dirty="0"/>
          </a:p>
        </p:txBody>
      </p:sp>
      <p:sp>
        <p:nvSpPr>
          <p:cNvPr id="28" name="Shape 26"/>
          <p:cNvSpPr/>
          <p:nvPr/>
        </p:nvSpPr>
        <p:spPr>
          <a:xfrm>
            <a:off x="3310128" y="3621024"/>
            <a:ext cx="128016" cy="128016"/>
          </a:xfrm>
          <a:prstGeom prst="ellipse">
            <a:avLst/>
          </a:prstGeom>
          <a:solidFill>
            <a:srgbClr val="FF7F0E"/>
          </a:solidFill>
          <a:ln/>
        </p:spPr>
      </p:sp>
      <p:sp>
        <p:nvSpPr>
          <p:cNvPr id="29" name="Text 27"/>
          <p:cNvSpPr/>
          <p:nvPr/>
        </p:nvSpPr>
        <p:spPr>
          <a:xfrm>
            <a:off x="3493008" y="3575304"/>
            <a:ext cx="2331720" cy="59436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Apple FCF ~$100B/yr; Samsung's is volatile and capital-intensive</a:t>
            </a:r>
            <a:endParaRPr lang="en-US" sz="900" dirty="0"/>
          </a:p>
        </p:txBody>
      </p:sp>
      <p:sp>
        <p:nvSpPr>
          <p:cNvPr id="30" name="Shape 28"/>
          <p:cNvSpPr/>
          <p:nvPr/>
        </p:nvSpPr>
        <p:spPr>
          <a:xfrm>
            <a:off x="3310128" y="4288536"/>
            <a:ext cx="128016" cy="128016"/>
          </a:xfrm>
          <a:prstGeom prst="ellipse">
            <a:avLst/>
          </a:prstGeom>
          <a:solidFill>
            <a:srgbClr val="FF7F0E"/>
          </a:solidFill>
          <a:ln/>
        </p:spPr>
      </p:sp>
      <p:sp>
        <p:nvSpPr>
          <p:cNvPr id="31" name="Text 29"/>
          <p:cNvSpPr/>
          <p:nvPr/>
        </p:nvSpPr>
        <p:spPr>
          <a:xfrm>
            <a:off x="3493008" y="4242816"/>
            <a:ext cx="2331720" cy="59436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Both companies improved margins in FY2025</a:t>
            </a:r>
            <a:endParaRPr lang="en-US" sz="900" dirty="0"/>
          </a:p>
        </p:txBody>
      </p:sp>
      <p:sp>
        <p:nvSpPr>
          <p:cNvPr id="32" name="Shape 30"/>
          <p:cNvSpPr/>
          <p:nvPr/>
        </p:nvSpPr>
        <p:spPr>
          <a:xfrm>
            <a:off x="6025896" y="914400"/>
            <a:ext cx="2743200" cy="41148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3" name="Shape 31"/>
          <p:cNvSpPr/>
          <p:nvPr/>
        </p:nvSpPr>
        <p:spPr>
          <a:xfrm>
            <a:off x="6025896" y="914400"/>
            <a:ext cx="2743200" cy="109728"/>
          </a:xfrm>
          <a:prstGeom prst="rect">
            <a:avLst/>
          </a:prstGeom>
          <a:solidFill>
            <a:srgbClr val="6B7280"/>
          </a:solidFill>
          <a:ln/>
        </p:spPr>
      </p:sp>
      <p:sp>
        <p:nvSpPr>
          <p:cNvPr id="34" name="Text 32"/>
          <p:cNvSpPr/>
          <p:nvPr/>
        </p:nvSpPr>
        <p:spPr>
          <a:xfrm>
            <a:off x="6163056" y="1078992"/>
            <a:ext cx="2468880" cy="41148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RQ 3 — Macro Regression</a:t>
            </a:r>
            <a:endParaRPr lang="en-US" sz="1100" dirty="0"/>
          </a:p>
        </p:txBody>
      </p:sp>
      <p:sp>
        <p:nvSpPr>
          <p:cNvPr id="35" name="Shape 33"/>
          <p:cNvSpPr/>
          <p:nvPr/>
        </p:nvSpPr>
        <p:spPr>
          <a:xfrm>
            <a:off x="6163056" y="1618488"/>
            <a:ext cx="128016" cy="128016"/>
          </a:xfrm>
          <a:prstGeom prst="ellipse">
            <a:avLst/>
          </a:prstGeom>
          <a:solidFill>
            <a:srgbClr val="6B7280"/>
          </a:solidFill>
          <a:ln/>
        </p:spPr>
      </p:sp>
      <p:sp>
        <p:nvSpPr>
          <p:cNvPr id="36" name="Text 34"/>
          <p:cNvSpPr/>
          <p:nvPr/>
        </p:nvSpPr>
        <p:spPr>
          <a:xfrm>
            <a:off x="6345936" y="1572768"/>
            <a:ext cx="2331720" cy="59436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Macro factors explain &lt;3% of monthly return variance</a:t>
            </a:r>
            <a:endParaRPr lang="en-US" sz="900" dirty="0"/>
          </a:p>
        </p:txBody>
      </p:sp>
      <p:sp>
        <p:nvSpPr>
          <p:cNvPr id="37" name="Shape 35"/>
          <p:cNvSpPr/>
          <p:nvPr/>
        </p:nvSpPr>
        <p:spPr>
          <a:xfrm>
            <a:off x="6163056" y="2286000"/>
            <a:ext cx="128016" cy="128016"/>
          </a:xfrm>
          <a:prstGeom prst="ellipse">
            <a:avLst/>
          </a:prstGeom>
          <a:solidFill>
            <a:srgbClr val="6B7280"/>
          </a:solidFill>
          <a:ln/>
        </p:spPr>
      </p:sp>
      <p:sp>
        <p:nvSpPr>
          <p:cNvPr id="38" name="Text 36"/>
          <p:cNvSpPr/>
          <p:nvPr/>
        </p:nvSpPr>
        <p:spPr>
          <a:xfrm>
            <a:off x="6345936" y="2240280"/>
            <a:ext cx="2331720" cy="59436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Coefficient signs align with theory (higher rates → lower Apple returns)</a:t>
            </a:r>
            <a:endParaRPr lang="en-US" sz="900" dirty="0"/>
          </a:p>
        </p:txBody>
      </p:sp>
      <p:sp>
        <p:nvSpPr>
          <p:cNvPr id="39" name="Shape 37"/>
          <p:cNvSpPr/>
          <p:nvPr/>
        </p:nvSpPr>
        <p:spPr>
          <a:xfrm>
            <a:off x="6163056" y="2953512"/>
            <a:ext cx="128016" cy="128016"/>
          </a:xfrm>
          <a:prstGeom prst="ellipse">
            <a:avLst/>
          </a:prstGeom>
          <a:solidFill>
            <a:srgbClr val="6B7280"/>
          </a:solidFill>
          <a:ln/>
        </p:spPr>
      </p:sp>
      <p:sp>
        <p:nvSpPr>
          <p:cNvPr id="40" name="Text 38"/>
          <p:cNvSpPr/>
          <p:nvPr/>
        </p:nvSpPr>
        <p:spPr>
          <a:xfrm>
            <a:off x="6345936" y="2907792"/>
            <a:ext cx="2331720" cy="59436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Neither model statistically significant (F-stat p &gt; 0.2)</a:t>
            </a:r>
            <a:endParaRPr lang="en-US" sz="900" dirty="0"/>
          </a:p>
        </p:txBody>
      </p:sp>
      <p:sp>
        <p:nvSpPr>
          <p:cNvPr id="41" name="Shape 39"/>
          <p:cNvSpPr/>
          <p:nvPr/>
        </p:nvSpPr>
        <p:spPr>
          <a:xfrm>
            <a:off x="6163056" y="3621024"/>
            <a:ext cx="128016" cy="128016"/>
          </a:xfrm>
          <a:prstGeom prst="ellipse">
            <a:avLst/>
          </a:prstGeom>
          <a:solidFill>
            <a:srgbClr val="6B7280"/>
          </a:solidFill>
          <a:ln/>
        </p:spPr>
      </p:sp>
      <p:sp>
        <p:nvSpPr>
          <p:cNvPr id="42" name="Text 40"/>
          <p:cNvSpPr/>
          <p:nvPr/>
        </p:nvSpPr>
        <p:spPr>
          <a:xfrm>
            <a:off x="6345936" y="3575304"/>
            <a:ext cx="2331720" cy="59436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Firm-specific events (earnings, product launches) dominate</a:t>
            </a:r>
            <a:endParaRPr lang="en-US" sz="900" dirty="0"/>
          </a:p>
        </p:txBody>
      </p:sp>
      <p:sp>
        <p:nvSpPr>
          <p:cNvPr id="43" name="Shape 41"/>
          <p:cNvSpPr/>
          <p:nvPr/>
        </p:nvSpPr>
        <p:spPr>
          <a:xfrm>
            <a:off x="6163056" y="4288536"/>
            <a:ext cx="128016" cy="128016"/>
          </a:xfrm>
          <a:prstGeom prst="ellipse">
            <a:avLst/>
          </a:prstGeom>
          <a:solidFill>
            <a:srgbClr val="6B7280"/>
          </a:solidFill>
          <a:ln/>
        </p:spPr>
      </p:sp>
      <p:sp>
        <p:nvSpPr>
          <p:cNvPr id="44" name="Text 42"/>
          <p:cNvSpPr/>
          <p:nvPr/>
        </p:nvSpPr>
        <p:spPr>
          <a:xfrm>
            <a:off x="6345936" y="4242816"/>
            <a:ext cx="2331720" cy="59436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A Fama-French model would substantially improve fit</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B2A4A"/>
          </a:solidFill>
          <a:ln/>
        </p:spPr>
      </p:sp>
      <p:sp>
        <p:nvSpPr>
          <p:cNvPr id="3" name="Shape 1"/>
          <p:cNvSpPr/>
          <p:nvPr/>
        </p:nvSpPr>
        <p:spPr>
          <a:xfrm>
            <a:off x="8595360" y="146304"/>
            <a:ext cx="228600" cy="228600"/>
          </a:xfrm>
          <a:prstGeom prst="ellipse">
            <a:avLst/>
          </a:prstGeom>
          <a:solidFill>
            <a:srgbClr val="1F77B4"/>
          </a:solidFill>
          <a:ln/>
        </p:spPr>
      </p:sp>
      <p:sp>
        <p:nvSpPr>
          <p:cNvPr id="4" name="Shape 2"/>
          <p:cNvSpPr/>
          <p:nvPr/>
        </p:nvSpPr>
        <p:spPr>
          <a:xfrm>
            <a:off x="8823960" y="146304"/>
            <a:ext cx="228600" cy="228600"/>
          </a:xfrm>
          <a:prstGeom prst="ellipse">
            <a:avLst/>
          </a:prstGeom>
          <a:solidFill>
            <a:srgbClr val="FF7F0E"/>
          </a:solidFill>
          <a:ln/>
        </p:spPr>
      </p:sp>
      <p:sp>
        <p:nvSpPr>
          <p:cNvPr id="5" name="Text 3"/>
          <p:cNvSpPr/>
          <p:nvPr/>
        </p:nvSpPr>
        <p:spPr>
          <a:xfrm>
            <a:off x="365760" y="73152"/>
            <a:ext cx="8046720" cy="5943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Limitations &amp; Future Work</a:t>
            </a:r>
            <a:endParaRPr lang="en-US" sz="2200" dirty="0"/>
          </a:p>
        </p:txBody>
      </p:sp>
      <p:sp>
        <p:nvSpPr>
          <p:cNvPr id="6" name="Shape 4"/>
          <p:cNvSpPr/>
          <p:nvPr/>
        </p:nvSpPr>
        <p:spPr>
          <a:xfrm>
            <a:off x="320040" y="822960"/>
            <a:ext cx="8503920" cy="23317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7" name="Shape 5"/>
          <p:cNvSpPr/>
          <p:nvPr/>
        </p:nvSpPr>
        <p:spPr>
          <a:xfrm>
            <a:off x="320040" y="822960"/>
            <a:ext cx="8503920" cy="109728"/>
          </a:xfrm>
          <a:prstGeom prst="rect">
            <a:avLst/>
          </a:prstGeom>
          <a:solidFill>
            <a:srgbClr val="DC2626"/>
          </a:solidFill>
          <a:ln/>
        </p:spPr>
      </p:sp>
      <p:sp>
        <p:nvSpPr>
          <p:cNvPr id="8" name="Text 6"/>
          <p:cNvSpPr/>
          <p:nvPr/>
        </p:nvSpPr>
        <p:spPr>
          <a:xfrm>
            <a:off x="502920" y="960120"/>
            <a:ext cx="8046720" cy="365760"/>
          </a:xfrm>
          <a:prstGeom prst="rect">
            <a:avLst/>
          </a:prstGeom>
          <a:noFill/>
          <a:ln/>
        </p:spPr>
        <p:txBody>
          <a:bodyPr wrap="square" lIns="0" tIns="0" rIns="0" bIns="0" rtlCol="0" anchor="ctr"/>
          <a:lstStyle/>
          <a:p>
            <a:pPr indent="0" marL="0">
              <a:buNone/>
            </a:pPr>
            <a:r>
              <a:rPr lang="en-US" sz="1400" b="1" dirty="0">
                <a:solidFill>
                  <a:srgbClr val="DC2626"/>
                </a:solidFill>
                <a:latin typeface="Calibri" pitchFamily="34" charset="0"/>
                <a:ea typeface="Calibri" pitchFamily="34" charset="-122"/>
                <a:cs typeface="Calibri" pitchFamily="34" charset="-120"/>
              </a:rPr>
              <a:t>Limitations</a:t>
            </a:r>
            <a:endParaRPr lang="en-US" sz="1400" dirty="0"/>
          </a:p>
        </p:txBody>
      </p:sp>
      <p:sp>
        <p:nvSpPr>
          <p:cNvPr id="9" name="Text 7"/>
          <p:cNvSpPr/>
          <p:nvPr/>
        </p:nvSpPr>
        <p:spPr>
          <a:xfrm>
            <a:off x="502920" y="1371600"/>
            <a:ext cx="8046720" cy="169164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1. Currency Risk: Analysis doesn't adjust for USD/KRW exchange rate fluctuations, affecting cross-currency comparability.</a:t>
            </a:r>
            <a:endParaRPr lang="en-US" sz="950" dirty="0"/>
          </a:p>
          <a:p>
            <a:pPr indent="0" marL="0">
              <a:buNone/>
            </a:pPr>
            <a:r>
              <a:rPr lang="en-US" sz="950" dirty="0">
                <a:solidFill>
                  <a:srgbClr val="1E293B"/>
                </a:solidFill>
                <a:latin typeface="Calibri" pitchFamily="34" charset="0"/>
                <a:ea typeface="Calibri" pitchFamily="34" charset="-122"/>
                <a:cs typeface="Calibri" pitchFamily="34" charset="-120"/>
              </a:rPr>
              <a:t>2. Financial Statement Coverage: Only 4–5 years of annual financials available via yfinance, limiting long-term trend analysis.</a:t>
            </a:r>
            <a:endParaRPr lang="en-US" sz="950" dirty="0"/>
          </a:p>
          <a:p>
            <a:pPr indent="0" marL="0">
              <a:buNone/>
            </a:pPr>
            <a:r>
              <a:rPr lang="en-US" sz="950" dirty="0">
                <a:solidFill>
                  <a:srgbClr val="1E293B"/>
                </a:solidFill>
                <a:latin typeface="Calibri" pitchFamily="34" charset="0"/>
                <a:ea typeface="Calibri" pitchFamily="34" charset="-122"/>
                <a:cs typeface="Calibri" pitchFamily="34" charset="-120"/>
              </a:rPr>
              <a:t>3. Omitted Variables: Regression omits market beta, earnings surprises, and sector ETF flows.</a:t>
            </a:r>
            <a:endParaRPr lang="en-US" sz="950" dirty="0"/>
          </a:p>
          <a:p>
            <a:pPr indent="0" marL="0">
              <a:buNone/>
            </a:pPr>
            <a:r>
              <a:rPr lang="en-US" sz="950" dirty="0">
                <a:solidFill>
                  <a:srgbClr val="1E293B"/>
                </a:solidFill>
                <a:latin typeface="Calibri" pitchFamily="34" charset="0"/>
                <a:ea typeface="Calibri" pitchFamily="34" charset="-122"/>
                <a:cs typeface="Calibri" pitchFamily="34" charset="-120"/>
              </a:rPr>
              <a:t>4. Survivorship Bias: Both firms are industry leaders; findings may not generalize to broader tech sector.</a:t>
            </a:r>
            <a:endParaRPr lang="en-US" sz="950" dirty="0"/>
          </a:p>
        </p:txBody>
      </p:sp>
      <p:sp>
        <p:nvSpPr>
          <p:cNvPr id="10" name="Shape 8"/>
          <p:cNvSpPr/>
          <p:nvPr/>
        </p:nvSpPr>
        <p:spPr>
          <a:xfrm>
            <a:off x="320040" y="3291840"/>
            <a:ext cx="8503920" cy="16916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1" name="Shape 9"/>
          <p:cNvSpPr/>
          <p:nvPr/>
        </p:nvSpPr>
        <p:spPr>
          <a:xfrm>
            <a:off x="320040" y="3291840"/>
            <a:ext cx="8503920" cy="109728"/>
          </a:xfrm>
          <a:prstGeom prst="rect">
            <a:avLst/>
          </a:prstGeom>
          <a:solidFill>
            <a:srgbClr val="16A34A"/>
          </a:solidFill>
          <a:ln/>
        </p:spPr>
      </p:sp>
      <p:sp>
        <p:nvSpPr>
          <p:cNvPr id="12" name="Text 10"/>
          <p:cNvSpPr/>
          <p:nvPr/>
        </p:nvSpPr>
        <p:spPr>
          <a:xfrm>
            <a:off x="502920" y="3429000"/>
            <a:ext cx="8046720" cy="365760"/>
          </a:xfrm>
          <a:prstGeom prst="rect">
            <a:avLst/>
          </a:prstGeom>
          <a:noFill/>
          <a:ln/>
        </p:spPr>
        <p:txBody>
          <a:bodyPr wrap="square" lIns="0" tIns="0" rIns="0" bIns="0" rtlCol="0" anchor="ctr"/>
          <a:lstStyle/>
          <a:p>
            <a:pPr indent="0" marL="0">
              <a:buNone/>
            </a:pPr>
            <a:r>
              <a:rPr lang="en-US" sz="1400" b="1" dirty="0">
                <a:solidFill>
                  <a:srgbClr val="16A34A"/>
                </a:solidFill>
                <a:latin typeface="Calibri" pitchFamily="34" charset="0"/>
                <a:ea typeface="Calibri" pitchFamily="34" charset="-122"/>
                <a:cs typeface="Calibri" pitchFamily="34" charset="-120"/>
              </a:rPr>
              <a:t>Future Work</a:t>
            </a:r>
            <a:endParaRPr lang="en-US" sz="1400" dirty="0"/>
          </a:p>
        </p:txBody>
      </p:sp>
      <p:sp>
        <p:nvSpPr>
          <p:cNvPr id="13" name="Text 11"/>
          <p:cNvSpPr/>
          <p:nvPr/>
        </p:nvSpPr>
        <p:spPr>
          <a:xfrm>
            <a:off x="502920" y="3749040"/>
            <a:ext cx="8046720" cy="114300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1. Apply Fama-French 3-factor model to control for market, size, and value risk premia.</a:t>
            </a:r>
            <a:endParaRPr lang="en-US" sz="950" dirty="0"/>
          </a:p>
          <a:p>
            <a:pPr indent="0" marL="0">
              <a:buNone/>
            </a:pPr>
            <a:r>
              <a:rPr lang="en-US" sz="950" dirty="0">
                <a:solidFill>
                  <a:srgbClr val="1E293B"/>
                </a:solidFill>
                <a:latin typeface="Calibri" pitchFamily="34" charset="0"/>
                <a:ea typeface="Calibri" pitchFamily="34" charset="-122"/>
                <a:cs typeface="Calibri" pitchFamily="34" charset="-120"/>
              </a:rPr>
              <a:t>2. Event study: analyze abnormal returns around major product launches (iPhone, Galaxy S-series).</a:t>
            </a:r>
            <a:endParaRPr lang="en-US" sz="950" dirty="0"/>
          </a:p>
          <a:p>
            <a:pPr indent="0" marL="0">
              <a:buNone/>
            </a:pPr>
            <a:r>
              <a:rPr lang="en-US" sz="950" dirty="0">
                <a:solidFill>
                  <a:srgbClr val="1E293B"/>
                </a:solidFill>
                <a:latin typeface="Calibri" pitchFamily="34" charset="0"/>
                <a:ea typeface="Calibri" pitchFamily="34" charset="-122"/>
                <a:cs typeface="Calibri" pitchFamily="34" charset="-120"/>
              </a:rPr>
              <a:t>3. Incorporate Google Trends data as a consumer interest leading indicator.</a:t>
            </a:r>
            <a:endParaRPr lang="en-US" sz="950" dirty="0"/>
          </a:p>
          <a:p>
            <a:pPr indent="0" marL="0">
              <a:buNone/>
            </a:pPr>
            <a:r>
              <a:rPr lang="en-US" sz="950" dirty="0">
                <a:solidFill>
                  <a:srgbClr val="1E293B"/>
                </a:solidFill>
                <a:latin typeface="Calibri" pitchFamily="34" charset="0"/>
                <a:ea typeface="Calibri" pitchFamily="34" charset="-122"/>
                <a:cs typeface="Calibri" pitchFamily="34" charset="-120"/>
              </a:rPr>
              <a:t>4. Extend to a panel of smartphone sector peers (Sony, Xiaomi, TSMC) for broader competitive analysis.</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B2A4A"/>
          </a:solidFill>
          <a:ln/>
        </p:spPr>
      </p:sp>
      <p:sp>
        <p:nvSpPr>
          <p:cNvPr id="3" name="Shape 1"/>
          <p:cNvSpPr/>
          <p:nvPr/>
        </p:nvSpPr>
        <p:spPr>
          <a:xfrm>
            <a:off x="8595360" y="146304"/>
            <a:ext cx="228600" cy="228600"/>
          </a:xfrm>
          <a:prstGeom prst="ellipse">
            <a:avLst/>
          </a:prstGeom>
          <a:solidFill>
            <a:srgbClr val="1F77B4"/>
          </a:solidFill>
          <a:ln/>
        </p:spPr>
      </p:sp>
      <p:sp>
        <p:nvSpPr>
          <p:cNvPr id="4" name="Shape 2"/>
          <p:cNvSpPr/>
          <p:nvPr/>
        </p:nvSpPr>
        <p:spPr>
          <a:xfrm>
            <a:off x="8823960" y="146304"/>
            <a:ext cx="228600" cy="228600"/>
          </a:xfrm>
          <a:prstGeom prst="ellipse">
            <a:avLst/>
          </a:prstGeom>
          <a:solidFill>
            <a:srgbClr val="FF7F0E"/>
          </a:solidFill>
          <a:ln/>
        </p:spPr>
      </p:sp>
      <p:sp>
        <p:nvSpPr>
          <p:cNvPr id="5" name="Text 3"/>
          <p:cNvSpPr/>
          <p:nvPr/>
        </p:nvSpPr>
        <p:spPr>
          <a:xfrm>
            <a:off x="365760" y="73152"/>
            <a:ext cx="8046720" cy="5943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References</a:t>
            </a:r>
            <a:endParaRPr lang="en-US" sz="2200" dirty="0"/>
          </a:p>
        </p:txBody>
      </p:sp>
      <p:sp>
        <p:nvSpPr>
          <p:cNvPr id="6" name="Shape 4"/>
          <p:cNvSpPr/>
          <p:nvPr/>
        </p:nvSpPr>
        <p:spPr>
          <a:xfrm>
            <a:off x="320040" y="914400"/>
            <a:ext cx="320040" cy="365760"/>
          </a:xfrm>
          <a:prstGeom prst="rect">
            <a:avLst/>
          </a:prstGeom>
          <a:solidFill>
            <a:srgbClr val="1F77B4"/>
          </a:solidFill>
          <a:ln/>
        </p:spPr>
      </p:sp>
      <p:sp>
        <p:nvSpPr>
          <p:cNvPr id="7" name="Text 5"/>
          <p:cNvSpPr/>
          <p:nvPr/>
        </p:nvSpPr>
        <p:spPr>
          <a:xfrm>
            <a:off x="320040" y="914400"/>
            <a:ext cx="32004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Shape 6"/>
          <p:cNvSpPr/>
          <p:nvPr/>
        </p:nvSpPr>
        <p:spPr>
          <a:xfrm>
            <a:off x="713232" y="914400"/>
            <a:ext cx="8110728" cy="365760"/>
          </a:xfrm>
          <a:prstGeom prst="rect">
            <a:avLst/>
          </a:prstGeom>
          <a:solidFill>
            <a:srgbClr val="F0F4FF"/>
          </a:solidFill>
          <a:ln/>
        </p:spPr>
      </p:sp>
      <p:sp>
        <p:nvSpPr>
          <p:cNvPr id="9" name="Text 7"/>
          <p:cNvSpPr/>
          <p:nvPr/>
        </p:nvSpPr>
        <p:spPr>
          <a:xfrm>
            <a:off x="804672" y="960120"/>
            <a:ext cx="7927848" cy="274320"/>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Yahoo Finance. (2026). Apple Inc. (AAPL) Historical Data &amp; Financial Statements. https://finance.yahoo.com/quote/AAPL</a:t>
            </a:r>
            <a:endParaRPr lang="en-US" sz="850" dirty="0"/>
          </a:p>
        </p:txBody>
      </p:sp>
      <p:sp>
        <p:nvSpPr>
          <p:cNvPr id="10" name="Shape 8"/>
          <p:cNvSpPr/>
          <p:nvPr/>
        </p:nvSpPr>
        <p:spPr>
          <a:xfrm>
            <a:off x="320040" y="1408176"/>
            <a:ext cx="320040" cy="365760"/>
          </a:xfrm>
          <a:prstGeom prst="rect">
            <a:avLst/>
          </a:prstGeom>
          <a:solidFill>
            <a:srgbClr val="FF7F0E"/>
          </a:solidFill>
          <a:ln/>
        </p:spPr>
      </p:sp>
      <p:sp>
        <p:nvSpPr>
          <p:cNvPr id="11" name="Text 9"/>
          <p:cNvSpPr/>
          <p:nvPr/>
        </p:nvSpPr>
        <p:spPr>
          <a:xfrm>
            <a:off x="320040" y="1408176"/>
            <a:ext cx="32004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Shape 10"/>
          <p:cNvSpPr/>
          <p:nvPr/>
        </p:nvSpPr>
        <p:spPr>
          <a:xfrm>
            <a:off x="713232" y="1408176"/>
            <a:ext cx="8110728" cy="365760"/>
          </a:xfrm>
          <a:prstGeom prst="rect">
            <a:avLst/>
          </a:prstGeom>
          <a:solidFill>
            <a:srgbClr val="FFFFFF"/>
          </a:solidFill>
          <a:ln/>
        </p:spPr>
      </p:sp>
      <p:sp>
        <p:nvSpPr>
          <p:cNvPr id="13" name="Text 11"/>
          <p:cNvSpPr/>
          <p:nvPr/>
        </p:nvSpPr>
        <p:spPr>
          <a:xfrm>
            <a:off x="804672" y="1453896"/>
            <a:ext cx="7927848" cy="274320"/>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Yahoo Finance. (2026). Samsung Electronics (005930.KS) Historical Data. https://finance.yahoo.com/quote/005930.KS</a:t>
            </a:r>
            <a:endParaRPr lang="en-US" sz="850" dirty="0"/>
          </a:p>
        </p:txBody>
      </p:sp>
      <p:sp>
        <p:nvSpPr>
          <p:cNvPr id="14" name="Shape 12"/>
          <p:cNvSpPr/>
          <p:nvPr/>
        </p:nvSpPr>
        <p:spPr>
          <a:xfrm>
            <a:off x="320040" y="1901952"/>
            <a:ext cx="320040" cy="365760"/>
          </a:xfrm>
          <a:prstGeom prst="rect">
            <a:avLst/>
          </a:prstGeom>
          <a:solidFill>
            <a:srgbClr val="1F77B4"/>
          </a:solidFill>
          <a:ln/>
        </p:spPr>
      </p:sp>
      <p:sp>
        <p:nvSpPr>
          <p:cNvPr id="15" name="Text 13"/>
          <p:cNvSpPr/>
          <p:nvPr/>
        </p:nvSpPr>
        <p:spPr>
          <a:xfrm>
            <a:off x="320040" y="1901952"/>
            <a:ext cx="32004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Shape 14"/>
          <p:cNvSpPr/>
          <p:nvPr/>
        </p:nvSpPr>
        <p:spPr>
          <a:xfrm>
            <a:off x="713232" y="1901952"/>
            <a:ext cx="8110728" cy="365760"/>
          </a:xfrm>
          <a:prstGeom prst="rect">
            <a:avLst/>
          </a:prstGeom>
          <a:solidFill>
            <a:srgbClr val="F0F4FF"/>
          </a:solidFill>
          <a:ln/>
        </p:spPr>
      </p:sp>
      <p:sp>
        <p:nvSpPr>
          <p:cNvPr id="17" name="Text 15"/>
          <p:cNvSpPr/>
          <p:nvPr/>
        </p:nvSpPr>
        <p:spPr>
          <a:xfrm>
            <a:off x="804672" y="1947672"/>
            <a:ext cx="7927848" cy="274320"/>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Federal Reserve Bank of St. Louis. (2026). Consumer Price Index (CPIAUCSL). https://fred.stlouisfed.org/series/CPIAUCSL</a:t>
            </a:r>
            <a:endParaRPr lang="en-US" sz="850" dirty="0"/>
          </a:p>
        </p:txBody>
      </p:sp>
      <p:sp>
        <p:nvSpPr>
          <p:cNvPr id="18" name="Shape 16"/>
          <p:cNvSpPr/>
          <p:nvPr/>
        </p:nvSpPr>
        <p:spPr>
          <a:xfrm>
            <a:off x="320040" y="2395728"/>
            <a:ext cx="320040" cy="365760"/>
          </a:xfrm>
          <a:prstGeom prst="rect">
            <a:avLst/>
          </a:prstGeom>
          <a:solidFill>
            <a:srgbClr val="FF7F0E"/>
          </a:solidFill>
          <a:ln/>
        </p:spPr>
      </p:sp>
      <p:sp>
        <p:nvSpPr>
          <p:cNvPr id="19" name="Text 17"/>
          <p:cNvSpPr/>
          <p:nvPr/>
        </p:nvSpPr>
        <p:spPr>
          <a:xfrm>
            <a:off x="320040" y="2395728"/>
            <a:ext cx="32004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0" name="Shape 18"/>
          <p:cNvSpPr/>
          <p:nvPr/>
        </p:nvSpPr>
        <p:spPr>
          <a:xfrm>
            <a:off x="713232" y="2395728"/>
            <a:ext cx="8110728" cy="365760"/>
          </a:xfrm>
          <a:prstGeom prst="rect">
            <a:avLst/>
          </a:prstGeom>
          <a:solidFill>
            <a:srgbClr val="FFFFFF"/>
          </a:solidFill>
          <a:ln/>
        </p:spPr>
      </p:sp>
      <p:sp>
        <p:nvSpPr>
          <p:cNvPr id="21" name="Text 19"/>
          <p:cNvSpPr/>
          <p:nvPr/>
        </p:nvSpPr>
        <p:spPr>
          <a:xfrm>
            <a:off x="804672" y="2441448"/>
            <a:ext cx="7927848" cy="274320"/>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Federal Reserve Bank of St. Louis. (2026). 10-Year Treasury Rate (DGS10). https://fred.stlouisfed.org/series/DGS10</a:t>
            </a:r>
            <a:endParaRPr lang="en-US" sz="850" dirty="0"/>
          </a:p>
        </p:txBody>
      </p:sp>
      <p:sp>
        <p:nvSpPr>
          <p:cNvPr id="22" name="Shape 20"/>
          <p:cNvSpPr/>
          <p:nvPr/>
        </p:nvSpPr>
        <p:spPr>
          <a:xfrm>
            <a:off x="320040" y="2889504"/>
            <a:ext cx="320040" cy="365760"/>
          </a:xfrm>
          <a:prstGeom prst="rect">
            <a:avLst/>
          </a:prstGeom>
          <a:solidFill>
            <a:srgbClr val="1F77B4"/>
          </a:solidFill>
          <a:ln/>
        </p:spPr>
      </p:sp>
      <p:sp>
        <p:nvSpPr>
          <p:cNvPr id="23" name="Text 21"/>
          <p:cNvSpPr/>
          <p:nvPr/>
        </p:nvSpPr>
        <p:spPr>
          <a:xfrm>
            <a:off x="320040" y="2889504"/>
            <a:ext cx="32004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4" name="Shape 22"/>
          <p:cNvSpPr/>
          <p:nvPr/>
        </p:nvSpPr>
        <p:spPr>
          <a:xfrm>
            <a:off x="713232" y="2889504"/>
            <a:ext cx="8110728" cy="365760"/>
          </a:xfrm>
          <a:prstGeom prst="rect">
            <a:avLst/>
          </a:prstGeom>
          <a:solidFill>
            <a:srgbClr val="F0F4FF"/>
          </a:solidFill>
          <a:ln/>
        </p:spPr>
      </p:sp>
      <p:sp>
        <p:nvSpPr>
          <p:cNvPr id="25" name="Text 23"/>
          <p:cNvSpPr/>
          <p:nvPr/>
        </p:nvSpPr>
        <p:spPr>
          <a:xfrm>
            <a:off x="804672" y="2935224"/>
            <a:ext cx="7927848" cy="274320"/>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McKinney, W. (2010). Data Structures for Statistical Computing in Python. Proceedings of the 9th Python in Science Conference, 51–56.</a:t>
            </a:r>
            <a:endParaRPr lang="en-US" sz="850" dirty="0"/>
          </a:p>
        </p:txBody>
      </p:sp>
      <p:sp>
        <p:nvSpPr>
          <p:cNvPr id="26" name="Shape 24"/>
          <p:cNvSpPr/>
          <p:nvPr/>
        </p:nvSpPr>
        <p:spPr>
          <a:xfrm>
            <a:off x="320040" y="3383280"/>
            <a:ext cx="320040" cy="365760"/>
          </a:xfrm>
          <a:prstGeom prst="rect">
            <a:avLst/>
          </a:prstGeom>
          <a:solidFill>
            <a:srgbClr val="FF7F0E"/>
          </a:solidFill>
          <a:ln/>
        </p:spPr>
      </p:sp>
      <p:sp>
        <p:nvSpPr>
          <p:cNvPr id="27" name="Text 25"/>
          <p:cNvSpPr/>
          <p:nvPr/>
        </p:nvSpPr>
        <p:spPr>
          <a:xfrm>
            <a:off x="320040" y="3383280"/>
            <a:ext cx="32004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8" name="Shape 26"/>
          <p:cNvSpPr/>
          <p:nvPr/>
        </p:nvSpPr>
        <p:spPr>
          <a:xfrm>
            <a:off x="713232" y="3383280"/>
            <a:ext cx="8110728" cy="365760"/>
          </a:xfrm>
          <a:prstGeom prst="rect">
            <a:avLst/>
          </a:prstGeom>
          <a:solidFill>
            <a:srgbClr val="FFFFFF"/>
          </a:solidFill>
          <a:ln/>
        </p:spPr>
      </p:sp>
      <p:sp>
        <p:nvSpPr>
          <p:cNvPr id="29" name="Text 27"/>
          <p:cNvSpPr/>
          <p:nvPr/>
        </p:nvSpPr>
        <p:spPr>
          <a:xfrm>
            <a:off x="804672" y="3429000"/>
            <a:ext cx="7927848" cy="274320"/>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Seabold, S., &amp; Perktold, J. (2010). Statsmodels: Econometric and Statistical Modeling with Python. Proc. 9th Python in Science Conf.</a:t>
            </a:r>
            <a:endParaRPr lang="en-US" sz="850" dirty="0"/>
          </a:p>
        </p:txBody>
      </p:sp>
      <p:sp>
        <p:nvSpPr>
          <p:cNvPr id="30" name="Shape 28"/>
          <p:cNvSpPr/>
          <p:nvPr/>
        </p:nvSpPr>
        <p:spPr>
          <a:xfrm>
            <a:off x="320040" y="3877056"/>
            <a:ext cx="320040" cy="365760"/>
          </a:xfrm>
          <a:prstGeom prst="rect">
            <a:avLst/>
          </a:prstGeom>
          <a:solidFill>
            <a:srgbClr val="1F77B4"/>
          </a:solidFill>
          <a:ln/>
        </p:spPr>
      </p:sp>
      <p:sp>
        <p:nvSpPr>
          <p:cNvPr id="31" name="Text 29"/>
          <p:cNvSpPr/>
          <p:nvPr/>
        </p:nvSpPr>
        <p:spPr>
          <a:xfrm>
            <a:off x="320040" y="3877056"/>
            <a:ext cx="32004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2" name="Shape 30"/>
          <p:cNvSpPr/>
          <p:nvPr/>
        </p:nvSpPr>
        <p:spPr>
          <a:xfrm>
            <a:off x="713232" y="3877056"/>
            <a:ext cx="8110728" cy="365760"/>
          </a:xfrm>
          <a:prstGeom prst="rect">
            <a:avLst/>
          </a:prstGeom>
          <a:solidFill>
            <a:srgbClr val="F0F4FF"/>
          </a:solidFill>
          <a:ln/>
        </p:spPr>
      </p:sp>
      <p:sp>
        <p:nvSpPr>
          <p:cNvPr id="33" name="Text 31"/>
          <p:cNvSpPr/>
          <p:nvPr/>
        </p:nvSpPr>
        <p:spPr>
          <a:xfrm>
            <a:off x="804672" y="3922776"/>
            <a:ext cx="7927848" cy="274320"/>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Hunter, J. D. (2007). Matplotlib: A 2D Graphics Environment. Computing in Science &amp; Engineering, 9(3), 90–95.</a:t>
            </a:r>
            <a:endParaRPr lang="en-US" sz="850" dirty="0"/>
          </a:p>
        </p:txBody>
      </p:sp>
      <p:sp>
        <p:nvSpPr>
          <p:cNvPr id="34" name="Shape 32"/>
          <p:cNvSpPr/>
          <p:nvPr/>
        </p:nvSpPr>
        <p:spPr>
          <a:xfrm>
            <a:off x="320040" y="4370832"/>
            <a:ext cx="320040" cy="365760"/>
          </a:xfrm>
          <a:prstGeom prst="rect">
            <a:avLst/>
          </a:prstGeom>
          <a:solidFill>
            <a:srgbClr val="FF7F0E"/>
          </a:solidFill>
          <a:ln/>
        </p:spPr>
      </p:sp>
      <p:sp>
        <p:nvSpPr>
          <p:cNvPr id="35" name="Text 33"/>
          <p:cNvSpPr/>
          <p:nvPr/>
        </p:nvSpPr>
        <p:spPr>
          <a:xfrm>
            <a:off x="320040" y="4370832"/>
            <a:ext cx="32004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36" name="Shape 34"/>
          <p:cNvSpPr/>
          <p:nvPr/>
        </p:nvSpPr>
        <p:spPr>
          <a:xfrm>
            <a:off x="713232" y="4370832"/>
            <a:ext cx="8110728" cy="365760"/>
          </a:xfrm>
          <a:prstGeom prst="rect">
            <a:avLst/>
          </a:prstGeom>
          <a:solidFill>
            <a:srgbClr val="FFFFFF"/>
          </a:solidFill>
          <a:ln/>
        </p:spPr>
      </p:sp>
      <p:sp>
        <p:nvSpPr>
          <p:cNvPr id="37" name="Text 35"/>
          <p:cNvSpPr/>
          <p:nvPr/>
        </p:nvSpPr>
        <p:spPr>
          <a:xfrm>
            <a:off x="804672" y="4416552"/>
            <a:ext cx="7927848" cy="274320"/>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Pedregosa, F., et al. (2011). Scikit-learn: Machine Learning in Python. Journal of Machine Learning Research, 12, 2825–2830.</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1F77B4"/>
          </a:solidFill>
          <a:ln/>
        </p:spPr>
        <p:txBody>
          <a:bodyPr/>
          <a:p/>
        </p:txBody>
      </p:sp>
      <p:sp>
        <p:nvSpPr>
          <p:cNvPr id="3" name="Shape 1"/>
          <p:cNvSpPr/>
          <p:nvPr/>
        </p:nvSpPr>
        <p:spPr>
          <a:xfrm>
            <a:off x="320040" y="0"/>
            <a:ext cx="91440" cy="5143500"/>
          </a:xfrm>
          <a:prstGeom prst="rect">
            <a:avLst/>
          </a:prstGeom>
          <a:solidFill>
            <a:srgbClr val="FF7F0E"/>
          </a:solidFill>
          <a:ln/>
        </p:spPr>
        <p:txBody>
          <a:bodyPr/>
          <a:p/>
        </p:txBody>
      </p:sp>
      <p:sp>
        <p:nvSpPr>
          <p:cNvPr id="4" name="Text 2"/>
          <p:cNvSpPr/>
          <p:nvPr/>
        </p:nvSpPr>
        <p:spPr>
          <a:xfrm>
            <a:off x="685800" y="1188720"/>
            <a:ext cx="8229600" cy="91440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Thank You</a:t>
            </a:r>
            <a:endParaRPr lang="en-US" sz="5400" dirty="0"/>
          </a:p>
        </p:txBody>
      </p:sp>
      <p:sp>
        <p:nvSpPr>
          <p:cNvPr id="5" name="Text 3"/>
          <p:cNvSpPr/>
          <p:nvPr/>
        </p:nvSpPr>
        <p:spPr>
          <a:xfrm>
            <a:off x="685800" y="2240280"/>
            <a:ext cx="8229600" cy="548640"/>
          </a:xfrm>
          <a:prstGeom prst="rect">
            <a:avLst/>
          </a:prstGeom>
          <a:noFill/>
          <a:ln/>
        </p:spPr>
        <p:txBody>
          <a:bodyPr wrap="square" lIns="0" tIns="0" rIns="0" bIns="0" rtlCol="0" anchor="ctr"/>
          <a:lstStyle/>
          <a:p>
            <a:pPr indent="0" marL="0">
              <a:buNone/>
            </a:pPr>
            <a:r>
              <a:rPr lang="en-US" sz="2200" i="1" dirty="0">
                <a:solidFill>
                  <a:srgbClr val="CADCFC"/>
                </a:solidFill>
                <a:latin typeface="Calibri" pitchFamily="34" charset="0"/>
                <a:ea typeface="Calibri" pitchFamily="34" charset="-122"/>
                <a:cs typeface="Calibri" pitchFamily="34" charset="-120"/>
              </a:rPr>
              <a:t>Questions &amp; Discussion</a:t>
            </a:r>
            <a:endParaRPr lang="en-US" sz="2200" dirty="0"/>
          </a:p>
        </p:txBody>
      </p:sp>
      <p:sp>
        <p:nvSpPr>
          <p:cNvPr id="6" name="Shape 4"/>
          <p:cNvSpPr/>
          <p:nvPr/>
        </p:nvSpPr>
        <p:spPr>
          <a:xfrm>
            <a:off x="685800" y="2926080"/>
            <a:ext cx="5486400" cy="0"/>
          </a:xfrm>
          <a:prstGeom prst="line">
            <a:avLst/>
          </a:prstGeom>
          <a:noFill/>
          <a:ln w="25400">
            <a:solidFill>
              <a:srgbClr val="1F77B4"/>
            </a:solidFill>
            <a:prstDash val="solid"/>
          </a:ln>
        </p:spPr>
        <p:txBody>
          <a:bodyPr/>
          <a:p/>
        </p:txBody>
      </p:sp>
      <p:sp>
        <p:nvSpPr>
          <p:cNvPr id="7" name="Text 5"/>
          <p:cNvSpPr/>
          <p:nvPr/>
        </p:nvSpPr>
        <p:spPr>
          <a:xfrm>
            <a:off x="685800" y="3108960"/>
            <a:ext cx="8229600" cy="36576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Apple vs Samsung — Competitive Financial &amp; Market Analysis  |    |  Spring 2026</a:t>
            </a:r>
            <a:endParaRPr lang="en-US" sz="1100" dirty="0"/>
          </a:p>
        </p:txBody>
      </p:sp>
      <p:sp>
        <p:nvSpPr>
          <p:cNvPr id="8" name="Text 6"/>
          <p:cNvSpPr/>
          <p:nvPr/>
        </p:nvSpPr>
        <p:spPr>
          <a:xfrm>
            <a:off x="685800" y="3749040"/>
            <a:ext cx="2560320" cy="685800"/>
          </a:xfrm>
          <a:prstGeom prst="rect">
            <a:avLst/>
          </a:prstGeom>
          <a:noFill/>
          <a:ln/>
        </p:spPr>
        <p:txBody>
          <a:bodyPr wrap="square" lIns="0" tIns="0" rIns="0" bIns="0" rtlCol="0" anchor="ctr"/>
          <a:lstStyle/>
          <a:p>
            <a:pPr algn="ctr" indent="0" marL="0">
              <a:buNone/>
            </a:pPr>
            <a:r>
              <a:rPr lang="en-US" sz="2400" b="1" dirty="0">
                <a:solidFill>
                  <a:srgbClr val="F0B429"/>
                </a:solidFill>
                <a:latin typeface="Calibri" pitchFamily="34" charset="0"/>
                <a:ea typeface="Calibri" pitchFamily="34" charset="-122"/>
                <a:cs typeface="Calibri" pitchFamily="34" charset="-120"/>
              </a:rPr>
              <a:t>~1,000%</a:t>
            </a:r>
            <a:endParaRPr lang="en-US" sz="2400" dirty="0"/>
          </a:p>
        </p:txBody>
      </p:sp>
      <p:sp>
        <p:nvSpPr>
          <p:cNvPr id="9" name="Text 7"/>
          <p:cNvSpPr/>
          <p:nvPr/>
        </p:nvSpPr>
        <p:spPr>
          <a:xfrm>
            <a:off x="685800" y="4434840"/>
            <a:ext cx="2560320" cy="457200"/>
          </a:xfrm>
          <a:prstGeom prst="rect">
            <a:avLst/>
          </a:prstGeom>
          <a:noFill/>
          <a:ln/>
        </p:spPr>
        <p:txBody>
          <a:bodyPr wrap="square" lIns="0" tIns="0" rIns="0" bIns="0" rtlCol="0" anchor="ctr"/>
          <a:lstStyle/>
          <a:p>
            <a:pPr algn="ctr" indent="0" marL="0">
              <a:buNone/>
            </a:pPr>
            <a:r>
              <a:rPr lang="en-US" sz="900" dirty="0">
                <a:solidFill>
                  <a:srgbClr val="CADCFC"/>
                </a:solidFill>
                <a:latin typeface="Calibri" pitchFamily="34" charset="0"/>
                <a:ea typeface="Calibri" pitchFamily="34" charset="-122"/>
                <a:cs typeface="Calibri" pitchFamily="34" charset="-120"/>
              </a:rPr>
              <a:t>Total Return</a:t>
            </a:r>
            <a:endParaRPr lang="en-US" sz="900" dirty="0"/>
          </a:p>
          <a:p>
            <a:pPr algn="ctr" indent="0" marL="0">
              <a:buNone/>
            </a:pPr>
            <a:r>
              <a:rPr lang="en-US" sz="900" dirty="0">
                <a:solidFill>
                  <a:srgbClr val="CADCFC"/>
                </a:solidFill>
                <a:latin typeface="Calibri" pitchFamily="34" charset="0"/>
                <a:ea typeface="Calibri" pitchFamily="34" charset="-122"/>
                <a:cs typeface="Calibri" pitchFamily="34" charset="-120"/>
              </a:rPr>
              <a:t>Both Stocks</a:t>
            </a:r>
            <a:endParaRPr lang="en-US" sz="900" dirty="0"/>
          </a:p>
        </p:txBody>
      </p:sp>
      <p:sp>
        <p:nvSpPr>
          <p:cNvPr id="10" name="Text 8"/>
          <p:cNvSpPr/>
          <p:nvPr/>
        </p:nvSpPr>
        <p:spPr>
          <a:xfrm>
            <a:off x="3474720" y="3749040"/>
            <a:ext cx="2560320" cy="685800"/>
          </a:xfrm>
          <a:prstGeom prst="rect">
            <a:avLst/>
          </a:prstGeom>
          <a:noFill/>
          <a:ln/>
        </p:spPr>
        <p:txBody>
          <a:bodyPr wrap="square" lIns="0" tIns="0" rIns="0" bIns="0" rtlCol="0" anchor="ctr"/>
          <a:lstStyle/>
          <a:p>
            <a:pPr algn="ctr" indent="0" marL="0">
              <a:buNone/>
            </a:pPr>
            <a:r>
              <a:rPr lang="en-US" sz="2400" b="1" dirty="0">
                <a:solidFill>
                  <a:srgbClr val="F0B429"/>
                </a:solidFill>
                <a:latin typeface="Calibri" pitchFamily="34" charset="0"/>
                <a:ea typeface="Calibri" pitchFamily="34" charset="-122"/>
                <a:cs typeface="Calibri" pitchFamily="34" charset="-120"/>
              </a:rPr>
              <a:t>r = 0.068</a:t>
            </a:r>
            <a:endParaRPr lang="en-US" sz="2400" dirty="0"/>
          </a:p>
        </p:txBody>
      </p:sp>
      <p:sp>
        <p:nvSpPr>
          <p:cNvPr id="11" name="Text 9"/>
          <p:cNvSpPr/>
          <p:nvPr/>
        </p:nvSpPr>
        <p:spPr>
          <a:xfrm>
            <a:off x="3474720" y="4434840"/>
            <a:ext cx="2560320" cy="457200"/>
          </a:xfrm>
          <a:prstGeom prst="rect">
            <a:avLst/>
          </a:prstGeom>
          <a:noFill/>
          <a:ln/>
        </p:spPr>
        <p:txBody>
          <a:bodyPr wrap="square" lIns="0" tIns="0" rIns="0" bIns="0" rtlCol="0" anchor="ctr"/>
          <a:lstStyle/>
          <a:p>
            <a:pPr algn="ctr" indent="0" marL="0">
              <a:buNone/>
            </a:pPr>
            <a:r>
              <a:rPr lang="en-US" sz="900" dirty="0">
                <a:solidFill>
                  <a:srgbClr val="CADCFC"/>
                </a:solidFill>
                <a:latin typeface="Calibri" pitchFamily="34" charset="0"/>
                <a:ea typeface="Calibri" pitchFamily="34" charset="-122"/>
                <a:cs typeface="Calibri" pitchFamily="34" charset="-120"/>
              </a:rPr>
              <a:t>Return</a:t>
            </a:r>
            <a:endParaRPr lang="en-US" sz="900" dirty="0"/>
          </a:p>
          <a:p>
            <a:pPr algn="ctr" indent="0" marL="0">
              <a:buNone/>
            </a:pPr>
            <a:r>
              <a:rPr lang="en-US" sz="900" dirty="0">
                <a:solidFill>
                  <a:srgbClr val="CADCFC"/>
                </a:solidFill>
                <a:latin typeface="Calibri" pitchFamily="34" charset="0"/>
                <a:ea typeface="Calibri" pitchFamily="34" charset="-122"/>
                <a:cs typeface="Calibri" pitchFamily="34" charset="-120"/>
              </a:rPr>
              <a:t>Correlation</a:t>
            </a:r>
            <a:endParaRPr lang="en-US" sz="900" dirty="0"/>
          </a:p>
        </p:txBody>
      </p:sp>
      <p:sp>
        <p:nvSpPr>
          <p:cNvPr id="12" name="Text 10"/>
          <p:cNvSpPr/>
          <p:nvPr/>
        </p:nvSpPr>
        <p:spPr>
          <a:xfrm>
            <a:off x="6263640" y="3749040"/>
            <a:ext cx="2560320" cy="685800"/>
          </a:xfrm>
          <a:prstGeom prst="rect">
            <a:avLst/>
          </a:prstGeom>
          <a:noFill/>
          <a:ln/>
        </p:spPr>
        <p:txBody>
          <a:bodyPr wrap="square" lIns="0" tIns="0" rIns="0" bIns="0" rtlCol="0" anchor="ctr"/>
          <a:lstStyle/>
          <a:p>
            <a:pPr algn="ctr" indent="0" marL="0">
              <a:buNone/>
            </a:pPr>
            <a:r>
              <a:rPr lang="en-US" sz="2400" b="1" dirty="0">
                <a:solidFill>
                  <a:srgbClr val="F0B429"/>
                </a:solidFill>
                <a:latin typeface="Calibri" pitchFamily="34" charset="0"/>
                <a:ea typeface="Calibri" pitchFamily="34" charset="-122"/>
                <a:cs typeface="Calibri" pitchFamily="34" charset="-120"/>
              </a:rPr>
              <a:t>47% vs 37%</a:t>
            </a:r>
            <a:endParaRPr lang="en-US" sz="2400" dirty="0"/>
          </a:p>
        </p:txBody>
      </p:sp>
      <p:sp>
        <p:nvSpPr>
          <p:cNvPr id="13" name="Text 11"/>
          <p:cNvSpPr/>
          <p:nvPr/>
        </p:nvSpPr>
        <p:spPr>
          <a:xfrm>
            <a:off x="6263640" y="4434840"/>
            <a:ext cx="2560320" cy="457200"/>
          </a:xfrm>
          <a:prstGeom prst="rect">
            <a:avLst/>
          </a:prstGeom>
          <a:noFill/>
          <a:ln/>
        </p:spPr>
        <p:txBody>
          <a:bodyPr wrap="square" lIns="0" tIns="0" rIns="0" bIns="0" rtlCol="0" anchor="ctr"/>
          <a:lstStyle/>
          <a:p>
            <a:pPr algn="ctr" indent="0" marL="0">
              <a:buNone/>
            </a:pPr>
            <a:r>
              <a:rPr lang="en-US" sz="900" dirty="0">
                <a:solidFill>
                  <a:srgbClr val="CADCFC"/>
                </a:solidFill>
                <a:latin typeface="Calibri" pitchFamily="34" charset="0"/>
                <a:ea typeface="Calibri" pitchFamily="34" charset="-122"/>
                <a:cs typeface="Calibri" pitchFamily="34" charset="-120"/>
              </a:rPr>
              <a:t>Gross Margin</a:t>
            </a:r>
            <a:endParaRPr lang="en-US" sz="900" dirty="0"/>
          </a:p>
          <a:p>
            <a:pPr algn="ctr" indent="0" marL="0">
              <a:buNone/>
            </a:pPr>
            <a:r>
              <a:rPr lang="en-US" sz="900" dirty="0">
                <a:solidFill>
                  <a:srgbClr val="CADCFC"/>
                </a:solidFill>
                <a:latin typeface="Calibri" pitchFamily="34" charset="0"/>
                <a:ea typeface="Calibri" pitchFamily="34" charset="-122"/>
                <a:cs typeface="Calibri" pitchFamily="34" charset="-120"/>
              </a:rPr>
              <a:t>Apple vs Samsung</a:t>
            </a:r>
            <a:endParaRPr lang="en-US" sz="900" dirty="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1F44"/>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A6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3200">
                <a:solidFill>
                  <a:srgbClr val="FFFFFF"/>
                </a:solidFill>
              </a:rPr>
              <a:t>Theoretical Framework</a:t>
            </a:r>
          </a:p>
        </p:txBody>
      </p:sp>
      <p:sp>
        <p:nvSpPr>
          <p:cNvPr id="3" name="Rectangle 2"/>
          <p:cNvSpPr/>
          <p:nvPr/>
        </p:nvSpPr>
        <p:spPr>
          <a:xfrm>
            <a:off x="540867" y="1234440"/>
            <a:ext cx="2606040" cy="4572000"/>
          </a:xfrm>
          <a:prstGeom prst="rect">
            <a:avLst/>
          </a:prstGeom>
          <a:solidFill>
            <a:srgbClr val="F0F4FA"/>
          </a:solidFill>
          <a:ln w="19050">
            <a:solidFill>
              <a:srgbClr val="1A6B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432407" y="1417320"/>
            <a:ext cx="822960" cy="822960"/>
          </a:xfrm>
          <a:prstGeom prst="ellipse">
            <a:avLst/>
          </a:prstGeom>
          <a:solidFill>
            <a:srgbClr val="1A6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500">
                <a:solidFill>
                  <a:srgbClr val="FFFFFF"/>
                </a:solidFill>
              </a:rPr>
              <a:t>EMH</a:t>
            </a:r>
          </a:p>
        </p:txBody>
      </p:sp>
      <p:sp>
        <p:nvSpPr>
          <p:cNvPr id="5" name="TextBox 4"/>
          <p:cNvSpPr txBox="1"/>
          <p:nvPr/>
        </p:nvSpPr>
        <p:spPr>
          <a:xfrm>
            <a:off x="632307" y="2331720"/>
            <a:ext cx="2423160" cy="822960"/>
          </a:xfrm>
          <a:prstGeom prst="rect">
            <a:avLst/>
          </a:prstGeom>
          <a:noFill/>
        </p:spPr>
        <p:txBody>
          <a:bodyPr wrap="square">
            <a:spAutoFit/>
          </a:bodyPr>
          <a:lstStyle/>
          <a:p>
            <a:pPr algn="ctr"/>
            <a:r>
              <a:rPr b="1" sz="1200">
                <a:solidFill>
                  <a:srgbClr val="0A1F44"/>
                </a:solidFill>
              </a:rPr>
              <a:t>Efficient Market
Hypothesis</a:t>
            </a:r>
          </a:p>
        </p:txBody>
      </p:sp>
      <p:sp>
        <p:nvSpPr>
          <p:cNvPr id="6" name="TextBox 5"/>
          <p:cNvSpPr txBox="1"/>
          <p:nvPr/>
        </p:nvSpPr>
        <p:spPr>
          <a:xfrm>
            <a:off x="632307" y="3200400"/>
            <a:ext cx="2423160" cy="320040"/>
          </a:xfrm>
          <a:prstGeom prst="rect">
            <a:avLst/>
          </a:prstGeom>
          <a:noFill/>
        </p:spPr>
        <p:txBody>
          <a:bodyPr wrap="square">
            <a:spAutoFit/>
          </a:bodyPr>
          <a:lstStyle/>
          <a:p>
            <a:pPr algn="ctr"/>
            <a:r>
              <a:rPr i="1" sz="1000">
                <a:solidFill>
                  <a:srgbClr val="1A6BC8"/>
                </a:solidFill>
              </a:rPr>
              <a:t>Fama (1970)</a:t>
            </a:r>
          </a:p>
        </p:txBody>
      </p:sp>
      <p:sp>
        <p:nvSpPr>
          <p:cNvPr id="7" name="TextBox 6"/>
          <p:cNvSpPr txBox="1"/>
          <p:nvPr/>
        </p:nvSpPr>
        <p:spPr>
          <a:xfrm>
            <a:off x="678027" y="3611880"/>
            <a:ext cx="2331720" cy="2011680"/>
          </a:xfrm>
          <a:prstGeom prst="rect">
            <a:avLst/>
          </a:prstGeom>
          <a:noFill/>
        </p:spPr>
        <p:txBody>
          <a:bodyPr wrap="square">
            <a:spAutoFit/>
          </a:bodyPr>
          <a:lstStyle/>
          <a:p>
            <a:pPr algn="ctr"/>
            <a:r>
              <a:rPr sz="950">
                <a:solidFill>
                  <a:srgbClr val="0A1F44"/>
                </a:solidFill>
              </a:rPr>
              <a:t>Asset prices reflect all available information — abnormal returns arise only from risk differences.</a:t>
            </a:r>
          </a:p>
        </p:txBody>
      </p:sp>
      <p:sp>
        <p:nvSpPr>
          <p:cNvPr id="8" name="Rectangle 7"/>
          <p:cNvSpPr/>
          <p:nvPr/>
        </p:nvSpPr>
        <p:spPr>
          <a:xfrm>
            <a:off x="3375507" y="1234440"/>
            <a:ext cx="2606040" cy="4572000"/>
          </a:xfrm>
          <a:prstGeom prst="rect">
            <a:avLst/>
          </a:prstGeom>
          <a:solidFill>
            <a:srgbClr val="F0F4FA"/>
          </a:solidFill>
          <a:ln w="19050">
            <a:solidFill>
              <a:srgbClr val="1A6B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267047" y="1417320"/>
            <a:ext cx="822960" cy="822960"/>
          </a:xfrm>
          <a:prstGeom prst="ellipse">
            <a:avLst/>
          </a:prstGeom>
          <a:solidFill>
            <a:srgbClr val="1A6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500">
                <a:solidFill>
                  <a:srgbClr val="FFFFFF"/>
                </a:solidFill>
              </a:rPr>
              <a:t>MPT</a:t>
            </a:r>
          </a:p>
        </p:txBody>
      </p:sp>
      <p:sp>
        <p:nvSpPr>
          <p:cNvPr id="10" name="TextBox 9"/>
          <p:cNvSpPr txBox="1"/>
          <p:nvPr/>
        </p:nvSpPr>
        <p:spPr>
          <a:xfrm>
            <a:off x="3466947" y="2331720"/>
            <a:ext cx="2423160" cy="822960"/>
          </a:xfrm>
          <a:prstGeom prst="rect">
            <a:avLst/>
          </a:prstGeom>
          <a:noFill/>
        </p:spPr>
        <p:txBody>
          <a:bodyPr wrap="square">
            <a:spAutoFit/>
          </a:bodyPr>
          <a:lstStyle/>
          <a:p>
            <a:pPr algn="ctr"/>
            <a:r>
              <a:rPr b="1" sz="1200">
                <a:solidFill>
                  <a:srgbClr val="0A1F44"/>
                </a:solidFill>
              </a:rPr>
              <a:t>Modern Portfolio
Theory</a:t>
            </a:r>
          </a:p>
        </p:txBody>
      </p:sp>
      <p:sp>
        <p:nvSpPr>
          <p:cNvPr id="11" name="TextBox 10"/>
          <p:cNvSpPr txBox="1"/>
          <p:nvPr/>
        </p:nvSpPr>
        <p:spPr>
          <a:xfrm>
            <a:off x="3466947" y="3200400"/>
            <a:ext cx="2423160" cy="320040"/>
          </a:xfrm>
          <a:prstGeom prst="rect">
            <a:avLst/>
          </a:prstGeom>
          <a:noFill/>
        </p:spPr>
        <p:txBody>
          <a:bodyPr wrap="square">
            <a:spAutoFit/>
          </a:bodyPr>
          <a:lstStyle/>
          <a:p>
            <a:pPr algn="ctr"/>
            <a:r>
              <a:rPr i="1" sz="1000">
                <a:solidFill>
                  <a:srgbClr val="1A6BC8"/>
                </a:solidFill>
              </a:rPr>
              <a:t>Markowitz (1952)</a:t>
            </a:r>
          </a:p>
        </p:txBody>
      </p:sp>
      <p:sp>
        <p:nvSpPr>
          <p:cNvPr id="12" name="TextBox 11"/>
          <p:cNvSpPr txBox="1"/>
          <p:nvPr/>
        </p:nvSpPr>
        <p:spPr>
          <a:xfrm>
            <a:off x="3512667" y="3611880"/>
            <a:ext cx="2331720" cy="2011680"/>
          </a:xfrm>
          <a:prstGeom prst="rect">
            <a:avLst/>
          </a:prstGeom>
          <a:noFill/>
        </p:spPr>
        <p:txBody>
          <a:bodyPr wrap="square">
            <a:spAutoFit/>
          </a:bodyPr>
          <a:lstStyle/>
          <a:p>
            <a:pPr algn="ctr"/>
            <a:r>
              <a:rPr sz="950">
                <a:solidFill>
                  <a:srgbClr val="0A1F44"/>
                </a:solidFill>
              </a:rPr>
              <a:t>Diversification reduces unsystematic risk; the efficient frontier maximizes return for a given risk level.</a:t>
            </a:r>
          </a:p>
        </p:txBody>
      </p:sp>
      <p:sp>
        <p:nvSpPr>
          <p:cNvPr id="13" name="Rectangle 12"/>
          <p:cNvSpPr/>
          <p:nvPr/>
        </p:nvSpPr>
        <p:spPr>
          <a:xfrm>
            <a:off x="6210147" y="1234440"/>
            <a:ext cx="2606040" cy="4572000"/>
          </a:xfrm>
          <a:prstGeom prst="rect">
            <a:avLst/>
          </a:prstGeom>
          <a:solidFill>
            <a:srgbClr val="F0F4FA"/>
          </a:solidFill>
          <a:ln w="19050">
            <a:solidFill>
              <a:srgbClr val="1A6B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101687" y="1417320"/>
            <a:ext cx="822960" cy="822960"/>
          </a:xfrm>
          <a:prstGeom prst="ellipse">
            <a:avLst/>
          </a:prstGeom>
          <a:solidFill>
            <a:srgbClr val="1A6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500">
                <a:solidFill>
                  <a:srgbClr val="FFFFFF"/>
                </a:solidFill>
              </a:rPr>
              <a:t>CAPM</a:t>
            </a:r>
          </a:p>
        </p:txBody>
      </p:sp>
      <p:sp>
        <p:nvSpPr>
          <p:cNvPr id="15" name="TextBox 14"/>
          <p:cNvSpPr txBox="1"/>
          <p:nvPr/>
        </p:nvSpPr>
        <p:spPr>
          <a:xfrm>
            <a:off x="6301587" y="2331720"/>
            <a:ext cx="2423160" cy="822960"/>
          </a:xfrm>
          <a:prstGeom prst="rect">
            <a:avLst/>
          </a:prstGeom>
          <a:noFill/>
        </p:spPr>
        <p:txBody>
          <a:bodyPr wrap="square">
            <a:spAutoFit/>
          </a:bodyPr>
          <a:lstStyle/>
          <a:p>
            <a:pPr algn="ctr"/>
            <a:r>
              <a:rPr b="1" sz="1200">
                <a:solidFill>
                  <a:srgbClr val="0A1F44"/>
                </a:solidFill>
              </a:rPr>
              <a:t>Capital Asset
Pricing Model</a:t>
            </a:r>
          </a:p>
        </p:txBody>
      </p:sp>
      <p:sp>
        <p:nvSpPr>
          <p:cNvPr id="16" name="TextBox 15"/>
          <p:cNvSpPr txBox="1"/>
          <p:nvPr/>
        </p:nvSpPr>
        <p:spPr>
          <a:xfrm>
            <a:off x="6301587" y="3200400"/>
            <a:ext cx="2423160" cy="320040"/>
          </a:xfrm>
          <a:prstGeom prst="rect">
            <a:avLst/>
          </a:prstGeom>
          <a:noFill/>
        </p:spPr>
        <p:txBody>
          <a:bodyPr wrap="square">
            <a:spAutoFit/>
          </a:bodyPr>
          <a:lstStyle/>
          <a:p>
            <a:pPr algn="ctr"/>
            <a:r>
              <a:rPr i="1" sz="1000">
                <a:solidFill>
                  <a:srgbClr val="1A6BC8"/>
                </a:solidFill>
              </a:rPr>
              <a:t>Sharpe (1964)</a:t>
            </a:r>
          </a:p>
        </p:txBody>
      </p:sp>
      <p:sp>
        <p:nvSpPr>
          <p:cNvPr id="17" name="TextBox 16"/>
          <p:cNvSpPr txBox="1"/>
          <p:nvPr/>
        </p:nvSpPr>
        <p:spPr>
          <a:xfrm>
            <a:off x="6347307" y="3611880"/>
            <a:ext cx="2331720" cy="2011680"/>
          </a:xfrm>
          <a:prstGeom prst="rect">
            <a:avLst/>
          </a:prstGeom>
          <a:noFill/>
        </p:spPr>
        <p:txBody>
          <a:bodyPr wrap="square">
            <a:spAutoFit/>
          </a:bodyPr>
          <a:lstStyle/>
          <a:p>
            <a:pPr algn="ctr"/>
            <a:r>
              <a:rPr sz="950">
                <a:solidFill>
                  <a:srgbClr val="0A1F44"/>
                </a:solidFill>
              </a:rPr>
              <a:t>Expected return = Rf + β(Rm − Rf). Beta measures systematic market risk that cannot be diversified away.</a:t>
            </a:r>
          </a:p>
        </p:txBody>
      </p:sp>
      <p:sp>
        <p:nvSpPr>
          <p:cNvPr id="18" name="Rectangle 17"/>
          <p:cNvSpPr/>
          <p:nvPr/>
        </p:nvSpPr>
        <p:spPr>
          <a:xfrm>
            <a:off x="9044787" y="1234440"/>
            <a:ext cx="2606040" cy="4572000"/>
          </a:xfrm>
          <a:prstGeom prst="rect">
            <a:avLst/>
          </a:prstGeom>
          <a:solidFill>
            <a:srgbClr val="F0F4FA"/>
          </a:solidFill>
          <a:ln w="19050">
            <a:solidFill>
              <a:srgbClr val="1A6B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36327" y="1417320"/>
            <a:ext cx="822960" cy="822960"/>
          </a:xfrm>
          <a:prstGeom prst="ellipse">
            <a:avLst/>
          </a:prstGeom>
          <a:solidFill>
            <a:srgbClr val="1A6B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500">
                <a:solidFill>
                  <a:srgbClr val="FFFFFF"/>
                </a:solidFill>
              </a:rPr>
              <a:t>APT</a:t>
            </a:r>
          </a:p>
        </p:txBody>
      </p:sp>
      <p:sp>
        <p:nvSpPr>
          <p:cNvPr id="20" name="TextBox 19"/>
          <p:cNvSpPr txBox="1"/>
          <p:nvPr/>
        </p:nvSpPr>
        <p:spPr>
          <a:xfrm>
            <a:off x="9136227" y="2331720"/>
            <a:ext cx="2423160" cy="822960"/>
          </a:xfrm>
          <a:prstGeom prst="rect">
            <a:avLst/>
          </a:prstGeom>
          <a:noFill/>
        </p:spPr>
        <p:txBody>
          <a:bodyPr wrap="square">
            <a:spAutoFit/>
          </a:bodyPr>
          <a:lstStyle/>
          <a:p>
            <a:pPr algn="ctr"/>
            <a:r>
              <a:rPr b="1" sz="1200">
                <a:solidFill>
                  <a:srgbClr val="0A1F44"/>
                </a:solidFill>
              </a:rPr>
              <a:t>Arbitrage Pricing
Theory / OLS</a:t>
            </a:r>
          </a:p>
        </p:txBody>
      </p:sp>
      <p:sp>
        <p:nvSpPr>
          <p:cNvPr id="21" name="TextBox 20"/>
          <p:cNvSpPr txBox="1"/>
          <p:nvPr/>
        </p:nvSpPr>
        <p:spPr>
          <a:xfrm>
            <a:off x="9136227" y="3200400"/>
            <a:ext cx="2423160" cy="320040"/>
          </a:xfrm>
          <a:prstGeom prst="rect">
            <a:avLst/>
          </a:prstGeom>
          <a:noFill/>
        </p:spPr>
        <p:txBody>
          <a:bodyPr wrap="square">
            <a:spAutoFit/>
          </a:bodyPr>
          <a:lstStyle/>
          <a:p>
            <a:pPr algn="ctr"/>
            <a:r>
              <a:rPr i="1" sz="1000">
                <a:solidFill>
                  <a:srgbClr val="1A6BC8"/>
                </a:solidFill>
              </a:rPr>
              <a:t>Ross (1976)</a:t>
            </a:r>
          </a:p>
        </p:txBody>
      </p:sp>
      <p:sp>
        <p:nvSpPr>
          <p:cNvPr id="22" name="TextBox 21"/>
          <p:cNvSpPr txBox="1"/>
          <p:nvPr/>
        </p:nvSpPr>
        <p:spPr>
          <a:xfrm>
            <a:off x="9181947" y="3611880"/>
            <a:ext cx="2331720" cy="2011680"/>
          </a:xfrm>
          <a:prstGeom prst="rect">
            <a:avLst/>
          </a:prstGeom>
          <a:noFill/>
        </p:spPr>
        <p:txBody>
          <a:bodyPr wrap="square">
            <a:spAutoFit/>
          </a:bodyPr>
          <a:lstStyle/>
          <a:p>
            <a:pPr algn="ctr"/>
            <a:r>
              <a:rPr sz="950">
                <a:solidFill>
                  <a:srgbClr val="0A1F44"/>
                </a:solidFill>
              </a:rPr>
              <a:t>Multi-factor regression (macro variables: CPI, rates, GDP) explains cross-sectional return variation.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Apple vs Samsung — Competitive Financial &amp; Market Analysis</dc:title>
  <dc:subject>PptxGenJS Presentation</dc:subject>
  <dc:creator>PptxGenJS</dc:creator>
  <cp:lastModifiedBy>PptxGenJS</cp:lastModifiedBy>
  <cp:revision>1</cp:revision>
  <dcterms:created xsi:type="dcterms:W3CDTF">2026-04-22T18:45:56Z</dcterms:created>
  <dcterms:modified xsi:type="dcterms:W3CDTF">2026-04-22T18:45:56Z</dcterms:modified>
</cp:coreProperties>
</file>